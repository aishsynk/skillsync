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6" r:id="rId2"/>
    <p:sldId id="256" r:id="rId3"/>
    <p:sldId id="257" r:id="rId4"/>
    <p:sldId id="267" r:id="rId5"/>
    <p:sldId id="268" r:id="rId6"/>
    <p:sldId id="269" r:id="rId7"/>
    <p:sldId id="258" r:id="rId8"/>
    <p:sldId id="259" r:id="rId9"/>
    <p:sldId id="260" r:id="rId10"/>
    <p:sldId id="261" r:id="rId11"/>
    <p:sldId id="262" r:id="rId12"/>
    <p:sldId id="263" r:id="rId13"/>
    <p:sldId id="264" r:id="rId14"/>
    <p:sldId id="26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B54B42-E160-4B66-9E82-DBB5DD17F663}" v="1" dt="2026-06-05T13:49:58.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82"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war C Nigam" userId="b0b382f3-1a41-4da3-92e1-f09e111328a1" providerId="ADAL" clId="{8A957FB4-2AE3-4D3E-A618-130ED577C9FB}"/>
    <pc:docChg chg="undo custSel mod addSld modSld sldOrd addMainMaster delMainMaster modMainMaster modNotesMaster setSldSz">
      <pc:chgData name="Aishwar C Nigam" userId="b0b382f3-1a41-4da3-92e1-f09e111328a1" providerId="ADAL" clId="{8A957FB4-2AE3-4D3E-A618-130ED577C9FB}" dt="2026-06-06T05:00:49.423" v="7" actId="26606"/>
      <pc:docMkLst>
        <pc:docMk/>
      </pc:docMkLst>
      <pc:sldChg chg="addSp delSp add mod">
        <pc:chgData name="Aishwar C Nigam" userId="b0b382f3-1a41-4da3-92e1-f09e111328a1" providerId="ADAL" clId="{8A957FB4-2AE3-4D3E-A618-130ED577C9FB}" dt="2026-06-05T13:49:43.856" v="3" actId="22"/>
        <pc:sldMkLst>
          <pc:docMk/>
          <pc:sldMk cId="0" sldId="256"/>
        </pc:sldMkLst>
        <pc:spChg chg="add del">
          <ac:chgData name="Aishwar C Nigam" userId="b0b382f3-1a41-4da3-92e1-f09e111328a1" providerId="ADAL" clId="{8A957FB4-2AE3-4D3E-A618-130ED577C9FB}" dt="2026-06-05T13:49:43.856" v="3" actId="22"/>
          <ac:spMkLst>
            <pc:docMk/>
            <pc:sldMk cId="0" sldId="256"/>
            <ac:spMk id="58" creationId="{32086144-D9AD-912E-A60E-E89D83D2961C}"/>
          </ac:spMkLst>
        </pc:spChg>
      </pc:sldChg>
      <pc:sldChg chg="add">
        <pc:chgData name="Aishwar C Nigam" userId="b0b382f3-1a41-4da3-92e1-f09e111328a1" providerId="ADAL" clId="{8A957FB4-2AE3-4D3E-A618-130ED577C9FB}" dt="2026-06-05T07:41:12.907" v="1" actId="26606"/>
        <pc:sldMkLst>
          <pc:docMk/>
          <pc:sldMk cId="0" sldId="257"/>
        </pc:sldMkLst>
      </pc:sldChg>
      <pc:sldChg chg="add">
        <pc:chgData name="Aishwar C Nigam" userId="b0b382f3-1a41-4da3-92e1-f09e111328a1" providerId="ADAL" clId="{8A957FB4-2AE3-4D3E-A618-130ED577C9FB}" dt="2026-06-05T07:41:12.907" v="1" actId="26606"/>
        <pc:sldMkLst>
          <pc:docMk/>
          <pc:sldMk cId="0" sldId="258"/>
        </pc:sldMkLst>
      </pc:sldChg>
      <pc:sldChg chg="add">
        <pc:chgData name="Aishwar C Nigam" userId="b0b382f3-1a41-4da3-92e1-f09e111328a1" providerId="ADAL" clId="{8A957FB4-2AE3-4D3E-A618-130ED577C9FB}" dt="2026-06-05T07:41:12.907" v="1" actId="26606"/>
        <pc:sldMkLst>
          <pc:docMk/>
          <pc:sldMk cId="0" sldId="259"/>
        </pc:sldMkLst>
      </pc:sldChg>
      <pc:sldChg chg="add">
        <pc:chgData name="Aishwar C Nigam" userId="b0b382f3-1a41-4da3-92e1-f09e111328a1" providerId="ADAL" clId="{8A957FB4-2AE3-4D3E-A618-130ED577C9FB}" dt="2026-06-05T07:41:12.907" v="1" actId="26606"/>
        <pc:sldMkLst>
          <pc:docMk/>
          <pc:sldMk cId="0" sldId="260"/>
        </pc:sldMkLst>
      </pc:sldChg>
      <pc:sldChg chg="add">
        <pc:chgData name="Aishwar C Nigam" userId="b0b382f3-1a41-4da3-92e1-f09e111328a1" providerId="ADAL" clId="{8A957FB4-2AE3-4D3E-A618-130ED577C9FB}" dt="2026-06-05T07:41:12.907" v="1" actId="26606"/>
        <pc:sldMkLst>
          <pc:docMk/>
          <pc:sldMk cId="0" sldId="261"/>
        </pc:sldMkLst>
      </pc:sldChg>
      <pc:sldChg chg="add">
        <pc:chgData name="Aishwar C Nigam" userId="b0b382f3-1a41-4da3-92e1-f09e111328a1" providerId="ADAL" clId="{8A957FB4-2AE3-4D3E-A618-130ED577C9FB}" dt="2026-06-05T07:41:12.907" v="1" actId="26606"/>
        <pc:sldMkLst>
          <pc:docMk/>
          <pc:sldMk cId="0" sldId="262"/>
        </pc:sldMkLst>
      </pc:sldChg>
      <pc:sldChg chg="add">
        <pc:chgData name="Aishwar C Nigam" userId="b0b382f3-1a41-4da3-92e1-f09e111328a1" providerId="ADAL" clId="{8A957FB4-2AE3-4D3E-A618-130ED577C9FB}" dt="2026-06-05T07:41:12.907" v="1" actId="26606"/>
        <pc:sldMkLst>
          <pc:docMk/>
          <pc:sldMk cId="0" sldId="263"/>
        </pc:sldMkLst>
      </pc:sldChg>
      <pc:sldChg chg="add">
        <pc:chgData name="Aishwar C Nigam" userId="b0b382f3-1a41-4da3-92e1-f09e111328a1" providerId="ADAL" clId="{8A957FB4-2AE3-4D3E-A618-130ED577C9FB}" dt="2026-06-05T07:41:12.907" v="1" actId="26606"/>
        <pc:sldMkLst>
          <pc:docMk/>
          <pc:sldMk cId="0" sldId="264"/>
        </pc:sldMkLst>
      </pc:sldChg>
      <pc:sldChg chg="add">
        <pc:chgData name="Aishwar C Nigam" userId="b0b382f3-1a41-4da3-92e1-f09e111328a1" providerId="ADAL" clId="{8A957FB4-2AE3-4D3E-A618-130ED577C9FB}" dt="2026-06-05T07:41:12.907" v="1" actId="26606"/>
        <pc:sldMkLst>
          <pc:docMk/>
          <pc:sldMk cId="0" sldId="265"/>
        </pc:sldMkLst>
      </pc:sldChg>
      <pc:sldChg chg="add ord setBg">
        <pc:chgData name="Aishwar C Nigam" userId="b0b382f3-1a41-4da3-92e1-f09e111328a1" providerId="ADAL" clId="{8A957FB4-2AE3-4D3E-A618-130ED577C9FB}" dt="2026-06-05T13:50:00.023" v="6"/>
        <pc:sldMkLst>
          <pc:docMk/>
          <pc:sldMk cId="0" sldId="266"/>
        </pc:sldMkLst>
      </pc:sldChg>
      <pc:sldChg chg="add">
        <pc:chgData name="Aishwar C Nigam" userId="b0b382f3-1a41-4da3-92e1-f09e111328a1" providerId="ADAL" clId="{8A957FB4-2AE3-4D3E-A618-130ED577C9FB}" dt="2026-06-06T05:00:49.423" v="7" actId="26606"/>
        <pc:sldMkLst>
          <pc:docMk/>
          <pc:sldMk cId="0" sldId="267"/>
        </pc:sldMkLst>
      </pc:sldChg>
      <pc:sldChg chg="add">
        <pc:chgData name="Aishwar C Nigam" userId="b0b382f3-1a41-4da3-92e1-f09e111328a1" providerId="ADAL" clId="{8A957FB4-2AE3-4D3E-A618-130ED577C9FB}" dt="2026-06-06T05:00:49.423" v="7" actId="26606"/>
        <pc:sldMkLst>
          <pc:docMk/>
          <pc:sldMk cId="0" sldId="268"/>
        </pc:sldMkLst>
      </pc:sldChg>
      <pc:sldChg chg="add">
        <pc:chgData name="Aishwar C Nigam" userId="b0b382f3-1a41-4da3-92e1-f09e111328a1" providerId="ADAL" clId="{8A957FB4-2AE3-4D3E-A618-130ED577C9FB}" dt="2026-06-06T05:00:49.423" v="7" actId="26606"/>
        <pc:sldMkLst>
          <pc:docMk/>
          <pc:sldMk cId="0" sldId="269"/>
        </pc:sldMkLst>
      </pc:sldChg>
      <pc:sldMasterChg chg="add addSldLayout">
        <pc:chgData name="Aishwar C Nigam" userId="b0b382f3-1a41-4da3-92e1-f09e111328a1" providerId="ADAL" clId="{8A957FB4-2AE3-4D3E-A618-130ED577C9FB}" dt="2026-06-05T07:41:12.907" v="1" actId="26606"/>
        <pc:sldMasterMkLst>
          <pc:docMk/>
          <pc:sldMasterMk cId="0" sldId="2147483648"/>
        </pc:sldMasterMkLst>
        <pc:sldLayoutChg chg="add">
          <pc:chgData name="Aishwar C Nigam" userId="b0b382f3-1a41-4da3-92e1-f09e111328a1" providerId="ADAL" clId="{8A957FB4-2AE3-4D3E-A618-130ED577C9FB}" dt="2026-06-05T07:41:12.907" v="1" actId="26606"/>
          <pc:sldLayoutMkLst>
            <pc:docMk/>
            <pc:sldMasterMk cId="0" sldId="2147483648"/>
            <pc:sldLayoutMk cId="0" sldId="2147483649"/>
          </pc:sldLayoutMkLst>
        </pc:sldLayoutChg>
      </pc:sldMasterChg>
      <pc:sldMasterChg chg="del replId delSldLayout modSldLayout">
        <pc:chgData name="Aishwar C Nigam" userId="b0b382f3-1a41-4da3-92e1-f09e111328a1" providerId="ADAL" clId="{8A957FB4-2AE3-4D3E-A618-130ED577C9FB}" dt="2026-06-05T07:41:12.907" v="1" actId="26606"/>
        <pc:sldMasterMkLst>
          <pc:docMk/>
          <pc:sldMasterMk cId="3364821987" sldId="2147483660"/>
        </pc:sldMasterMkLst>
        <pc:sldLayoutChg chg="del">
          <pc:chgData name="Aishwar C Nigam" userId="b0b382f3-1a41-4da3-92e1-f09e111328a1" providerId="ADAL" clId="{8A957FB4-2AE3-4D3E-A618-130ED577C9FB}" dt="2026-06-05T07:41:12.907" v="1" actId="26606"/>
          <pc:sldLayoutMkLst>
            <pc:docMk/>
            <pc:sldMasterMk cId="3364821987" sldId="2147483660"/>
            <pc:sldLayoutMk cId="39015054" sldId="2147483650"/>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3674653287" sldId="2147483651"/>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1234693412" sldId="2147483652"/>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3493419214" sldId="2147483653"/>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764855779" sldId="2147483654"/>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786257298" sldId="2147483655"/>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1000342710" sldId="2147483656"/>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1365800702" sldId="2147483657"/>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2393027480" sldId="2147483658"/>
          </pc:sldLayoutMkLst>
        </pc:sldLayoutChg>
        <pc:sldLayoutChg chg="del">
          <pc:chgData name="Aishwar C Nigam" userId="b0b382f3-1a41-4da3-92e1-f09e111328a1" providerId="ADAL" clId="{8A957FB4-2AE3-4D3E-A618-130ED577C9FB}" dt="2026-06-05T07:41:12.907" v="1" actId="26606"/>
          <pc:sldLayoutMkLst>
            <pc:docMk/>
            <pc:sldMasterMk cId="3364821987" sldId="2147483660"/>
            <pc:sldLayoutMk cId="2553954331" sldId="2147483659"/>
          </pc:sldLayoutMkLst>
        </pc:sldLayoutChg>
        <pc:sldLayoutChg chg="del replId">
          <pc:chgData name="Aishwar C Nigam" userId="b0b382f3-1a41-4da3-92e1-f09e111328a1" providerId="ADAL" clId="{8A957FB4-2AE3-4D3E-A618-130ED577C9FB}" dt="2026-06-05T07:41:12.907" v="1" actId="26606"/>
          <pc:sldLayoutMkLst>
            <pc:docMk/>
            <pc:sldMasterMk cId="3364821987" sldId="2147483660"/>
            <pc:sldLayoutMk cId="3737567760"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begin with a simple question. When a trainer walks into a classroom, how long do you think it takes for the audience to decide whether the trainer actually knows the subject? (pause) Not an hour… not even fifteen minutes… usually within the first five minutes the room already knows. The confidence, the explanation flow, the way the trainer connects ideas — all of that becomes visible very quickly. And that’s exactly why we are here today. This huddle is not about reviewing slides or filling reports; this is about making sure our </a:t>
            </a:r>
            <a:r>
              <a:rPr lang="en-US" b="1" dirty="0"/>
              <a:t>delivery as a team becomes predictable and confident</a:t>
            </a:r>
            <a:r>
              <a:rPr lang="en-US" dirty="0"/>
              <a:t>. Over the last few weeks we’ve been stabilizing mocks, improving explanations, tightening preparation. Now the next step is moving into </a:t>
            </a:r>
            <a:r>
              <a:rPr lang="en-US" b="1" dirty="0"/>
              <a:t>consistent execution</a:t>
            </a:r>
            <a:r>
              <a:rPr lang="en-US" dirty="0"/>
              <a:t>. So today we align on mock outcomes, confirm the April roadmap, lock certification and webinar timelines, and agree on governance cadence. Think of this like a </a:t>
            </a:r>
            <a:r>
              <a:rPr lang="en-US" b="1" dirty="0"/>
              <a:t>pit stop in a racing strategy</a:t>
            </a:r>
            <a:r>
              <a:rPr lang="en-US" dirty="0"/>
              <a:t> — quick alignment, tighten the bolts, and then we accelerate again. Are you with me?</a:t>
            </a:r>
          </a:p>
        </p:txBody>
      </p:sp>
      <p:sp>
        <p:nvSpPr>
          <p:cNvPr id="4" name="Slide Number Placeholder 3"/>
          <p:cNvSpPr>
            <a:spLocks noGrp="1"/>
          </p:cNvSpPr>
          <p:nvPr>
            <p:ph type="sldNum" sz="quarter" idx="5"/>
          </p:nvPr>
        </p:nvSpPr>
        <p:spPr/>
        <p:txBody>
          <a:bodyPr/>
          <a:lstStyle/>
          <a:p>
            <a:fld id="{BE1980BB-B54A-4961-B2A5-1D4732AE0224}" type="slidenum">
              <a:rPr lang="en-IN" smtClean="0"/>
              <a:t>1</a:t>
            </a:fld>
            <a:endParaRPr lang="en-IN"/>
          </a:p>
        </p:txBody>
      </p:sp>
    </p:spTree>
    <p:extLst>
      <p:ext uri="{BB962C8B-B14F-4D97-AF65-F5344CB8AC3E}">
        <p14:creationId xmlns:p14="http://schemas.microsoft.com/office/powerpoint/2010/main" val="233875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54512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925093" y="514350"/>
            <a:ext cx="1826410" cy="4629150"/>
          </a:xfrm>
          <a:custGeom>
            <a:avLst/>
            <a:gdLst/>
            <a:ahLst/>
            <a:cxnLst/>
            <a:rect l="l" t="t" r="r" b="b"/>
            <a:pathLst>
              <a:path w="3652820" h="9258300">
                <a:moveTo>
                  <a:pt x="3652820" y="0"/>
                </a:moveTo>
                <a:lnTo>
                  <a:pt x="0" y="0"/>
                </a:lnTo>
                <a:lnTo>
                  <a:pt x="0" y="9258300"/>
                </a:lnTo>
                <a:lnTo>
                  <a:pt x="3652820" y="9258300"/>
                </a:lnTo>
                <a:lnTo>
                  <a:pt x="3652820" y="0"/>
                </a:lnTo>
                <a:close/>
              </a:path>
            </a:pathLst>
          </a:custGeom>
          <a:blipFill>
            <a:blip r:embed="rId3">
              <a:alphaModFix amt="72000"/>
            </a:blip>
            <a:stretch>
              <a:fillRect/>
            </a:stretch>
          </a:blipFill>
        </p:spPr>
        <p:txBody>
          <a:bodyPr/>
          <a:lstStyle/>
          <a:p>
            <a:endParaRPr lang="en-IN" sz="900"/>
          </a:p>
        </p:txBody>
      </p:sp>
      <p:grpSp>
        <p:nvGrpSpPr>
          <p:cNvPr id="3" name="Group 3"/>
          <p:cNvGrpSpPr/>
          <p:nvPr/>
        </p:nvGrpSpPr>
        <p:grpSpPr>
          <a:xfrm>
            <a:off x="2684865" y="514350"/>
            <a:ext cx="7333219" cy="4629150"/>
            <a:chOff x="0" y="0"/>
            <a:chExt cx="3542301" cy="2236104"/>
          </a:xfrm>
        </p:grpSpPr>
        <p:sp>
          <p:nvSpPr>
            <p:cNvPr id="4" name="Freeform 4"/>
            <p:cNvSpPr/>
            <p:nvPr/>
          </p:nvSpPr>
          <p:spPr>
            <a:xfrm>
              <a:off x="0" y="0"/>
              <a:ext cx="3542301" cy="2236104"/>
            </a:xfrm>
            <a:custGeom>
              <a:avLst/>
              <a:gdLst/>
              <a:ahLst/>
              <a:cxnLst/>
              <a:rect l="l" t="t" r="r" b="b"/>
              <a:pathLst>
                <a:path w="3542301" h="2236104">
                  <a:moveTo>
                    <a:pt x="52787" y="0"/>
                  </a:moveTo>
                  <a:lnTo>
                    <a:pt x="3489514" y="0"/>
                  </a:lnTo>
                  <a:cubicBezTo>
                    <a:pt x="3518667" y="0"/>
                    <a:pt x="3542301" y="23633"/>
                    <a:pt x="3542301" y="52787"/>
                  </a:cubicBezTo>
                  <a:lnTo>
                    <a:pt x="3542301" y="2183318"/>
                  </a:lnTo>
                  <a:cubicBezTo>
                    <a:pt x="3542301" y="2212471"/>
                    <a:pt x="3518667" y="2236104"/>
                    <a:pt x="3489514" y="2236104"/>
                  </a:cubicBezTo>
                  <a:lnTo>
                    <a:pt x="52787" y="2236104"/>
                  </a:lnTo>
                  <a:cubicBezTo>
                    <a:pt x="23633" y="2236104"/>
                    <a:pt x="0" y="2212471"/>
                    <a:pt x="0" y="2183318"/>
                  </a:cubicBezTo>
                  <a:lnTo>
                    <a:pt x="0" y="52787"/>
                  </a:lnTo>
                  <a:cubicBezTo>
                    <a:pt x="0" y="23633"/>
                    <a:pt x="23633" y="0"/>
                    <a:pt x="52787" y="0"/>
                  </a:cubicBezTo>
                  <a:close/>
                </a:path>
              </a:pathLst>
            </a:custGeom>
            <a:solidFill>
              <a:srgbClr val="066CF4"/>
            </a:solidFill>
          </p:spPr>
          <p:txBody>
            <a:bodyPr/>
            <a:lstStyle/>
            <a:p>
              <a:endParaRPr lang="en-IN" sz="900"/>
            </a:p>
          </p:txBody>
        </p:sp>
        <p:sp>
          <p:nvSpPr>
            <p:cNvPr id="5" name="TextBox 5"/>
            <p:cNvSpPr txBox="1"/>
            <p:nvPr/>
          </p:nvSpPr>
          <p:spPr>
            <a:xfrm>
              <a:off x="0" y="-57150"/>
              <a:ext cx="3542301" cy="2293254"/>
            </a:xfrm>
            <a:prstGeom prst="rect">
              <a:avLst/>
            </a:prstGeom>
          </p:spPr>
          <p:txBody>
            <a:bodyPr lIns="25400" tIns="25400" rIns="25400" bIns="25400" rtlCol="0" anchor="ctr"/>
            <a:lstStyle/>
            <a:p>
              <a:pPr algn="ctr">
                <a:lnSpc>
                  <a:spcPts val="1817"/>
                </a:lnSpc>
              </a:pPr>
              <a:endParaRPr sz="900"/>
            </a:p>
          </p:txBody>
        </p:sp>
      </p:grpSp>
      <p:sp>
        <p:nvSpPr>
          <p:cNvPr id="6" name="TextBox 6"/>
          <p:cNvSpPr txBox="1"/>
          <p:nvPr/>
        </p:nvSpPr>
        <p:spPr>
          <a:xfrm>
            <a:off x="2544993" y="2262744"/>
            <a:ext cx="5840944" cy="2415277"/>
          </a:xfrm>
          <a:prstGeom prst="rect">
            <a:avLst/>
          </a:prstGeom>
        </p:spPr>
        <p:txBody>
          <a:bodyPr lIns="0" tIns="0" rIns="0" bIns="0" rtlCol="0" anchor="t">
            <a:spAutoFit/>
          </a:bodyPr>
          <a:lstStyle/>
          <a:p>
            <a:pPr algn="r">
              <a:lnSpc>
                <a:spcPts val="6193"/>
              </a:lnSpc>
            </a:pPr>
            <a:r>
              <a:rPr lang="en-US" sz="7839" b="1">
                <a:solidFill>
                  <a:srgbClr val="FFFFFF"/>
                </a:solidFill>
                <a:latin typeface="Helvetica World Bold"/>
                <a:ea typeface="Helvetica World Bold"/>
                <a:cs typeface="Helvetica World Bold"/>
                <a:sym typeface="Helvetica World Bold"/>
              </a:rPr>
              <a:t>HUDDLE MEET</a:t>
            </a:r>
          </a:p>
          <a:p>
            <a:pPr algn="r">
              <a:lnSpc>
                <a:spcPts val="6193"/>
              </a:lnSpc>
            </a:pPr>
            <a:endParaRPr lang="en-US" sz="7839" b="1">
              <a:solidFill>
                <a:srgbClr val="FFFFFF"/>
              </a:solidFill>
              <a:latin typeface="Helvetica World Bold"/>
              <a:ea typeface="Helvetica World Bold"/>
              <a:cs typeface="Helvetica World Bold"/>
              <a:sym typeface="Helvetica World Bold"/>
            </a:endParaRPr>
          </a:p>
        </p:txBody>
      </p:sp>
      <p:sp>
        <p:nvSpPr>
          <p:cNvPr id="7" name="AutoShape 7"/>
          <p:cNvSpPr/>
          <p:nvPr/>
        </p:nvSpPr>
        <p:spPr>
          <a:xfrm flipV="1">
            <a:off x="2691179" y="1947557"/>
            <a:ext cx="5938468" cy="10387"/>
          </a:xfrm>
          <a:prstGeom prst="line">
            <a:avLst/>
          </a:prstGeom>
          <a:ln w="9525" cap="flat">
            <a:solidFill>
              <a:srgbClr val="FFFFFF"/>
            </a:solidFill>
            <a:prstDash val="solid"/>
            <a:headEnd type="none" w="sm" len="sm"/>
            <a:tailEnd type="none" w="sm" len="sm"/>
          </a:ln>
        </p:spPr>
        <p:txBody>
          <a:bodyPr/>
          <a:lstStyle/>
          <a:p>
            <a:endParaRPr lang="en-IN" sz="900"/>
          </a:p>
        </p:txBody>
      </p:sp>
      <p:sp>
        <p:nvSpPr>
          <p:cNvPr id="8" name="AutoShape 8"/>
          <p:cNvSpPr/>
          <p:nvPr/>
        </p:nvSpPr>
        <p:spPr>
          <a:xfrm flipH="1">
            <a:off x="8612964" y="514350"/>
            <a:ext cx="0" cy="5256345"/>
          </a:xfrm>
          <a:prstGeom prst="line">
            <a:avLst/>
          </a:prstGeom>
          <a:ln w="9525" cap="flat">
            <a:solidFill>
              <a:srgbClr val="FFFFFF"/>
            </a:solidFill>
            <a:prstDash val="solid"/>
            <a:headEnd type="none" w="sm" len="sm"/>
            <a:tailEnd type="none" w="sm" len="sm"/>
          </a:ln>
        </p:spPr>
        <p:txBody>
          <a:bodyPr/>
          <a:lstStyle/>
          <a:p>
            <a:endParaRPr lang="en-IN" sz="900"/>
          </a:p>
        </p:txBody>
      </p:sp>
      <p:sp>
        <p:nvSpPr>
          <p:cNvPr id="9" name="Freeform 9"/>
          <p:cNvSpPr/>
          <p:nvPr/>
        </p:nvSpPr>
        <p:spPr>
          <a:xfrm>
            <a:off x="7755464" y="824166"/>
            <a:ext cx="630473" cy="630473"/>
          </a:xfrm>
          <a:custGeom>
            <a:avLst/>
            <a:gdLst/>
            <a:ahLst/>
            <a:cxnLst/>
            <a:rect l="l" t="t" r="r" b="b"/>
            <a:pathLst>
              <a:path w="1260945" h="1260945">
                <a:moveTo>
                  <a:pt x="0" y="0"/>
                </a:moveTo>
                <a:lnTo>
                  <a:pt x="1260945" y="0"/>
                </a:lnTo>
                <a:lnTo>
                  <a:pt x="1260945" y="1260945"/>
                </a:lnTo>
                <a:lnTo>
                  <a:pt x="0" y="12609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900"/>
          </a:p>
        </p:txBody>
      </p:sp>
      <p:sp>
        <p:nvSpPr>
          <p:cNvPr id="10" name="TextBox 10"/>
          <p:cNvSpPr txBox="1"/>
          <p:nvPr/>
        </p:nvSpPr>
        <p:spPr>
          <a:xfrm>
            <a:off x="4318790" y="4200324"/>
            <a:ext cx="4067147" cy="708592"/>
          </a:xfrm>
          <a:prstGeom prst="rect">
            <a:avLst/>
          </a:prstGeom>
        </p:spPr>
        <p:txBody>
          <a:bodyPr lIns="0" tIns="0" rIns="0" bIns="0" rtlCol="0" anchor="t">
            <a:spAutoFit/>
          </a:bodyPr>
          <a:lstStyle/>
          <a:p>
            <a:pPr algn="r">
              <a:lnSpc>
                <a:spcPts val="1850"/>
              </a:lnSpc>
            </a:pPr>
            <a:r>
              <a:rPr lang="en-US" sz="1321">
                <a:solidFill>
                  <a:srgbClr val="FFFFFF"/>
                </a:solidFill>
                <a:latin typeface="Canva Sans"/>
                <a:ea typeface="Canva Sans"/>
                <a:cs typeface="Canva Sans"/>
                <a:sym typeface="Canva Sans"/>
              </a:rPr>
              <a:t>“Align on mock outcomes, confirm April plan, lock exam + webinar dates, and agree governance cadence.”</a:t>
            </a:r>
          </a:p>
        </p:txBody>
      </p:sp>
      <p:grpSp>
        <p:nvGrpSpPr>
          <p:cNvPr id="11" name="Group 11"/>
          <p:cNvGrpSpPr/>
          <p:nvPr/>
        </p:nvGrpSpPr>
        <p:grpSpPr>
          <a:xfrm>
            <a:off x="319149" y="2949335"/>
            <a:ext cx="2059608" cy="1626285"/>
            <a:chOff x="0" y="0"/>
            <a:chExt cx="5492288" cy="4336758"/>
          </a:xfrm>
        </p:grpSpPr>
        <p:sp>
          <p:nvSpPr>
            <p:cNvPr id="12" name="Freeform 12"/>
            <p:cNvSpPr/>
            <p:nvPr/>
          </p:nvSpPr>
          <p:spPr>
            <a:xfrm>
              <a:off x="1039917" y="0"/>
              <a:ext cx="4452371" cy="3866532"/>
            </a:xfrm>
            <a:custGeom>
              <a:avLst/>
              <a:gdLst/>
              <a:ahLst/>
              <a:cxnLst/>
              <a:rect l="l" t="t" r="r" b="b"/>
              <a:pathLst>
                <a:path w="4452371" h="3866532">
                  <a:moveTo>
                    <a:pt x="0" y="0"/>
                  </a:moveTo>
                  <a:lnTo>
                    <a:pt x="4452370" y="0"/>
                  </a:lnTo>
                  <a:lnTo>
                    <a:pt x="4452370" y="3866532"/>
                  </a:lnTo>
                  <a:lnTo>
                    <a:pt x="0" y="3866532"/>
                  </a:lnTo>
                  <a:lnTo>
                    <a:pt x="0" y="0"/>
                  </a:lnTo>
                  <a:close/>
                </a:path>
              </a:pathLst>
            </a:custGeom>
            <a:blipFill>
              <a:blip r:embed="rId5"/>
              <a:stretch>
                <a:fillRect/>
              </a:stretch>
            </a:blipFill>
          </p:spPr>
          <p:txBody>
            <a:bodyPr/>
            <a:lstStyle/>
            <a:p>
              <a:endParaRPr lang="en-IN" sz="900"/>
            </a:p>
          </p:txBody>
        </p:sp>
        <p:sp>
          <p:nvSpPr>
            <p:cNvPr id="13" name="TextBox 13"/>
            <p:cNvSpPr txBox="1"/>
            <p:nvPr/>
          </p:nvSpPr>
          <p:spPr>
            <a:xfrm>
              <a:off x="0" y="2652879"/>
              <a:ext cx="2769752" cy="1683879"/>
            </a:xfrm>
            <a:prstGeom prst="rect">
              <a:avLst/>
            </a:prstGeom>
          </p:spPr>
          <p:txBody>
            <a:bodyPr wrap="square" lIns="0" tIns="0" rIns="0" bIns="0" rtlCol="0" anchor="t">
              <a:spAutoFit/>
            </a:bodyPr>
            <a:lstStyle/>
            <a:p>
              <a:pPr algn="ctr">
                <a:lnSpc>
                  <a:spcPts val="2115"/>
                </a:lnSpc>
              </a:pPr>
              <a:r>
                <a:rPr lang="en-US" sz="2376" dirty="0">
                  <a:solidFill>
                    <a:srgbClr val="000000"/>
                  </a:solidFill>
                  <a:latin typeface="Canva Sans"/>
                  <a:ea typeface="Canva Sans"/>
                  <a:cs typeface="Canva Sans"/>
                  <a:sym typeface="Canva Sans"/>
                </a:rPr>
                <a:t>Skill</a:t>
              </a:r>
            </a:p>
            <a:p>
              <a:pPr algn="ctr">
                <a:lnSpc>
                  <a:spcPts val="2831"/>
                </a:lnSpc>
              </a:pPr>
              <a:r>
                <a:rPr lang="en-US" sz="3181" dirty="0">
                  <a:solidFill>
                    <a:srgbClr val="000000"/>
                  </a:solidFill>
                  <a:latin typeface="Canva Sans"/>
                  <a:ea typeface="Canva Sans"/>
                  <a:cs typeface="Canva Sans"/>
                  <a:sym typeface="Canva Sans"/>
                </a:rPr>
                <a:t>Sync</a:t>
              </a:r>
            </a:p>
          </p:txBody>
        </p:sp>
      </p:grpSp>
      <p:sp>
        <p:nvSpPr>
          <p:cNvPr id="14" name="Freeform 14"/>
          <p:cNvSpPr/>
          <p:nvPr/>
        </p:nvSpPr>
        <p:spPr>
          <a:xfrm>
            <a:off x="319149" y="204534"/>
            <a:ext cx="1101568" cy="619632"/>
          </a:xfrm>
          <a:custGeom>
            <a:avLst/>
            <a:gdLst/>
            <a:ahLst/>
            <a:cxnLst/>
            <a:rect l="l" t="t" r="r" b="b"/>
            <a:pathLst>
              <a:path w="2203135" h="1239264">
                <a:moveTo>
                  <a:pt x="0" y="0"/>
                </a:moveTo>
                <a:lnTo>
                  <a:pt x="2203136" y="0"/>
                </a:lnTo>
                <a:lnTo>
                  <a:pt x="2203136" y="1239264"/>
                </a:lnTo>
                <a:lnTo>
                  <a:pt x="0" y="1239264"/>
                </a:lnTo>
                <a:lnTo>
                  <a:pt x="0" y="0"/>
                </a:lnTo>
                <a:close/>
              </a:path>
            </a:pathLst>
          </a:custGeom>
          <a:blipFill>
            <a:blip r:embed="rId6"/>
            <a:stretch>
              <a:fillRect/>
            </a:stretch>
          </a:blipFill>
        </p:spPr>
        <p:txBody>
          <a:bodyPr/>
          <a:lstStyle/>
          <a:p>
            <a:endParaRPr lang="en-IN" sz="900"/>
          </a:p>
        </p:txBody>
      </p:sp>
      <p:sp>
        <p:nvSpPr>
          <p:cNvPr id="15" name="TextBox 15"/>
          <p:cNvSpPr txBox="1"/>
          <p:nvPr/>
        </p:nvSpPr>
        <p:spPr>
          <a:xfrm>
            <a:off x="5600700" y="185484"/>
            <a:ext cx="2972853" cy="129138"/>
          </a:xfrm>
          <a:prstGeom prst="rect">
            <a:avLst/>
          </a:prstGeom>
        </p:spPr>
        <p:txBody>
          <a:bodyPr wrap="square" lIns="0" tIns="0" rIns="0" bIns="0" rtlCol="0" anchor="t">
            <a:spAutoFit/>
          </a:bodyPr>
          <a:lstStyle/>
          <a:p>
            <a:pPr algn="ctr">
              <a:lnSpc>
                <a:spcPts val="1120"/>
              </a:lnSpc>
              <a:spcBef>
                <a:spcPct val="0"/>
              </a:spcBef>
            </a:pPr>
            <a:r>
              <a:rPr lang="en-US" sz="800" i="1" dirty="0">
                <a:solidFill>
                  <a:srgbClr val="000000"/>
                </a:solidFill>
                <a:latin typeface="Helvetica World Italics"/>
                <a:ea typeface="Helvetica World Italics"/>
                <a:cs typeface="Helvetica World Italics"/>
                <a:sym typeface="Helvetica World Italics"/>
              </a:rPr>
              <a:t>Date</a:t>
            </a:r>
            <a:r>
              <a:rPr lang="en-US" sz="800" dirty="0">
                <a:solidFill>
                  <a:srgbClr val="000000"/>
                </a:solidFill>
                <a:latin typeface="Helvetica World"/>
                <a:ea typeface="Helvetica World"/>
                <a:cs typeface="Helvetica World"/>
                <a:sym typeface="Helvetica World"/>
              </a:rPr>
              <a:t>: </a:t>
            </a:r>
            <a:r>
              <a:rPr lang="en-US" sz="800" b="1" dirty="0">
                <a:solidFill>
                  <a:srgbClr val="000000"/>
                </a:solidFill>
                <a:latin typeface="Helvetica World Bold"/>
                <a:ea typeface="Helvetica World Bold"/>
                <a:cs typeface="Helvetica World Bold"/>
                <a:sym typeface="Helvetica World Bold"/>
              </a:rPr>
              <a:t>12 Mar 2026 </a:t>
            </a:r>
            <a:r>
              <a:rPr lang="en-US" sz="800" dirty="0">
                <a:solidFill>
                  <a:srgbClr val="000000"/>
                </a:solidFill>
                <a:latin typeface="Helvetica World"/>
                <a:ea typeface="Helvetica World"/>
                <a:cs typeface="Helvetica World"/>
                <a:sym typeface="Helvetica World"/>
              </a:rPr>
              <a:t>| </a:t>
            </a:r>
            <a:r>
              <a:rPr lang="en-US" sz="800" i="1" dirty="0">
                <a:solidFill>
                  <a:srgbClr val="000000"/>
                </a:solidFill>
                <a:latin typeface="Helvetica World Italics"/>
                <a:ea typeface="Helvetica World Italics"/>
                <a:cs typeface="Helvetica World Italics"/>
                <a:sym typeface="Helvetica World Italics"/>
              </a:rPr>
              <a:t>Audience</a:t>
            </a:r>
            <a:r>
              <a:rPr lang="en-US" sz="800" dirty="0">
                <a:solidFill>
                  <a:srgbClr val="000000"/>
                </a:solidFill>
                <a:latin typeface="Helvetica World"/>
                <a:ea typeface="Helvetica World"/>
                <a:cs typeface="Helvetica World"/>
                <a:sym typeface="Helvetica World"/>
              </a:rPr>
              <a:t>: </a:t>
            </a:r>
            <a:r>
              <a:rPr lang="en-US" sz="800" b="1" dirty="0">
                <a:solidFill>
                  <a:srgbClr val="000000"/>
                </a:solidFill>
                <a:latin typeface="Helvetica World Bold"/>
                <a:ea typeface="Helvetica World Bold"/>
                <a:cs typeface="Helvetica World Bold"/>
                <a:sym typeface="Helvetica World Bold"/>
              </a:rPr>
              <a:t>Training Team </a:t>
            </a:r>
            <a:r>
              <a:rPr lang="en-US" sz="800" dirty="0">
                <a:solidFill>
                  <a:srgbClr val="000000"/>
                </a:solidFill>
                <a:latin typeface="Helvetica World"/>
                <a:ea typeface="Helvetica World"/>
                <a:cs typeface="Helvetica World"/>
                <a:sym typeface="Helvetica World"/>
              </a:rPr>
              <a:t>| </a:t>
            </a:r>
            <a:r>
              <a:rPr lang="en-US" sz="800" i="1" dirty="0">
                <a:solidFill>
                  <a:srgbClr val="000000"/>
                </a:solidFill>
                <a:latin typeface="Helvetica World Italics"/>
                <a:ea typeface="Helvetica World Italics"/>
                <a:cs typeface="Helvetica World Italics"/>
                <a:sym typeface="Helvetica World Italics"/>
              </a:rPr>
              <a:t>Owner</a:t>
            </a:r>
            <a:r>
              <a:rPr lang="en-US" sz="800" dirty="0">
                <a:solidFill>
                  <a:srgbClr val="000000"/>
                </a:solidFill>
                <a:latin typeface="Helvetica World"/>
                <a:ea typeface="Helvetica World"/>
                <a:cs typeface="Helvetica World"/>
                <a:sym typeface="Helvetica World"/>
              </a:rPr>
              <a:t>: </a:t>
            </a:r>
            <a:r>
              <a:rPr lang="en-US" sz="800" b="1" dirty="0">
                <a:solidFill>
                  <a:srgbClr val="000000"/>
                </a:solidFill>
                <a:latin typeface="Helvetica World Bold"/>
                <a:ea typeface="Helvetica World Bold"/>
                <a:cs typeface="Helvetica World Bold"/>
                <a:sym typeface="Helvetica World Bold"/>
              </a:rPr>
              <a:t>Aishwar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01  EXECUTIVE OVERVIEW</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Why we are here, and what success looks like</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 / 10</a:t>
            </a:r>
            <a:endParaRPr lang="en-US" sz="900" dirty="0"/>
          </a:p>
        </p:txBody>
      </p:sp>
      <p:sp>
        <p:nvSpPr>
          <p:cNvPr id="37" name="Shape 35"/>
          <p:cNvSpPr/>
          <p:nvPr/>
        </p:nvSpPr>
        <p:spPr>
          <a:xfrm>
            <a:off x="457200" y="1417320"/>
            <a:ext cx="1874520" cy="2103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1874520" cy="54864"/>
          </a:xfrm>
          <a:prstGeom prst="rect">
            <a:avLst/>
          </a:prstGeom>
          <a:solidFill>
            <a:srgbClr val="1E3A8A"/>
          </a:solidFill>
          <a:ln/>
        </p:spPr>
        <p:txBody>
          <a:bodyPr/>
          <a:lstStyle/>
          <a:p>
            <a:endParaRPr lang="en-IN"/>
          </a:p>
        </p:txBody>
      </p:sp>
      <p:sp>
        <p:nvSpPr>
          <p:cNvPr id="39" name="Text 37"/>
          <p:cNvSpPr/>
          <p:nvPr/>
        </p:nvSpPr>
        <p:spPr>
          <a:xfrm>
            <a:off x="640080" y="1600200"/>
            <a:ext cx="1691640" cy="274320"/>
          </a:xfrm>
          <a:prstGeom prst="rect">
            <a:avLst/>
          </a:prstGeom>
          <a:noFill/>
          <a:ln/>
        </p:spPr>
        <p:txBody>
          <a:bodyPr wrap="square" rtlCol="0" anchor="ctr"/>
          <a:lstStyle/>
          <a:p>
            <a:pPr marL="0" indent="0">
              <a:buNone/>
            </a:pPr>
            <a:r>
              <a:rPr lang="en-US" sz="1000" b="1" kern="0" spc="300" dirty="0">
                <a:solidFill>
                  <a:srgbClr val="1E3A8A"/>
                </a:solidFill>
                <a:latin typeface="Calibri" pitchFamily="34" charset="0"/>
                <a:ea typeface="Calibri" pitchFamily="34" charset="-122"/>
                <a:cs typeface="Calibri" pitchFamily="34" charset="-120"/>
              </a:rPr>
              <a:t>PURPOSE</a:t>
            </a:r>
            <a:endParaRPr lang="en-US" sz="1000" dirty="0"/>
          </a:p>
        </p:txBody>
      </p:sp>
      <p:sp>
        <p:nvSpPr>
          <p:cNvPr id="40" name="Text 38"/>
          <p:cNvSpPr/>
          <p:nvPr/>
        </p:nvSpPr>
        <p:spPr>
          <a:xfrm>
            <a:off x="640080" y="1920240"/>
            <a:ext cx="1691640" cy="146304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Reset readiness baseline and align on a measurable 30-day plan for delivery excellence.</a:t>
            </a:r>
            <a:endParaRPr lang="en-US" sz="1100" dirty="0"/>
          </a:p>
        </p:txBody>
      </p:sp>
      <p:sp>
        <p:nvSpPr>
          <p:cNvPr id="41" name="Shape 39"/>
          <p:cNvSpPr/>
          <p:nvPr/>
        </p:nvSpPr>
        <p:spPr>
          <a:xfrm>
            <a:off x="2532888" y="1417320"/>
            <a:ext cx="1874520" cy="2103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2" name="Shape 40"/>
          <p:cNvSpPr/>
          <p:nvPr/>
        </p:nvSpPr>
        <p:spPr>
          <a:xfrm>
            <a:off x="2532888" y="1417320"/>
            <a:ext cx="1874520" cy="54864"/>
          </a:xfrm>
          <a:prstGeom prst="rect">
            <a:avLst/>
          </a:prstGeom>
          <a:solidFill>
            <a:srgbClr val="E11D74"/>
          </a:solidFill>
          <a:ln/>
        </p:spPr>
        <p:txBody>
          <a:bodyPr/>
          <a:lstStyle/>
          <a:p>
            <a:endParaRPr lang="en-IN"/>
          </a:p>
        </p:txBody>
      </p:sp>
      <p:sp>
        <p:nvSpPr>
          <p:cNvPr id="43" name="Text 41"/>
          <p:cNvSpPr/>
          <p:nvPr/>
        </p:nvSpPr>
        <p:spPr>
          <a:xfrm>
            <a:off x="2715768" y="1600200"/>
            <a:ext cx="1691640" cy="274320"/>
          </a:xfrm>
          <a:prstGeom prst="rect">
            <a:avLst/>
          </a:prstGeom>
          <a:noFill/>
          <a:ln/>
        </p:spPr>
        <p:txBody>
          <a:bodyPr wrap="square" rtlCol="0" anchor="ctr"/>
          <a:lstStyle/>
          <a:p>
            <a:pPr marL="0" indent="0">
              <a:buNone/>
            </a:pPr>
            <a:r>
              <a:rPr lang="en-US" sz="1000" b="1" kern="0" spc="300" dirty="0">
                <a:solidFill>
                  <a:srgbClr val="E11D74"/>
                </a:solidFill>
                <a:latin typeface="Calibri" pitchFamily="34" charset="0"/>
                <a:ea typeface="Calibri" pitchFamily="34" charset="-122"/>
                <a:cs typeface="Calibri" pitchFamily="34" charset="-120"/>
              </a:rPr>
              <a:t>CHALLENGES</a:t>
            </a:r>
            <a:endParaRPr lang="en-US" sz="1000" dirty="0"/>
          </a:p>
        </p:txBody>
      </p:sp>
      <p:sp>
        <p:nvSpPr>
          <p:cNvPr id="44" name="Text 42"/>
          <p:cNvSpPr/>
          <p:nvPr/>
        </p:nvSpPr>
        <p:spPr>
          <a:xfrm>
            <a:off x="2715768" y="1920240"/>
            <a:ext cx="1691640" cy="146304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Slow preparation cycles, certification gaps, and reactive operational escalations.</a:t>
            </a:r>
            <a:endParaRPr lang="en-US" sz="1100" dirty="0"/>
          </a:p>
        </p:txBody>
      </p:sp>
      <p:sp>
        <p:nvSpPr>
          <p:cNvPr id="45" name="Shape 43"/>
          <p:cNvSpPr/>
          <p:nvPr/>
        </p:nvSpPr>
        <p:spPr>
          <a:xfrm>
            <a:off x="4608576" y="1417320"/>
            <a:ext cx="1874520" cy="2103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6" name="Shape 44"/>
          <p:cNvSpPr/>
          <p:nvPr/>
        </p:nvSpPr>
        <p:spPr>
          <a:xfrm>
            <a:off x="4608576" y="1417320"/>
            <a:ext cx="1874520" cy="54864"/>
          </a:xfrm>
          <a:prstGeom prst="rect">
            <a:avLst/>
          </a:prstGeom>
          <a:solidFill>
            <a:srgbClr val="6B21A8"/>
          </a:solidFill>
          <a:ln/>
        </p:spPr>
        <p:txBody>
          <a:bodyPr/>
          <a:lstStyle/>
          <a:p>
            <a:endParaRPr lang="en-IN"/>
          </a:p>
        </p:txBody>
      </p:sp>
      <p:sp>
        <p:nvSpPr>
          <p:cNvPr id="47" name="Text 45"/>
          <p:cNvSpPr/>
          <p:nvPr/>
        </p:nvSpPr>
        <p:spPr>
          <a:xfrm>
            <a:off x="4791456" y="1600200"/>
            <a:ext cx="1691640" cy="274320"/>
          </a:xfrm>
          <a:prstGeom prst="rect">
            <a:avLst/>
          </a:prstGeom>
          <a:noFill/>
          <a:ln/>
        </p:spPr>
        <p:txBody>
          <a:bodyPr wrap="square" rtlCol="0" anchor="ctr"/>
          <a:lstStyle/>
          <a:p>
            <a:pPr marL="0" indent="0">
              <a:buNone/>
            </a:pPr>
            <a:r>
              <a:rPr lang="en-US" sz="1000" b="1" kern="0" spc="300" dirty="0">
                <a:solidFill>
                  <a:srgbClr val="6B21A8"/>
                </a:solidFill>
                <a:latin typeface="Calibri" pitchFamily="34" charset="0"/>
                <a:ea typeface="Calibri" pitchFamily="34" charset="-122"/>
                <a:cs typeface="Calibri" pitchFamily="34" charset="-120"/>
              </a:rPr>
              <a:t>OUTCOMES</a:t>
            </a:r>
            <a:endParaRPr lang="en-US" sz="1000" dirty="0"/>
          </a:p>
        </p:txBody>
      </p:sp>
      <p:sp>
        <p:nvSpPr>
          <p:cNvPr id="48" name="Text 46"/>
          <p:cNvSpPr/>
          <p:nvPr/>
        </p:nvSpPr>
        <p:spPr>
          <a:xfrm>
            <a:off x="4791456" y="1920240"/>
            <a:ext cx="1691640" cy="146304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Validated delivery readiness, on-track certifications, and stronger allocation pipeline.</a:t>
            </a:r>
            <a:endParaRPr lang="en-US" sz="1100" dirty="0"/>
          </a:p>
        </p:txBody>
      </p:sp>
      <p:sp>
        <p:nvSpPr>
          <p:cNvPr id="49" name="Shape 47"/>
          <p:cNvSpPr/>
          <p:nvPr/>
        </p:nvSpPr>
        <p:spPr>
          <a:xfrm>
            <a:off x="6684264" y="1417320"/>
            <a:ext cx="1874520" cy="2103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0" name="Shape 48"/>
          <p:cNvSpPr/>
          <p:nvPr/>
        </p:nvSpPr>
        <p:spPr>
          <a:xfrm>
            <a:off x="6684264" y="1417320"/>
            <a:ext cx="1874520" cy="54864"/>
          </a:xfrm>
          <a:prstGeom prst="rect">
            <a:avLst/>
          </a:prstGeom>
          <a:solidFill>
            <a:srgbClr val="2563EB"/>
          </a:solidFill>
          <a:ln/>
        </p:spPr>
        <p:txBody>
          <a:bodyPr/>
          <a:lstStyle/>
          <a:p>
            <a:endParaRPr lang="en-IN"/>
          </a:p>
        </p:txBody>
      </p:sp>
      <p:sp>
        <p:nvSpPr>
          <p:cNvPr id="51" name="Text 49"/>
          <p:cNvSpPr/>
          <p:nvPr/>
        </p:nvSpPr>
        <p:spPr>
          <a:xfrm>
            <a:off x="6867144" y="1600200"/>
            <a:ext cx="1691640" cy="274320"/>
          </a:xfrm>
          <a:prstGeom prst="rect">
            <a:avLst/>
          </a:prstGeom>
          <a:noFill/>
          <a:ln/>
        </p:spPr>
        <p:txBody>
          <a:bodyPr wrap="square" rtlCol="0" anchor="ctr"/>
          <a:lstStyle/>
          <a:p>
            <a:pPr marL="0" indent="0">
              <a:buNone/>
            </a:pPr>
            <a:r>
              <a:rPr lang="en-US" sz="1000" b="1" kern="0" spc="300" dirty="0">
                <a:solidFill>
                  <a:srgbClr val="2563EB"/>
                </a:solidFill>
                <a:latin typeface="Calibri" pitchFamily="34" charset="0"/>
                <a:ea typeface="Calibri" pitchFamily="34" charset="-122"/>
                <a:cs typeface="Calibri" pitchFamily="34" charset="-120"/>
              </a:rPr>
              <a:t>BUSINESS GOAL</a:t>
            </a:r>
            <a:endParaRPr lang="en-US" sz="1000" dirty="0"/>
          </a:p>
        </p:txBody>
      </p:sp>
      <p:sp>
        <p:nvSpPr>
          <p:cNvPr id="52" name="Text 50"/>
          <p:cNvSpPr/>
          <p:nvPr/>
        </p:nvSpPr>
        <p:spPr>
          <a:xfrm>
            <a:off x="6867144" y="1920240"/>
            <a:ext cx="1691640" cy="146304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Protect billable utilization, grow customer confidence, and unlock career progression.</a:t>
            </a:r>
            <a:endParaRPr lang="en-US" sz="1100" dirty="0"/>
          </a:p>
        </p:txBody>
      </p:sp>
      <p:sp>
        <p:nvSpPr>
          <p:cNvPr id="53" name="Shape 51"/>
          <p:cNvSpPr/>
          <p:nvPr/>
        </p:nvSpPr>
        <p:spPr>
          <a:xfrm>
            <a:off x="457200" y="3749040"/>
            <a:ext cx="8229600" cy="960120"/>
          </a:xfrm>
          <a:prstGeom prst="rect">
            <a:avLst/>
          </a:prstGeom>
          <a:solidFill>
            <a:srgbClr val="0F172A"/>
          </a:solidFill>
          <a:ln/>
        </p:spPr>
        <p:txBody>
          <a:bodyPr/>
          <a:lstStyle/>
          <a:p>
            <a:endParaRPr lang="en-IN"/>
          </a:p>
        </p:txBody>
      </p:sp>
      <p:sp>
        <p:nvSpPr>
          <p:cNvPr id="54" name="Shape 52"/>
          <p:cNvSpPr/>
          <p:nvPr/>
        </p:nvSpPr>
        <p:spPr>
          <a:xfrm>
            <a:off x="457200" y="3749040"/>
            <a:ext cx="91440" cy="960120"/>
          </a:xfrm>
          <a:prstGeom prst="rect">
            <a:avLst/>
          </a:prstGeom>
          <a:solidFill>
            <a:srgbClr val="E11D74"/>
          </a:solidFill>
          <a:ln/>
        </p:spPr>
        <p:txBody>
          <a:bodyPr/>
          <a:lstStyle/>
          <a:p>
            <a:endParaRPr lang="en-IN"/>
          </a:p>
        </p:txBody>
      </p:sp>
      <p:sp>
        <p:nvSpPr>
          <p:cNvPr id="55" name="Text 53"/>
          <p:cNvSpPr/>
          <p:nvPr/>
        </p:nvSpPr>
        <p:spPr>
          <a:xfrm>
            <a:off x="685800" y="3822192"/>
            <a:ext cx="3657600" cy="274320"/>
          </a:xfrm>
          <a:prstGeom prst="rect">
            <a:avLst/>
          </a:prstGeom>
          <a:noFill/>
          <a:ln/>
        </p:spPr>
        <p:txBody>
          <a:bodyPr wrap="square" rtlCol="0" anchor="ctr"/>
          <a:lstStyle/>
          <a:p>
            <a:pPr marL="0" indent="0">
              <a:buNone/>
            </a:pPr>
            <a:r>
              <a:rPr lang="en-US" sz="1000" b="1" kern="0" spc="300" dirty="0">
                <a:solidFill>
                  <a:srgbClr val="F472B6"/>
                </a:solidFill>
                <a:latin typeface="Calibri" pitchFamily="34" charset="0"/>
                <a:ea typeface="Calibri" pitchFamily="34" charset="-122"/>
                <a:cs typeface="Calibri" pitchFamily="34" charset="-120"/>
              </a:rPr>
              <a:t>Executive intent</a:t>
            </a:r>
            <a:endParaRPr lang="en-US" sz="1000" dirty="0"/>
          </a:p>
        </p:txBody>
      </p:sp>
      <p:sp>
        <p:nvSpPr>
          <p:cNvPr id="56" name="Text 54"/>
          <p:cNvSpPr/>
          <p:nvPr/>
        </p:nvSpPr>
        <p:spPr>
          <a:xfrm>
            <a:off x="685800" y="4096512"/>
            <a:ext cx="7955280" cy="548640"/>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Move from reactive preparation to proactive readiness — every trainer delivery-ready, every quarter.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02  CURRENT STATE ASSESSMENT</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Maturity scorecard across five readiness dimensions</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10</a:t>
            </a:r>
            <a:endParaRPr lang="en-US" sz="900" dirty="0"/>
          </a:p>
        </p:txBody>
      </p:sp>
      <p:sp>
        <p:nvSpPr>
          <p:cNvPr id="37" name="Shape 35"/>
          <p:cNvSpPr/>
          <p:nvPr/>
        </p:nvSpPr>
        <p:spPr>
          <a:xfrm>
            <a:off x="457200" y="1371600"/>
            <a:ext cx="8229600" cy="365760"/>
          </a:xfrm>
          <a:prstGeom prst="rect">
            <a:avLst/>
          </a:prstGeom>
          <a:solidFill>
            <a:srgbClr val="F8FAFC"/>
          </a:solidFill>
          <a:ln w="6350">
            <a:solidFill>
              <a:srgbClr val="E5E7EB"/>
            </a:solidFill>
            <a:prstDash val="solid"/>
          </a:ln>
        </p:spPr>
        <p:txBody>
          <a:bodyPr/>
          <a:lstStyle/>
          <a:p>
            <a:endParaRPr lang="en-IN"/>
          </a:p>
        </p:txBody>
      </p:sp>
      <p:sp>
        <p:nvSpPr>
          <p:cNvPr id="38" name="Text 36"/>
          <p:cNvSpPr/>
          <p:nvPr/>
        </p:nvSpPr>
        <p:spPr>
          <a:xfrm>
            <a:off x="640080" y="1371600"/>
            <a:ext cx="2560320" cy="365760"/>
          </a:xfrm>
          <a:prstGeom prst="rect">
            <a:avLst/>
          </a:prstGeom>
          <a:noFill/>
          <a:ln/>
        </p:spPr>
        <p:txBody>
          <a:bodyPr wrap="square" rtlCol="0" anchor="ctr"/>
          <a:lstStyle/>
          <a:p>
            <a:pPr marL="0" indent="0">
              <a:buNone/>
            </a:pPr>
            <a:r>
              <a:rPr lang="en-US" sz="1000" b="1" dirty="0">
                <a:solidFill>
                  <a:srgbClr val="1F2937"/>
                </a:solidFill>
                <a:latin typeface="Calibri" pitchFamily="34" charset="0"/>
                <a:ea typeface="Calibri" pitchFamily="34" charset="-122"/>
                <a:cs typeface="Calibri" pitchFamily="34" charset="-120"/>
              </a:rPr>
              <a:t>Dimension</a:t>
            </a:r>
            <a:endParaRPr lang="en-US" sz="1000" dirty="0"/>
          </a:p>
        </p:txBody>
      </p:sp>
      <p:sp>
        <p:nvSpPr>
          <p:cNvPr id="39" name="Text 37"/>
          <p:cNvSpPr/>
          <p:nvPr/>
        </p:nvSpPr>
        <p:spPr>
          <a:xfrm>
            <a:off x="3291840" y="1371600"/>
            <a:ext cx="1828800" cy="365760"/>
          </a:xfrm>
          <a:prstGeom prst="rect">
            <a:avLst/>
          </a:prstGeom>
          <a:noFill/>
          <a:ln/>
        </p:spPr>
        <p:txBody>
          <a:bodyPr wrap="square" rtlCol="0" anchor="ctr"/>
          <a:lstStyle/>
          <a:p>
            <a:pPr marL="0" indent="0">
              <a:buNone/>
            </a:pPr>
            <a:r>
              <a:rPr lang="en-US" sz="1000" b="1" dirty="0">
                <a:solidFill>
                  <a:srgbClr val="1F2937"/>
                </a:solidFill>
                <a:latin typeface="Calibri" pitchFamily="34" charset="0"/>
                <a:ea typeface="Calibri" pitchFamily="34" charset="-122"/>
                <a:cs typeface="Calibri" pitchFamily="34" charset="-120"/>
              </a:rPr>
              <a:t>Maturity Level</a:t>
            </a:r>
            <a:endParaRPr lang="en-US" sz="1000" dirty="0"/>
          </a:p>
        </p:txBody>
      </p:sp>
      <p:sp>
        <p:nvSpPr>
          <p:cNvPr id="40" name="Text 38"/>
          <p:cNvSpPr/>
          <p:nvPr/>
        </p:nvSpPr>
        <p:spPr>
          <a:xfrm>
            <a:off x="5303520" y="1371600"/>
            <a:ext cx="3291840" cy="365760"/>
          </a:xfrm>
          <a:prstGeom prst="rect">
            <a:avLst/>
          </a:prstGeom>
          <a:noFill/>
          <a:ln/>
        </p:spPr>
        <p:txBody>
          <a:bodyPr wrap="square" rtlCol="0" anchor="ctr"/>
          <a:lstStyle/>
          <a:p>
            <a:pPr marL="0" indent="0">
              <a:buNone/>
            </a:pPr>
            <a:r>
              <a:rPr lang="en-US" sz="1000" b="1" dirty="0">
                <a:solidFill>
                  <a:srgbClr val="1F2937"/>
                </a:solidFill>
                <a:latin typeface="Calibri" pitchFamily="34" charset="0"/>
                <a:ea typeface="Calibri" pitchFamily="34" charset="-122"/>
                <a:cs typeface="Calibri" pitchFamily="34" charset="-120"/>
              </a:rPr>
              <a:t>Readiness Index</a:t>
            </a:r>
            <a:endParaRPr lang="en-US" sz="1000" dirty="0"/>
          </a:p>
        </p:txBody>
      </p:sp>
      <p:sp>
        <p:nvSpPr>
          <p:cNvPr id="41" name="Shape 39"/>
          <p:cNvSpPr/>
          <p:nvPr/>
        </p:nvSpPr>
        <p:spPr>
          <a:xfrm>
            <a:off x="457200" y="1783080"/>
            <a:ext cx="8229600" cy="411480"/>
          </a:xfrm>
          <a:prstGeom prst="rect">
            <a:avLst/>
          </a:prstGeom>
          <a:solidFill>
            <a:srgbClr val="FFFFFF"/>
          </a:solidFill>
          <a:ln w="5080">
            <a:solidFill>
              <a:srgbClr val="E5E7EB"/>
            </a:solidFill>
            <a:prstDash val="solid"/>
          </a:ln>
        </p:spPr>
        <p:txBody>
          <a:bodyPr/>
          <a:lstStyle/>
          <a:p>
            <a:endParaRPr lang="en-IN"/>
          </a:p>
        </p:txBody>
      </p:sp>
      <p:sp>
        <p:nvSpPr>
          <p:cNvPr id="42" name="Shape 40"/>
          <p:cNvSpPr/>
          <p:nvPr/>
        </p:nvSpPr>
        <p:spPr>
          <a:xfrm>
            <a:off x="640080" y="1883664"/>
            <a:ext cx="201168" cy="201168"/>
          </a:xfrm>
          <a:prstGeom prst="ellipse">
            <a:avLst/>
          </a:prstGeom>
          <a:solidFill>
            <a:srgbClr val="DC2626"/>
          </a:solidFill>
          <a:ln/>
        </p:spPr>
        <p:txBody>
          <a:bodyPr/>
          <a:lstStyle/>
          <a:p>
            <a:endParaRPr lang="en-IN"/>
          </a:p>
        </p:txBody>
      </p:sp>
      <p:sp>
        <p:nvSpPr>
          <p:cNvPr id="43" name="Text 41"/>
          <p:cNvSpPr/>
          <p:nvPr/>
        </p:nvSpPr>
        <p:spPr>
          <a:xfrm>
            <a:off x="914400" y="1783080"/>
            <a:ext cx="2286000" cy="41148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Utilization</a:t>
            </a:r>
            <a:endParaRPr lang="en-US" sz="1100" dirty="0"/>
          </a:p>
        </p:txBody>
      </p:sp>
      <p:sp>
        <p:nvSpPr>
          <p:cNvPr id="44" name="Shape 42"/>
          <p:cNvSpPr/>
          <p:nvPr/>
        </p:nvSpPr>
        <p:spPr>
          <a:xfrm>
            <a:off x="3291840" y="1856232"/>
            <a:ext cx="1737360" cy="274320"/>
          </a:xfrm>
          <a:prstGeom prst="roundRect">
            <a:avLst>
              <a:gd name="adj" fmla="val 50000"/>
            </a:avLst>
          </a:prstGeom>
          <a:solidFill>
            <a:srgbClr val="DC2626"/>
          </a:solidFill>
          <a:ln/>
        </p:spPr>
        <p:txBody>
          <a:bodyPr/>
          <a:lstStyle/>
          <a:p>
            <a:endParaRPr lang="en-IN"/>
          </a:p>
        </p:txBody>
      </p:sp>
      <p:sp>
        <p:nvSpPr>
          <p:cNvPr id="45" name="Text 43"/>
          <p:cNvSpPr/>
          <p:nvPr/>
        </p:nvSpPr>
        <p:spPr>
          <a:xfrm>
            <a:off x="3291840" y="185623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Needs Improvement</a:t>
            </a:r>
            <a:endParaRPr lang="en-US" sz="900" dirty="0"/>
          </a:p>
        </p:txBody>
      </p:sp>
      <p:sp>
        <p:nvSpPr>
          <p:cNvPr id="46" name="Shape 44"/>
          <p:cNvSpPr/>
          <p:nvPr/>
        </p:nvSpPr>
        <p:spPr>
          <a:xfrm>
            <a:off x="5303520" y="1929384"/>
            <a:ext cx="2743200" cy="146304"/>
          </a:xfrm>
          <a:prstGeom prst="rect">
            <a:avLst/>
          </a:prstGeom>
          <a:solidFill>
            <a:srgbClr val="F1F5F9"/>
          </a:solidFill>
          <a:ln/>
        </p:spPr>
        <p:txBody>
          <a:bodyPr/>
          <a:lstStyle/>
          <a:p>
            <a:endParaRPr lang="en-IN"/>
          </a:p>
        </p:txBody>
      </p:sp>
      <p:sp>
        <p:nvSpPr>
          <p:cNvPr id="47" name="Shape 45"/>
          <p:cNvSpPr/>
          <p:nvPr/>
        </p:nvSpPr>
        <p:spPr>
          <a:xfrm>
            <a:off x="5303520" y="1929384"/>
            <a:ext cx="960120" cy="146304"/>
          </a:xfrm>
          <a:prstGeom prst="rect">
            <a:avLst/>
          </a:prstGeom>
          <a:solidFill>
            <a:srgbClr val="DC2626"/>
          </a:solidFill>
          <a:ln/>
        </p:spPr>
        <p:txBody>
          <a:bodyPr/>
          <a:lstStyle/>
          <a:p>
            <a:endParaRPr lang="en-IN"/>
          </a:p>
        </p:txBody>
      </p:sp>
      <p:sp>
        <p:nvSpPr>
          <p:cNvPr id="48" name="Text 46"/>
          <p:cNvSpPr/>
          <p:nvPr/>
        </p:nvSpPr>
        <p:spPr>
          <a:xfrm>
            <a:off x="8092440" y="1783080"/>
            <a:ext cx="502920" cy="41148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Med</a:t>
            </a:r>
            <a:endParaRPr lang="en-US" sz="1000" dirty="0"/>
          </a:p>
        </p:txBody>
      </p:sp>
      <p:sp>
        <p:nvSpPr>
          <p:cNvPr id="49" name="Shape 47"/>
          <p:cNvSpPr/>
          <p:nvPr/>
        </p:nvSpPr>
        <p:spPr>
          <a:xfrm>
            <a:off x="457200" y="2240280"/>
            <a:ext cx="8229600" cy="411480"/>
          </a:xfrm>
          <a:prstGeom prst="rect">
            <a:avLst/>
          </a:prstGeom>
          <a:solidFill>
            <a:srgbClr val="F8FAFC"/>
          </a:solidFill>
          <a:ln w="5080">
            <a:solidFill>
              <a:srgbClr val="E5E7EB"/>
            </a:solidFill>
            <a:prstDash val="solid"/>
          </a:ln>
        </p:spPr>
        <p:txBody>
          <a:bodyPr/>
          <a:lstStyle/>
          <a:p>
            <a:endParaRPr lang="en-IN"/>
          </a:p>
        </p:txBody>
      </p:sp>
      <p:sp>
        <p:nvSpPr>
          <p:cNvPr id="50" name="Shape 48"/>
          <p:cNvSpPr/>
          <p:nvPr/>
        </p:nvSpPr>
        <p:spPr>
          <a:xfrm>
            <a:off x="640080" y="2340864"/>
            <a:ext cx="201168" cy="201168"/>
          </a:xfrm>
          <a:prstGeom prst="ellipse">
            <a:avLst/>
          </a:prstGeom>
          <a:solidFill>
            <a:srgbClr val="F59E0B"/>
          </a:solidFill>
          <a:ln/>
        </p:spPr>
        <p:txBody>
          <a:bodyPr/>
          <a:lstStyle/>
          <a:p>
            <a:endParaRPr lang="en-IN"/>
          </a:p>
        </p:txBody>
      </p:sp>
      <p:sp>
        <p:nvSpPr>
          <p:cNvPr id="51" name="Text 49"/>
          <p:cNvSpPr/>
          <p:nvPr/>
        </p:nvSpPr>
        <p:spPr>
          <a:xfrm>
            <a:off x="914400" y="2240280"/>
            <a:ext cx="2286000" cy="41148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Delivery Readiness</a:t>
            </a:r>
            <a:endParaRPr lang="en-US" sz="1100" dirty="0"/>
          </a:p>
        </p:txBody>
      </p:sp>
      <p:sp>
        <p:nvSpPr>
          <p:cNvPr id="52" name="Shape 50"/>
          <p:cNvSpPr/>
          <p:nvPr/>
        </p:nvSpPr>
        <p:spPr>
          <a:xfrm>
            <a:off x="3291840" y="2313432"/>
            <a:ext cx="1737360" cy="274320"/>
          </a:xfrm>
          <a:prstGeom prst="roundRect">
            <a:avLst>
              <a:gd name="adj" fmla="val 50000"/>
            </a:avLst>
          </a:prstGeom>
          <a:solidFill>
            <a:srgbClr val="F59E0B"/>
          </a:solidFill>
          <a:ln/>
        </p:spPr>
        <p:txBody>
          <a:bodyPr/>
          <a:lstStyle/>
          <a:p>
            <a:endParaRPr lang="en-IN"/>
          </a:p>
        </p:txBody>
      </p:sp>
      <p:sp>
        <p:nvSpPr>
          <p:cNvPr id="53" name="Text 51"/>
          <p:cNvSpPr/>
          <p:nvPr/>
        </p:nvSpPr>
        <p:spPr>
          <a:xfrm>
            <a:off x="3291840" y="231343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Developing</a:t>
            </a:r>
            <a:endParaRPr lang="en-US" sz="900" dirty="0"/>
          </a:p>
        </p:txBody>
      </p:sp>
      <p:sp>
        <p:nvSpPr>
          <p:cNvPr id="54" name="Shape 52"/>
          <p:cNvSpPr/>
          <p:nvPr/>
        </p:nvSpPr>
        <p:spPr>
          <a:xfrm>
            <a:off x="5303520" y="2386584"/>
            <a:ext cx="2743200" cy="146304"/>
          </a:xfrm>
          <a:prstGeom prst="rect">
            <a:avLst/>
          </a:prstGeom>
          <a:solidFill>
            <a:srgbClr val="F1F5F9"/>
          </a:solidFill>
          <a:ln/>
        </p:spPr>
        <p:txBody>
          <a:bodyPr/>
          <a:lstStyle/>
          <a:p>
            <a:endParaRPr lang="en-IN"/>
          </a:p>
        </p:txBody>
      </p:sp>
      <p:sp>
        <p:nvSpPr>
          <p:cNvPr id="55" name="Shape 53"/>
          <p:cNvSpPr/>
          <p:nvPr/>
        </p:nvSpPr>
        <p:spPr>
          <a:xfrm>
            <a:off x="5303520" y="2386584"/>
            <a:ext cx="1234440" cy="146304"/>
          </a:xfrm>
          <a:prstGeom prst="rect">
            <a:avLst/>
          </a:prstGeom>
          <a:solidFill>
            <a:srgbClr val="F59E0B"/>
          </a:solidFill>
          <a:ln/>
        </p:spPr>
        <p:txBody>
          <a:bodyPr/>
          <a:lstStyle/>
          <a:p>
            <a:endParaRPr lang="en-IN"/>
          </a:p>
        </p:txBody>
      </p:sp>
      <p:sp>
        <p:nvSpPr>
          <p:cNvPr id="56" name="Text 54"/>
          <p:cNvSpPr/>
          <p:nvPr/>
        </p:nvSpPr>
        <p:spPr>
          <a:xfrm>
            <a:off x="8092440" y="2240280"/>
            <a:ext cx="502920" cy="41148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Med</a:t>
            </a:r>
            <a:endParaRPr lang="en-US" sz="1000" dirty="0"/>
          </a:p>
        </p:txBody>
      </p:sp>
      <p:sp>
        <p:nvSpPr>
          <p:cNvPr id="57" name="Shape 55"/>
          <p:cNvSpPr/>
          <p:nvPr/>
        </p:nvSpPr>
        <p:spPr>
          <a:xfrm>
            <a:off x="457200" y="2697480"/>
            <a:ext cx="8229600" cy="411480"/>
          </a:xfrm>
          <a:prstGeom prst="rect">
            <a:avLst/>
          </a:prstGeom>
          <a:solidFill>
            <a:srgbClr val="FFFFFF"/>
          </a:solidFill>
          <a:ln w="5080">
            <a:solidFill>
              <a:srgbClr val="E5E7EB"/>
            </a:solidFill>
            <a:prstDash val="solid"/>
          </a:ln>
        </p:spPr>
        <p:txBody>
          <a:bodyPr/>
          <a:lstStyle/>
          <a:p>
            <a:endParaRPr lang="en-IN"/>
          </a:p>
        </p:txBody>
      </p:sp>
      <p:sp>
        <p:nvSpPr>
          <p:cNvPr id="58" name="Shape 56"/>
          <p:cNvSpPr/>
          <p:nvPr/>
        </p:nvSpPr>
        <p:spPr>
          <a:xfrm>
            <a:off x="640080" y="2798064"/>
            <a:ext cx="201168" cy="201168"/>
          </a:xfrm>
          <a:prstGeom prst="ellipse">
            <a:avLst/>
          </a:prstGeom>
          <a:solidFill>
            <a:srgbClr val="F59E0B"/>
          </a:solidFill>
          <a:ln/>
        </p:spPr>
        <p:txBody>
          <a:bodyPr/>
          <a:lstStyle/>
          <a:p>
            <a:endParaRPr lang="en-IN"/>
          </a:p>
        </p:txBody>
      </p:sp>
      <p:sp>
        <p:nvSpPr>
          <p:cNvPr id="59" name="Text 57"/>
          <p:cNvSpPr/>
          <p:nvPr/>
        </p:nvSpPr>
        <p:spPr>
          <a:xfrm>
            <a:off x="914400" y="2697480"/>
            <a:ext cx="2286000" cy="41148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Certification Readiness</a:t>
            </a:r>
            <a:endParaRPr lang="en-US" sz="1100" dirty="0"/>
          </a:p>
        </p:txBody>
      </p:sp>
      <p:sp>
        <p:nvSpPr>
          <p:cNvPr id="60" name="Shape 58"/>
          <p:cNvSpPr/>
          <p:nvPr/>
        </p:nvSpPr>
        <p:spPr>
          <a:xfrm>
            <a:off x="3291840" y="2770632"/>
            <a:ext cx="1737360" cy="274320"/>
          </a:xfrm>
          <a:prstGeom prst="roundRect">
            <a:avLst>
              <a:gd name="adj" fmla="val 50000"/>
            </a:avLst>
          </a:prstGeom>
          <a:solidFill>
            <a:srgbClr val="F59E0B"/>
          </a:solidFill>
          <a:ln/>
        </p:spPr>
        <p:txBody>
          <a:bodyPr/>
          <a:lstStyle/>
          <a:p>
            <a:endParaRPr lang="en-IN"/>
          </a:p>
        </p:txBody>
      </p:sp>
      <p:sp>
        <p:nvSpPr>
          <p:cNvPr id="61" name="Text 59"/>
          <p:cNvSpPr/>
          <p:nvPr/>
        </p:nvSpPr>
        <p:spPr>
          <a:xfrm>
            <a:off x="3291840" y="277063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Developing</a:t>
            </a:r>
            <a:endParaRPr lang="en-US" sz="900" dirty="0"/>
          </a:p>
        </p:txBody>
      </p:sp>
      <p:sp>
        <p:nvSpPr>
          <p:cNvPr id="62" name="Shape 60"/>
          <p:cNvSpPr/>
          <p:nvPr/>
        </p:nvSpPr>
        <p:spPr>
          <a:xfrm>
            <a:off x="5303520" y="2843784"/>
            <a:ext cx="2743200" cy="146304"/>
          </a:xfrm>
          <a:prstGeom prst="rect">
            <a:avLst/>
          </a:prstGeom>
          <a:solidFill>
            <a:srgbClr val="F1F5F9"/>
          </a:solidFill>
          <a:ln/>
        </p:spPr>
        <p:txBody>
          <a:bodyPr/>
          <a:lstStyle/>
          <a:p>
            <a:endParaRPr lang="en-IN"/>
          </a:p>
        </p:txBody>
      </p:sp>
      <p:sp>
        <p:nvSpPr>
          <p:cNvPr id="63" name="Shape 61"/>
          <p:cNvSpPr/>
          <p:nvPr/>
        </p:nvSpPr>
        <p:spPr>
          <a:xfrm>
            <a:off x="5303520" y="2843784"/>
            <a:ext cx="1371600" cy="146304"/>
          </a:xfrm>
          <a:prstGeom prst="rect">
            <a:avLst/>
          </a:prstGeom>
          <a:solidFill>
            <a:srgbClr val="F59E0B"/>
          </a:solidFill>
          <a:ln/>
        </p:spPr>
        <p:txBody>
          <a:bodyPr/>
          <a:lstStyle/>
          <a:p>
            <a:endParaRPr lang="en-IN"/>
          </a:p>
        </p:txBody>
      </p:sp>
      <p:sp>
        <p:nvSpPr>
          <p:cNvPr id="64" name="Text 62"/>
          <p:cNvSpPr/>
          <p:nvPr/>
        </p:nvSpPr>
        <p:spPr>
          <a:xfrm>
            <a:off x="8092440" y="2697480"/>
            <a:ext cx="502920" cy="41148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Med</a:t>
            </a:r>
            <a:endParaRPr lang="en-US" sz="1000" dirty="0"/>
          </a:p>
        </p:txBody>
      </p:sp>
      <p:sp>
        <p:nvSpPr>
          <p:cNvPr id="65" name="Shape 63"/>
          <p:cNvSpPr/>
          <p:nvPr/>
        </p:nvSpPr>
        <p:spPr>
          <a:xfrm>
            <a:off x="457200" y="3154680"/>
            <a:ext cx="8229600" cy="411480"/>
          </a:xfrm>
          <a:prstGeom prst="rect">
            <a:avLst/>
          </a:prstGeom>
          <a:solidFill>
            <a:srgbClr val="F8FAFC"/>
          </a:solidFill>
          <a:ln w="5080">
            <a:solidFill>
              <a:srgbClr val="E5E7EB"/>
            </a:solidFill>
            <a:prstDash val="solid"/>
          </a:ln>
        </p:spPr>
        <p:txBody>
          <a:bodyPr/>
          <a:lstStyle/>
          <a:p>
            <a:endParaRPr lang="en-IN"/>
          </a:p>
        </p:txBody>
      </p:sp>
      <p:sp>
        <p:nvSpPr>
          <p:cNvPr id="66" name="Shape 64"/>
          <p:cNvSpPr/>
          <p:nvPr/>
        </p:nvSpPr>
        <p:spPr>
          <a:xfrm>
            <a:off x="640080" y="3255264"/>
            <a:ext cx="201168" cy="201168"/>
          </a:xfrm>
          <a:prstGeom prst="ellipse">
            <a:avLst/>
          </a:prstGeom>
          <a:solidFill>
            <a:srgbClr val="DC2626"/>
          </a:solidFill>
          <a:ln/>
        </p:spPr>
        <p:txBody>
          <a:bodyPr/>
          <a:lstStyle/>
          <a:p>
            <a:endParaRPr lang="en-IN"/>
          </a:p>
        </p:txBody>
      </p:sp>
      <p:sp>
        <p:nvSpPr>
          <p:cNvPr id="67" name="Text 65"/>
          <p:cNvSpPr/>
          <p:nvPr/>
        </p:nvSpPr>
        <p:spPr>
          <a:xfrm>
            <a:off x="914400" y="3154680"/>
            <a:ext cx="2286000" cy="41148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Mock Performance</a:t>
            </a:r>
            <a:endParaRPr lang="en-US" sz="1100" dirty="0"/>
          </a:p>
        </p:txBody>
      </p:sp>
      <p:sp>
        <p:nvSpPr>
          <p:cNvPr id="68" name="Shape 66"/>
          <p:cNvSpPr/>
          <p:nvPr/>
        </p:nvSpPr>
        <p:spPr>
          <a:xfrm>
            <a:off x="3291840" y="3227832"/>
            <a:ext cx="1737360" cy="274320"/>
          </a:xfrm>
          <a:prstGeom prst="roundRect">
            <a:avLst>
              <a:gd name="adj" fmla="val 50000"/>
            </a:avLst>
          </a:prstGeom>
          <a:solidFill>
            <a:srgbClr val="DC2626"/>
          </a:solidFill>
          <a:ln/>
        </p:spPr>
        <p:txBody>
          <a:bodyPr/>
          <a:lstStyle/>
          <a:p>
            <a:endParaRPr lang="en-IN"/>
          </a:p>
        </p:txBody>
      </p:sp>
      <p:sp>
        <p:nvSpPr>
          <p:cNvPr id="69" name="Text 67"/>
          <p:cNvSpPr/>
          <p:nvPr/>
        </p:nvSpPr>
        <p:spPr>
          <a:xfrm>
            <a:off x="3291840" y="322783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Needs Improvement</a:t>
            </a:r>
            <a:endParaRPr lang="en-US" sz="900" dirty="0"/>
          </a:p>
        </p:txBody>
      </p:sp>
      <p:sp>
        <p:nvSpPr>
          <p:cNvPr id="70" name="Shape 68"/>
          <p:cNvSpPr/>
          <p:nvPr/>
        </p:nvSpPr>
        <p:spPr>
          <a:xfrm>
            <a:off x="5303520" y="3300984"/>
            <a:ext cx="2743200" cy="146304"/>
          </a:xfrm>
          <a:prstGeom prst="rect">
            <a:avLst/>
          </a:prstGeom>
          <a:solidFill>
            <a:srgbClr val="F1F5F9"/>
          </a:solidFill>
          <a:ln/>
        </p:spPr>
        <p:txBody>
          <a:bodyPr/>
          <a:lstStyle/>
          <a:p>
            <a:endParaRPr lang="en-IN"/>
          </a:p>
        </p:txBody>
      </p:sp>
      <p:sp>
        <p:nvSpPr>
          <p:cNvPr id="71" name="Shape 69"/>
          <p:cNvSpPr/>
          <p:nvPr/>
        </p:nvSpPr>
        <p:spPr>
          <a:xfrm>
            <a:off x="5303520" y="3300984"/>
            <a:ext cx="822960" cy="146304"/>
          </a:xfrm>
          <a:prstGeom prst="rect">
            <a:avLst/>
          </a:prstGeom>
          <a:solidFill>
            <a:srgbClr val="DC2626"/>
          </a:solidFill>
          <a:ln/>
        </p:spPr>
        <p:txBody>
          <a:bodyPr/>
          <a:lstStyle/>
          <a:p>
            <a:endParaRPr lang="en-IN"/>
          </a:p>
        </p:txBody>
      </p:sp>
      <p:sp>
        <p:nvSpPr>
          <p:cNvPr id="72" name="Text 70"/>
          <p:cNvSpPr/>
          <p:nvPr/>
        </p:nvSpPr>
        <p:spPr>
          <a:xfrm>
            <a:off x="8092440" y="3154680"/>
            <a:ext cx="502920" cy="41148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Low</a:t>
            </a:r>
            <a:endParaRPr lang="en-US" sz="1000" dirty="0"/>
          </a:p>
        </p:txBody>
      </p:sp>
      <p:sp>
        <p:nvSpPr>
          <p:cNvPr id="73" name="Shape 71"/>
          <p:cNvSpPr/>
          <p:nvPr/>
        </p:nvSpPr>
        <p:spPr>
          <a:xfrm>
            <a:off x="457200" y="3611880"/>
            <a:ext cx="8229600" cy="411480"/>
          </a:xfrm>
          <a:prstGeom prst="rect">
            <a:avLst/>
          </a:prstGeom>
          <a:solidFill>
            <a:srgbClr val="FFFFFF"/>
          </a:solidFill>
          <a:ln w="5080">
            <a:solidFill>
              <a:srgbClr val="E5E7EB"/>
            </a:solidFill>
            <a:prstDash val="solid"/>
          </a:ln>
        </p:spPr>
        <p:txBody>
          <a:bodyPr/>
          <a:lstStyle/>
          <a:p>
            <a:endParaRPr lang="en-IN"/>
          </a:p>
        </p:txBody>
      </p:sp>
      <p:sp>
        <p:nvSpPr>
          <p:cNvPr id="74" name="Shape 72"/>
          <p:cNvSpPr/>
          <p:nvPr/>
        </p:nvSpPr>
        <p:spPr>
          <a:xfrm>
            <a:off x="640080" y="3712464"/>
            <a:ext cx="201168" cy="201168"/>
          </a:xfrm>
          <a:prstGeom prst="ellipse">
            <a:avLst/>
          </a:prstGeom>
          <a:solidFill>
            <a:srgbClr val="F59E0B"/>
          </a:solidFill>
          <a:ln/>
        </p:spPr>
        <p:txBody>
          <a:bodyPr/>
          <a:lstStyle/>
          <a:p>
            <a:endParaRPr lang="en-IN"/>
          </a:p>
        </p:txBody>
      </p:sp>
      <p:sp>
        <p:nvSpPr>
          <p:cNvPr id="75" name="Text 73"/>
          <p:cNvSpPr/>
          <p:nvPr/>
        </p:nvSpPr>
        <p:spPr>
          <a:xfrm>
            <a:off x="914400" y="3611880"/>
            <a:ext cx="2286000" cy="41148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Technical Preparedness</a:t>
            </a:r>
            <a:endParaRPr lang="en-US" sz="1100" dirty="0"/>
          </a:p>
        </p:txBody>
      </p:sp>
      <p:sp>
        <p:nvSpPr>
          <p:cNvPr id="76" name="Shape 74"/>
          <p:cNvSpPr/>
          <p:nvPr/>
        </p:nvSpPr>
        <p:spPr>
          <a:xfrm>
            <a:off x="3291840" y="3685032"/>
            <a:ext cx="1737360" cy="274320"/>
          </a:xfrm>
          <a:prstGeom prst="roundRect">
            <a:avLst>
              <a:gd name="adj" fmla="val 50000"/>
            </a:avLst>
          </a:prstGeom>
          <a:solidFill>
            <a:srgbClr val="F59E0B"/>
          </a:solidFill>
          <a:ln/>
        </p:spPr>
        <p:txBody>
          <a:bodyPr/>
          <a:lstStyle/>
          <a:p>
            <a:endParaRPr lang="en-IN"/>
          </a:p>
        </p:txBody>
      </p:sp>
      <p:sp>
        <p:nvSpPr>
          <p:cNvPr id="77" name="Text 75"/>
          <p:cNvSpPr/>
          <p:nvPr/>
        </p:nvSpPr>
        <p:spPr>
          <a:xfrm>
            <a:off x="3291840" y="368503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Approaching</a:t>
            </a:r>
            <a:endParaRPr lang="en-US" sz="900" dirty="0"/>
          </a:p>
        </p:txBody>
      </p:sp>
      <p:sp>
        <p:nvSpPr>
          <p:cNvPr id="78" name="Shape 76"/>
          <p:cNvSpPr/>
          <p:nvPr/>
        </p:nvSpPr>
        <p:spPr>
          <a:xfrm>
            <a:off x="5303520" y="3758184"/>
            <a:ext cx="2743200" cy="146304"/>
          </a:xfrm>
          <a:prstGeom prst="rect">
            <a:avLst/>
          </a:prstGeom>
          <a:solidFill>
            <a:srgbClr val="F1F5F9"/>
          </a:solidFill>
          <a:ln/>
        </p:spPr>
        <p:txBody>
          <a:bodyPr/>
          <a:lstStyle/>
          <a:p>
            <a:endParaRPr lang="en-IN"/>
          </a:p>
        </p:txBody>
      </p:sp>
      <p:sp>
        <p:nvSpPr>
          <p:cNvPr id="79" name="Shape 77"/>
          <p:cNvSpPr/>
          <p:nvPr/>
        </p:nvSpPr>
        <p:spPr>
          <a:xfrm>
            <a:off x="5303520" y="3758184"/>
            <a:ext cx="1508760" cy="146304"/>
          </a:xfrm>
          <a:prstGeom prst="rect">
            <a:avLst/>
          </a:prstGeom>
          <a:solidFill>
            <a:srgbClr val="F59E0B"/>
          </a:solidFill>
          <a:ln/>
        </p:spPr>
        <p:txBody>
          <a:bodyPr/>
          <a:lstStyle/>
          <a:p>
            <a:endParaRPr lang="en-IN"/>
          </a:p>
        </p:txBody>
      </p:sp>
      <p:sp>
        <p:nvSpPr>
          <p:cNvPr id="80" name="Text 78"/>
          <p:cNvSpPr/>
          <p:nvPr/>
        </p:nvSpPr>
        <p:spPr>
          <a:xfrm>
            <a:off x="8092440" y="3611880"/>
            <a:ext cx="502920" cy="41148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Med</a:t>
            </a:r>
            <a:endParaRPr lang="en-US" sz="1000" dirty="0"/>
          </a:p>
        </p:txBody>
      </p:sp>
      <p:sp>
        <p:nvSpPr>
          <p:cNvPr id="81" name="Text 79"/>
          <p:cNvSpPr/>
          <p:nvPr/>
        </p:nvSpPr>
        <p:spPr>
          <a:xfrm>
            <a:off x="457200" y="4297680"/>
            <a:ext cx="2286000" cy="274320"/>
          </a:xfrm>
          <a:prstGeom prst="rect">
            <a:avLst/>
          </a:prstGeom>
          <a:noFill/>
          <a:ln/>
        </p:spPr>
        <p:txBody>
          <a:bodyPr wrap="square"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Overall posture</a:t>
            </a:r>
            <a:endParaRPr lang="en-US" sz="1000" dirty="0"/>
          </a:p>
        </p:txBody>
      </p:sp>
      <p:sp>
        <p:nvSpPr>
          <p:cNvPr id="82" name="Text 80"/>
          <p:cNvSpPr/>
          <p:nvPr/>
        </p:nvSpPr>
        <p:spPr>
          <a:xfrm>
            <a:off x="457200" y="4526280"/>
            <a:ext cx="822960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Team is below target on three of five dimensions — corrective plan required this cycle.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a:solidFill>
                  <a:srgbClr val="FFFFFF"/>
                </a:solidFill>
                <a:latin typeface="Calibri" pitchFamily="34" charset="0"/>
                <a:ea typeface="Calibri" pitchFamily="34" charset="-122"/>
                <a:cs typeface="Calibri" pitchFamily="34" charset="-120"/>
              </a:rPr>
              <a:t>04A  TEAM MATURITY GAPS</a:t>
            </a:r>
            <a:endParaRPr lang="en-US" sz="100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a:solidFill>
                  <a:srgbClr val="FFFFFF"/>
                </a:solidFill>
                <a:latin typeface="Calibri" pitchFamily="34" charset="0"/>
                <a:ea typeface="Calibri" pitchFamily="34" charset="-122"/>
                <a:cs typeface="Calibri" pitchFamily="34" charset="-120"/>
              </a:rPr>
              <a:t>JUNE–JULY 2026  •  CONFIDENTIAL</a:t>
            </a:r>
            <a:endParaRPr lang="en-US" sz="90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a:solidFill>
                  <a:srgbClr val="0F172A"/>
                </a:solidFill>
                <a:latin typeface="Calibri" pitchFamily="34" charset="0"/>
                <a:ea typeface="Calibri" pitchFamily="34" charset="-122"/>
                <a:cs typeface="Calibri" pitchFamily="34" charset="-120"/>
              </a:rPr>
              <a:t>Patterns that keep recurring across deliveries, mocks, and business asks</a:t>
            </a:r>
            <a:endParaRPr lang="en-US" sz="220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a:solidFill>
                  <a:srgbClr val="6B7280"/>
                </a:solidFill>
                <a:latin typeface="Calibri" pitchFamily="34" charset="0"/>
                <a:ea typeface="Calibri" pitchFamily="34" charset="-122"/>
                <a:cs typeface="Calibri" pitchFamily="34" charset="-120"/>
              </a:rPr>
              <a:t>Delivery Manager Review</a:t>
            </a:r>
            <a:endParaRPr lang="en-US" sz="90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4 / 13</a:t>
            </a:r>
            <a:endParaRPr lang="en-US" sz="900"/>
          </a:p>
        </p:txBody>
      </p:sp>
      <p:sp>
        <p:nvSpPr>
          <p:cNvPr id="37" name="Shape 35"/>
          <p:cNvSpPr/>
          <p:nvPr/>
        </p:nvSpPr>
        <p:spPr>
          <a:xfrm>
            <a:off x="45720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73152" cy="1371600"/>
          </a:xfrm>
          <a:prstGeom prst="rect">
            <a:avLst/>
          </a:prstGeom>
          <a:solidFill>
            <a:srgbClr val="DC2626"/>
          </a:solidFill>
          <a:ln/>
        </p:spPr>
        <p:txBody>
          <a:bodyPr/>
          <a:lstStyle/>
          <a:p>
            <a:endParaRPr lang="en-IN"/>
          </a:p>
        </p:txBody>
      </p:sp>
      <p:sp>
        <p:nvSpPr>
          <p:cNvPr id="39" name="Shape 37"/>
          <p:cNvSpPr/>
          <p:nvPr/>
        </p:nvSpPr>
        <p:spPr>
          <a:xfrm>
            <a:off x="2377440" y="1554480"/>
            <a:ext cx="640080" cy="256032"/>
          </a:xfrm>
          <a:prstGeom prst="roundRect">
            <a:avLst>
              <a:gd name="adj" fmla="val 50000"/>
            </a:avLst>
          </a:prstGeom>
          <a:solidFill>
            <a:srgbClr val="DC2626"/>
          </a:solidFill>
          <a:ln/>
        </p:spPr>
        <p:txBody>
          <a:bodyPr/>
          <a:lstStyle/>
          <a:p>
            <a:endParaRPr lang="en-IN"/>
          </a:p>
        </p:txBody>
      </p:sp>
      <p:sp>
        <p:nvSpPr>
          <p:cNvPr id="40" name="Text 38"/>
          <p:cNvSpPr/>
          <p:nvPr/>
        </p:nvSpPr>
        <p:spPr>
          <a:xfrm>
            <a:off x="237744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HIGH</a:t>
            </a:r>
            <a:endParaRPr lang="en-US" sz="900"/>
          </a:p>
        </p:txBody>
      </p:sp>
      <p:sp>
        <p:nvSpPr>
          <p:cNvPr id="41" name="Text 39"/>
          <p:cNvSpPr/>
          <p:nvPr/>
        </p:nvSpPr>
        <p:spPr>
          <a:xfrm>
            <a:off x="68580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Delayed Preparation Cycles</a:t>
            </a:r>
            <a:endParaRPr lang="en-US" sz="1300"/>
          </a:p>
        </p:txBody>
      </p:sp>
      <p:sp>
        <p:nvSpPr>
          <p:cNvPr id="42" name="Text 40"/>
          <p:cNvSpPr/>
          <p:nvPr/>
        </p:nvSpPr>
        <p:spPr>
          <a:xfrm>
            <a:off x="68580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Demo-ready states arriving weeks after the customer ask has already landed.</a:t>
            </a:r>
            <a:endParaRPr lang="en-US" sz="1050"/>
          </a:p>
        </p:txBody>
      </p:sp>
      <p:sp>
        <p:nvSpPr>
          <p:cNvPr id="43" name="Shape 41"/>
          <p:cNvSpPr/>
          <p:nvPr/>
        </p:nvSpPr>
        <p:spPr>
          <a:xfrm>
            <a:off x="329184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4" name="Shape 42"/>
          <p:cNvSpPr/>
          <p:nvPr/>
        </p:nvSpPr>
        <p:spPr>
          <a:xfrm>
            <a:off x="3291840" y="1417320"/>
            <a:ext cx="73152" cy="1371600"/>
          </a:xfrm>
          <a:prstGeom prst="rect">
            <a:avLst/>
          </a:prstGeom>
          <a:solidFill>
            <a:srgbClr val="DC2626"/>
          </a:solidFill>
          <a:ln/>
        </p:spPr>
        <p:txBody>
          <a:bodyPr/>
          <a:lstStyle/>
          <a:p>
            <a:endParaRPr lang="en-IN"/>
          </a:p>
        </p:txBody>
      </p:sp>
      <p:sp>
        <p:nvSpPr>
          <p:cNvPr id="45" name="Shape 43"/>
          <p:cNvSpPr/>
          <p:nvPr/>
        </p:nvSpPr>
        <p:spPr>
          <a:xfrm>
            <a:off x="5212080" y="1554480"/>
            <a:ext cx="640080" cy="256032"/>
          </a:xfrm>
          <a:prstGeom prst="roundRect">
            <a:avLst>
              <a:gd name="adj" fmla="val 50000"/>
            </a:avLst>
          </a:prstGeom>
          <a:solidFill>
            <a:srgbClr val="DC2626"/>
          </a:solidFill>
          <a:ln/>
        </p:spPr>
        <p:txBody>
          <a:bodyPr/>
          <a:lstStyle/>
          <a:p>
            <a:endParaRPr lang="en-IN"/>
          </a:p>
        </p:txBody>
      </p:sp>
      <p:sp>
        <p:nvSpPr>
          <p:cNvPr id="46" name="Text 44"/>
          <p:cNvSpPr/>
          <p:nvPr/>
        </p:nvSpPr>
        <p:spPr>
          <a:xfrm>
            <a:off x="521208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HIGH</a:t>
            </a:r>
            <a:endParaRPr lang="en-US" sz="900"/>
          </a:p>
        </p:txBody>
      </p:sp>
      <p:sp>
        <p:nvSpPr>
          <p:cNvPr id="47" name="Text 45"/>
          <p:cNvSpPr/>
          <p:nvPr/>
        </p:nvSpPr>
        <p:spPr>
          <a:xfrm>
            <a:off x="352044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Avoidable Operational Escalations</a:t>
            </a:r>
            <a:endParaRPr lang="en-US" sz="1300"/>
          </a:p>
        </p:txBody>
      </p:sp>
      <p:sp>
        <p:nvSpPr>
          <p:cNvPr id="48" name="Text 46"/>
          <p:cNvSpPr/>
          <p:nvPr/>
        </p:nvSpPr>
        <p:spPr>
          <a:xfrm>
            <a:off x="352044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Issues escalating to leadership instead of being owned and closed within the team.</a:t>
            </a:r>
            <a:endParaRPr lang="en-US" sz="1050"/>
          </a:p>
        </p:txBody>
      </p:sp>
      <p:sp>
        <p:nvSpPr>
          <p:cNvPr id="49" name="Shape 47"/>
          <p:cNvSpPr/>
          <p:nvPr/>
        </p:nvSpPr>
        <p:spPr>
          <a:xfrm>
            <a:off x="612648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0" name="Shape 48"/>
          <p:cNvSpPr/>
          <p:nvPr/>
        </p:nvSpPr>
        <p:spPr>
          <a:xfrm>
            <a:off x="6126480" y="1417320"/>
            <a:ext cx="73152" cy="1371600"/>
          </a:xfrm>
          <a:prstGeom prst="rect">
            <a:avLst/>
          </a:prstGeom>
          <a:solidFill>
            <a:srgbClr val="DC2626"/>
          </a:solidFill>
          <a:ln/>
        </p:spPr>
        <p:txBody>
          <a:bodyPr/>
          <a:lstStyle/>
          <a:p>
            <a:endParaRPr lang="en-IN"/>
          </a:p>
        </p:txBody>
      </p:sp>
      <p:sp>
        <p:nvSpPr>
          <p:cNvPr id="51" name="Shape 49"/>
          <p:cNvSpPr/>
          <p:nvPr/>
        </p:nvSpPr>
        <p:spPr>
          <a:xfrm>
            <a:off x="8046720" y="1554480"/>
            <a:ext cx="640080" cy="256032"/>
          </a:xfrm>
          <a:prstGeom prst="roundRect">
            <a:avLst>
              <a:gd name="adj" fmla="val 50000"/>
            </a:avLst>
          </a:prstGeom>
          <a:solidFill>
            <a:srgbClr val="DC2626"/>
          </a:solidFill>
          <a:ln/>
        </p:spPr>
        <p:txBody>
          <a:bodyPr/>
          <a:lstStyle/>
          <a:p>
            <a:endParaRPr lang="en-IN"/>
          </a:p>
        </p:txBody>
      </p:sp>
      <p:sp>
        <p:nvSpPr>
          <p:cNvPr id="52" name="Text 50"/>
          <p:cNvSpPr/>
          <p:nvPr/>
        </p:nvSpPr>
        <p:spPr>
          <a:xfrm>
            <a:off x="804672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HIGH</a:t>
            </a:r>
            <a:endParaRPr lang="en-US" sz="900"/>
          </a:p>
        </p:txBody>
      </p:sp>
      <p:sp>
        <p:nvSpPr>
          <p:cNvPr id="53" name="Text 51"/>
          <p:cNvSpPr/>
          <p:nvPr/>
        </p:nvSpPr>
        <p:spPr>
          <a:xfrm>
            <a:off x="635508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Emerging Tech Readiness Gaps</a:t>
            </a:r>
            <a:endParaRPr lang="en-US" sz="1300"/>
          </a:p>
        </p:txBody>
      </p:sp>
      <p:sp>
        <p:nvSpPr>
          <p:cNvPr id="54" name="Text 52"/>
          <p:cNvSpPr/>
          <p:nvPr/>
        </p:nvSpPr>
        <p:spPr>
          <a:xfrm>
            <a:off x="635508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Microsoft Fabric, Azure AI Foundry, Agentic AI, and Databricks not yet delivery-ready in depth.</a:t>
            </a:r>
            <a:endParaRPr lang="en-US" sz="1050"/>
          </a:p>
        </p:txBody>
      </p:sp>
      <p:sp>
        <p:nvSpPr>
          <p:cNvPr id="55" name="Shape 53"/>
          <p:cNvSpPr/>
          <p:nvPr/>
        </p:nvSpPr>
        <p:spPr>
          <a:xfrm>
            <a:off x="45720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6" name="Shape 54"/>
          <p:cNvSpPr/>
          <p:nvPr/>
        </p:nvSpPr>
        <p:spPr>
          <a:xfrm>
            <a:off x="457200" y="2971800"/>
            <a:ext cx="73152" cy="1371600"/>
          </a:xfrm>
          <a:prstGeom prst="rect">
            <a:avLst/>
          </a:prstGeom>
          <a:solidFill>
            <a:srgbClr val="DC2626"/>
          </a:solidFill>
          <a:ln/>
        </p:spPr>
        <p:txBody>
          <a:bodyPr/>
          <a:lstStyle/>
          <a:p>
            <a:endParaRPr lang="en-IN"/>
          </a:p>
        </p:txBody>
      </p:sp>
      <p:sp>
        <p:nvSpPr>
          <p:cNvPr id="57" name="Shape 55"/>
          <p:cNvSpPr/>
          <p:nvPr/>
        </p:nvSpPr>
        <p:spPr>
          <a:xfrm>
            <a:off x="2377440" y="3108960"/>
            <a:ext cx="640080" cy="256032"/>
          </a:xfrm>
          <a:prstGeom prst="roundRect">
            <a:avLst>
              <a:gd name="adj" fmla="val 50000"/>
            </a:avLst>
          </a:prstGeom>
          <a:solidFill>
            <a:srgbClr val="DC2626"/>
          </a:solidFill>
          <a:ln/>
        </p:spPr>
        <p:txBody>
          <a:bodyPr/>
          <a:lstStyle/>
          <a:p>
            <a:endParaRPr lang="en-IN"/>
          </a:p>
        </p:txBody>
      </p:sp>
      <p:sp>
        <p:nvSpPr>
          <p:cNvPr id="58" name="Text 56"/>
          <p:cNvSpPr/>
          <p:nvPr/>
        </p:nvSpPr>
        <p:spPr>
          <a:xfrm>
            <a:off x="237744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HIGH</a:t>
            </a:r>
            <a:endParaRPr lang="en-US" sz="900"/>
          </a:p>
        </p:txBody>
      </p:sp>
      <p:sp>
        <p:nvSpPr>
          <p:cNvPr id="59" name="Text 57"/>
          <p:cNvSpPr/>
          <p:nvPr/>
        </p:nvSpPr>
        <p:spPr>
          <a:xfrm>
            <a:off x="68580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Drifting Certification Timelines</a:t>
            </a:r>
            <a:endParaRPr lang="en-US" sz="1300"/>
          </a:p>
        </p:txBody>
      </p:sp>
      <p:sp>
        <p:nvSpPr>
          <p:cNvPr id="60" name="Text 58"/>
          <p:cNvSpPr/>
          <p:nvPr/>
        </p:nvSpPr>
        <p:spPr>
          <a:xfrm>
            <a:off x="68580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Exam dates sliding past committed timelines without a clear recovery plan.</a:t>
            </a:r>
            <a:endParaRPr lang="en-US" sz="1050"/>
          </a:p>
        </p:txBody>
      </p:sp>
      <p:sp>
        <p:nvSpPr>
          <p:cNvPr id="61" name="Shape 59"/>
          <p:cNvSpPr/>
          <p:nvPr/>
        </p:nvSpPr>
        <p:spPr>
          <a:xfrm>
            <a:off x="329184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2" name="Shape 60"/>
          <p:cNvSpPr/>
          <p:nvPr/>
        </p:nvSpPr>
        <p:spPr>
          <a:xfrm>
            <a:off x="3291840" y="2971800"/>
            <a:ext cx="73152" cy="1371600"/>
          </a:xfrm>
          <a:prstGeom prst="rect">
            <a:avLst/>
          </a:prstGeom>
          <a:solidFill>
            <a:srgbClr val="DC2626"/>
          </a:solidFill>
          <a:ln/>
        </p:spPr>
        <p:txBody>
          <a:bodyPr/>
          <a:lstStyle/>
          <a:p>
            <a:endParaRPr lang="en-IN"/>
          </a:p>
        </p:txBody>
      </p:sp>
      <p:sp>
        <p:nvSpPr>
          <p:cNvPr id="63" name="Shape 61"/>
          <p:cNvSpPr/>
          <p:nvPr/>
        </p:nvSpPr>
        <p:spPr>
          <a:xfrm>
            <a:off x="5212080" y="3108960"/>
            <a:ext cx="640080" cy="256032"/>
          </a:xfrm>
          <a:prstGeom prst="roundRect">
            <a:avLst>
              <a:gd name="adj" fmla="val 50000"/>
            </a:avLst>
          </a:prstGeom>
          <a:solidFill>
            <a:srgbClr val="DC2626"/>
          </a:solidFill>
          <a:ln/>
        </p:spPr>
        <p:txBody>
          <a:bodyPr/>
          <a:lstStyle/>
          <a:p>
            <a:endParaRPr lang="en-IN"/>
          </a:p>
        </p:txBody>
      </p:sp>
      <p:sp>
        <p:nvSpPr>
          <p:cNvPr id="64" name="Text 62"/>
          <p:cNvSpPr/>
          <p:nvPr/>
        </p:nvSpPr>
        <p:spPr>
          <a:xfrm>
            <a:off x="521208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HIGH</a:t>
            </a:r>
            <a:endParaRPr lang="en-US" sz="900"/>
          </a:p>
        </p:txBody>
      </p:sp>
      <p:sp>
        <p:nvSpPr>
          <p:cNvPr id="65" name="Text 63"/>
          <p:cNvSpPr/>
          <p:nvPr/>
        </p:nvSpPr>
        <p:spPr>
          <a:xfrm>
            <a:off x="352044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Missed Business Opportunities</a:t>
            </a:r>
            <a:endParaRPr lang="en-US" sz="1300"/>
          </a:p>
        </p:txBody>
      </p:sp>
      <p:sp>
        <p:nvSpPr>
          <p:cNvPr id="66" name="Text 64"/>
          <p:cNvSpPr/>
          <p:nvPr/>
        </p:nvSpPr>
        <p:spPr>
          <a:xfrm>
            <a:off x="352044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Allocations and deals lost because the required skill was not ready at the right time.</a:t>
            </a:r>
            <a:endParaRPr lang="en-US" sz="1050"/>
          </a:p>
        </p:txBody>
      </p:sp>
      <p:sp>
        <p:nvSpPr>
          <p:cNvPr id="67" name="Shape 65"/>
          <p:cNvSpPr/>
          <p:nvPr/>
        </p:nvSpPr>
        <p:spPr>
          <a:xfrm>
            <a:off x="457200" y="4526280"/>
            <a:ext cx="8229600" cy="365760"/>
          </a:xfrm>
          <a:prstGeom prst="rect">
            <a:avLst/>
          </a:prstGeom>
          <a:solidFill>
            <a:srgbClr val="0F172A"/>
          </a:solidFill>
          <a:ln/>
        </p:spPr>
        <p:txBody>
          <a:bodyPr/>
          <a:lstStyle/>
          <a:p>
            <a:endParaRPr lang="en-IN"/>
          </a:p>
        </p:txBody>
      </p:sp>
      <p:sp>
        <p:nvSpPr>
          <p:cNvPr id="68" name="Text 66"/>
          <p:cNvSpPr/>
          <p:nvPr/>
        </p:nvSpPr>
        <p:spPr>
          <a:xfrm>
            <a:off x="457200" y="4526280"/>
            <a:ext cx="8229600" cy="365760"/>
          </a:xfrm>
          <a:prstGeom prst="rect">
            <a:avLst/>
          </a:prstGeom>
          <a:noFill/>
          <a:ln/>
        </p:spPr>
        <p:txBody>
          <a:bodyPr wrap="square" rtlCol="0" anchor="ctr"/>
          <a:lstStyle/>
          <a:p>
            <a:pPr marL="0" indent="0" algn="ctr">
              <a:buNone/>
            </a:pPr>
            <a:r>
              <a:rPr lang="en-US" sz="1200" b="1" i="1">
                <a:solidFill>
                  <a:srgbClr val="FFFFFF"/>
                </a:solidFill>
                <a:latin typeface="Calibri" pitchFamily="34" charset="0"/>
                <a:ea typeface="Calibri" pitchFamily="34" charset="-122"/>
                <a:cs typeface="Calibri" pitchFamily="34" charset="-120"/>
              </a:rPr>
              <a:t>These are not individual issues — they are team maturity issues and must be closed collectively.</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a:solidFill>
                  <a:srgbClr val="FFFFFF"/>
                </a:solidFill>
                <a:latin typeface="Calibri" pitchFamily="34" charset="0"/>
                <a:ea typeface="Calibri" pitchFamily="34" charset="-122"/>
                <a:cs typeface="Calibri" pitchFamily="34" charset="-120"/>
              </a:rPr>
              <a:t>04B  ABHINAV — DELIVERY OWNERSHIP</a:t>
            </a:r>
            <a:endParaRPr lang="en-US" sz="100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a:solidFill>
                  <a:srgbClr val="FFFFFF"/>
                </a:solidFill>
                <a:latin typeface="Calibri" pitchFamily="34" charset="0"/>
                <a:ea typeface="Calibri" pitchFamily="34" charset="-122"/>
                <a:cs typeface="Calibri" pitchFamily="34" charset="-120"/>
              </a:rPr>
              <a:t>JUNE–JULY 2026  •  CONFIDENTIAL</a:t>
            </a:r>
            <a:endParaRPr lang="en-US" sz="90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a:solidFill>
                  <a:srgbClr val="0F172A"/>
                </a:solidFill>
                <a:latin typeface="Calibri" pitchFamily="34" charset="0"/>
                <a:ea typeface="Calibri" pitchFamily="34" charset="-122"/>
                <a:cs typeface="Calibri" pitchFamily="34" charset="-120"/>
              </a:rPr>
              <a:t>Shift from proving the ability to learn to proving the ability to deliver independently</a:t>
            </a:r>
            <a:endParaRPr lang="en-US" sz="220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a:solidFill>
                  <a:srgbClr val="6B7280"/>
                </a:solidFill>
                <a:latin typeface="Calibri" pitchFamily="34" charset="0"/>
                <a:ea typeface="Calibri" pitchFamily="34" charset="-122"/>
                <a:cs typeface="Calibri" pitchFamily="34" charset="-120"/>
              </a:rPr>
              <a:t>Delivery Manager Review</a:t>
            </a:r>
            <a:endParaRPr lang="en-US" sz="90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5 / 13</a:t>
            </a:r>
            <a:endParaRPr lang="en-US" sz="900"/>
          </a:p>
        </p:txBody>
      </p:sp>
      <p:sp>
        <p:nvSpPr>
          <p:cNvPr id="37" name="Shape 35"/>
          <p:cNvSpPr/>
          <p:nvPr/>
        </p:nvSpPr>
        <p:spPr>
          <a:xfrm>
            <a:off x="45720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73152" cy="1371600"/>
          </a:xfrm>
          <a:prstGeom prst="rect">
            <a:avLst/>
          </a:prstGeom>
          <a:solidFill>
            <a:srgbClr val="DC2626"/>
          </a:solidFill>
          <a:ln/>
        </p:spPr>
        <p:txBody>
          <a:bodyPr/>
          <a:lstStyle/>
          <a:p>
            <a:endParaRPr lang="en-IN"/>
          </a:p>
        </p:txBody>
      </p:sp>
      <p:sp>
        <p:nvSpPr>
          <p:cNvPr id="39" name="Shape 37"/>
          <p:cNvSpPr/>
          <p:nvPr/>
        </p:nvSpPr>
        <p:spPr>
          <a:xfrm>
            <a:off x="2377440" y="1554480"/>
            <a:ext cx="640080" cy="256032"/>
          </a:xfrm>
          <a:prstGeom prst="roundRect">
            <a:avLst>
              <a:gd name="adj" fmla="val 50000"/>
            </a:avLst>
          </a:prstGeom>
          <a:solidFill>
            <a:srgbClr val="DC2626"/>
          </a:solidFill>
          <a:ln/>
        </p:spPr>
        <p:txBody>
          <a:bodyPr/>
          <a:lstStyle/>
          <a:p>
            <a:endParaRPr lang="en-IN"/>
          </a:p>
        </p:txBody>
      </p:sp>
      <p:sp>
        <p:nvSpPr>
          <p:cNvPr id="40" name="Text 38"/>
          <p:cNvSpPr/>
          <p:nvPr/>
        </p:nvSpPr>
        <p:spPr>
          <a:xfrm>
            <a:off x="237744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41" name="Text 39"/>
          <p:cNvSpPr/>
          <p:nvPr/>
        </p:nvSpPr>
        <p:spPr>
          <a:xfrm>
            <a:off x="68580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Consistency Over Bursts</a:t>
            </a:r>
            <a:endParaRPr lang="en-US" sz="1300"/>
          </a:p>
        </p:txBody>
      </p:sp>
      <p:sp>
        <p:nvSpPr>
          <p:cNvPr id="42" name="Text 40"/>
          <p:cNvSpPr/>
          <p:nvPr/>
        </p:nvSpPr>
        <p:spPr>
          <a:xfrm>
            <a:off x="68580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Repeatable preparation quality across every assigned technology, not occasional spikes.</a:t>
            </a:r>
            <a:endParaRPr lang="en-US" sz="1050"/>
          </a:p>
        </p:txBody>
      </p:sp>
      <p:sp>
        <p:nvSpPr>
          <p:cNvPr id="43" name="Shape 41"/>
          <p:cNvSpPr/>
          <p:nvPr/>
        </p:nvSpPr>
        <p:spPr>
          <a:xfrm>
            <a:off x="329184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4" name="Shape 42"/>
          <p:cNvSpPr/>
          <p:nvPr/>
        </p:nvSpPr>
        <p:spPr>
          <a:xfrm>
            <a:off x="3291840" y="1417320"/>
            <a:ext cx="73152" cy="1371600"/>
          </a:xfrm>
          <a:prstGeom prst="rect">
            <a:avLst/>
          </a:prstGeom>
          <a:solidFill>
            <a:srgbClr val="DC2626"/>
          </a:solidFill>
          <a:ln/>
        </p:spPr>
        <p:txBody>
          <a:bodyPr/>
          <a:lstStyle/>
          <a:p>
            <a:endParaRPr lang="en-IN"/>
          </a:p>
        </p:txBody>
      </p:sp>
      <p:sp>
        <p:nvSpPr>
          <p:cNvPr id="45" name="Shape 43"/>
          <p:cNvSpPr/>
          <p:nvPr/>
        </p:nvSpPr>
        <p:spPr>
          <a:xfrm>
            <a:off x="5212080" y="1554480"/>
            <a:ext cx="640080" cy="256032"/>
          </a:xfrm>
          <a:prstGeom prst="roundRect">
            <a:avLst>
              <a:gd name="adj" fmla="val 50000"/>
            </a:avLst>
          </a:prstGeom>
          <a:solidFill>
            <a:srgbClr val="DC2626"/>
          </a:solidFill>
          <a:ln/>
        </p:spPr>
        <p:txBody>
          <a:bodyPr/>
          <a:lstStyle/>
          <a:p>
            <a:endParaRPr lang="en-IN"/>
          </a:p>
        </p:txBody>
      </p:sp>
      <p:sp>
        <p:nvSpPr>
          <p:cNvPr id="46" name="Text 44"/>
          <p:cNvSpPr/>
          <p:nvPr/>
        </p:nvSpPr>
        <p:spPr>
          <a:xfrm>
            <a:off x="521208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47" name="Text 45"/>
          <p:cNvSpPr/>
          <p:nvPr/>
        </p:nvSpPr>
        <p:spPr>
          <a:xfrm>
            <a:off x="352044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Independent Delivery Ownership</a:t>
            </a:r>
            <a:endParaRPr lang="en-US" sz="1300"/>
          </a:p>
        </p:txBody>
      </p:sp>
      <p:sp>
        <p:nvSpPr>
          <p:cNvPr id="48" name="Text 46"/>
          <p:cNvSpPr/>
          <p:nvPr/>
        </p:nvSpPr>
        <p:spPr>
          <a:xfrm>
            <a:off x="352044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Run end-to-end engagements without leaning on senior trainers for recovery.</a:t>
            </a:r>
            <a:endParaRPr lang="en-US" sz="1050"/>
          </a:p>
        </p:txBody>
      </p:sp>
      <p:sp>
        <p:nvSpPr>
          <p:cNvPr id="49" name="Shape 47"/>
          <p:cNvSpPr/>
          <p:nvPr/>
        </p:nvSpPr>
        <p:spPr>
          <a:xfrm>
            <a:off x="612648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0" name="Shape 48"/>
          <p:cNvSpPr/>
          <p:nvPr/>
        </p:nvSpPr>
        <p:spPr>
          <a:xfrm>
            <a:off x="6126480" y="1417320"/>
            <a:ext cx="73152" cy="1371600"/>
          </a:xfrm>
          <a:prstGeom prst="rect">
            <a:avLst/>
          </a:prstGeom>
          <a:solidFill>
            <a:srgbClr val="DC2626"/>
          </a:solidFill>
          <a:ln/>
        </p:spPr>
        <p:txBody>
          <a:bodyPr/>
          <a:lstStyle/>
          <a:p>
            <a:endParaRPr lang="en-IN"/>
          </a:p>
        </p:txBody>
      </p:sp>
      <p:sp>
        <p:nvSpPr>
          <p:cNvPr id="51" name="Shape 49"/>
          <p:cNvSpPr/>
          <p:nvPr/>
        </p:nvSpPr>
        <p:spPr>
          <a:xfrm>
            <a:off x="8046720" y="1554480"/>
            <a:ext cx="640080" cy="256032"/>
          </a:xfrm>
          <a:prstGeom prst="roundRect">
            <a:avLst>
              <a:gd name="adj" fmla="val 50000"/>
            </a:avLst>
          </a:prstGeom>
          <a:solidFill>
            <a:srgbClr val="DC2626"/>
          </a:solidFill>
          <a:ln/>
        </p:spPr>
        <p:txBody>
          <a:bodyPr/>
          <a:lstStyle/>
          <a:p>
            <a:endParaRPr lang="en-IN"/>
          </a:p>
        </p:txBody>
      </p:sp>
      <p:sp>
        <p:nvSpPr>
          <p:cNvPr id="52" name="Text 50"/>
          <p:cNvSpPr/>
          <p:nvPr/>
        </p:nvSpPr>
        <p:spPr>
          <a:xfrm>
            <a:off x="804672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53" name="Text 51"/>
          <p:cNvSpPr/>
          <p:nvPr/>
        </p:nvSpPr>
        <p:spPr>
          <a:xfrm>
            <a:off x="635508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Business Contribution</a:t>
            </a:r>
            <a:endParaRPr lang="en-US" sz="1300"/>
          </a:p>
        </p:txBody>
      </p:sp>
      <p:sp>
        <p:nvSpPr>
          <p:cNvPr id="54" name="Text 52"/>
          <p:cNvSpPr/>
          <p:nvPr/>
        </p:nvSpPr>
        <p:spPr>
          <a:xfrm>
            <a:off x="635508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Convert readiness into billable allocations, demo wins, and customer-facing engagements.</a:t>
            </a:r>
            <a:endParaRPr lang="en-US" sz="1050"/>
          </a:p>
        </p:txBody>
      </p:sp>
      <p:sp>
        <p:nvSpPr>
          <p:cNvPr id="55" name="Shape 53"/>
          <p:cNvSpPr/>
          <p:nvPr/>
        </p:nvSpPr>
        <p:spPr>
          <a:xfrm>
            <a:off x="45720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6" name="Shape 54"/>
          <p:cNvSpPr/>
          <p:nvPr/>
        </p:nvSpPr>
        <p:spPr>
          <a:xfrm>
            <a:off x="457200" y="2971800"/>
            <a:ext cx="73152" cy="1371600"/>
          </a:xfrm>
          <a:prstGeom prst="rect">
            <a:avLst/>
          </a:prstGeom>
          <a:solidFill>
            <a:srgbClr val="DC2626"/>
          </a:solidFill>
          <a:ln/>
        </p:spPr>
        <p:txBody>
          <a:bodyPr/>
          <a:lstStyle/>
          <a:p>
            <a:endParaRPr lang="en-IN"/>
          </a:p>
        </p:txBody>
      </p:sp>
      <p:sp>
        <p:nvSpPr>
          <p:cNvPr id="57" name="Shape 55"/>
          <p:cNvSpPr/>
          <p:nvPr/>
        </p:nvSpPr>
        <p:spPr>
          <a:xfrm>
            <a:off x="2377440" y="3108960"/>
            <a:ext cx="640080" cy="256032"/>
          </a:xfrm>
          <a:prstGeom prst="roundRect">
            <a:avLst>
              <a:gd name="adj" fmla="val 50000"/>
            </a:avLst>
          </a:prstGeom>
          <a:solidFill>
            <a:srgbClr val="DC2626"/>
          </a:solidFill>
          <a:ln/>
        </p:spPr>
        <p:txBody>
          <a:bodyPr/>
          <a:lstStyle/>
          <a:p>
            <a:endParaRPr lang="en-IN"/>
          </a:p>
        </p:txBody>
      </p:sp>
      <p:sp>
        <p:nvSpPr>
          <p:cNvPr id="58" name="Text 56"/>
          <p:cNvSpPr/>
          <p:nvPr/>
        </p:nvSpPr>
        <p:spPr>
          <a:xfrm>
            <a:off x="237744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59" name="Text 57"/>
          <p:cNvSpPr/>
          <p:nvPr/>
        </p:nvSpPr>
        <p:spPr>
          <a:xfrm>
            <a:off x="68580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Confident Concept Articulation</a:t>
            </a:r>
            <a:endParaRPr lang="en-US" sz="1300"/>
          </a:p>
        </p:txBody>
      </p:sp>
      <p:sp>
        <p:nvSpPr>
          <p:cNvPr id="60" name="Text 58"/>
          <p:cNvSpPr/>
          <p:nvPr/>
        </p:nvSpPr>
        <p:spPr>
          <a:xfrm>
            <a:off x="68580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Explain architecture and business value under customer questioning, not just lab steps.</a:t>
            </a:r>
            <a:endParaRPr lang="en-US" sz="1050"/>
          </a:p>
        </p:txBody>
      </p:sp>
      <p:sp>
        <p:nvSpPr>
          <p:cNvPr id="61" name="Shape 59"/>
          <p:cNvSpPr/>
          <p:nvPr/>
        </p:nvSpPr>
        <p:spPr>
          <a:xfrm>
            <a:off x="329184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2" name="Shape 60"/>
          <p:cNvSpPr/>
          <p:nvPr/>
        </p:nvSpPr>
        <p:spPr>
          <a:xfrm>
            <a:off x="3291840" y="2971800"/>
            <a:ext cx="73152" cy="1371600"/>
          </a:xfrm>
          <a:prstGeom prst="rect">
            <a:avLst/>
          </a:prstGeom>
          <a:solidFill>
            <a:srgbClr val="DC2626"/>
          </a:solidFill>
          <a:ln/>
        </p:spPr>
        <p:txBody>
          <a:bodyPr/>
          <a:lstStyle/>
          <a:p>
            <a:endParaRPr lang="en-IN"/>
          </a:p>
        </p:txBody>
      </p:sp>
      <p:sp>
        <p:nvSpPr>
          <p:cNvPr id="63" name="Shape 61"/>
          <p:cNvSpPr/>
          <p:nvPr/>
        </p:nvSpPr>
        <p:spPr>
          <a:xfrm>
            <a:off x="5212080" y="3108960"/>
            <a:ext cx="640080" cy="256032"/>
          </a:xfrm>
          <a:prstGeom prst="roundRect">
            <a:avLst>
              <a:gd name="adj" fmla="val 50000"/>
            </a:avLst>
          </a:prstGeom>
          <a:solidFill>
            <a:srgbClr val="DC2626"/>
          </a:solidFill>
          <a:ln/>
        </p:spPr>
        <p:txBody>
          <a:bodyPr/>
          <a:lstStyle/>
          <a:p>
            <a:endParaRPr lang="en-IN"/>
          </a:p>
        </p:txBody>
      </p:sp>
      <p:sp>
        <p:nvSpPr>
          <p:cNvPr id="64" name="Text 62"/>
          <p:cNvSpPr/>
          <p:nvPr/>
        </p:nvSpPr>
        <p:spPr>
          <a:xfrm>
            <a:off x="521208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65" name="Text 63"/>
          <p:cNvSpPr/>
          <p:nvPr/>
        </p:nvSpPr>
        <p:spPr>
          <a:xfrm>
            <a:off x="352044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Operational Discipline</a:t>
            </a:r>
            <a:endParaRPr lang="en-US" sz="1300"/>
          </a:p>
        </p:txBody>
      </p:sp>
      <p:sp>
        <p:nvSpPr>
          <p:cNvPr id="66" name="Text 64"/>
          <p:cNvSpPr/>
          <p:nvPr/>
        </p:nvSpPr>
        <p:spPr>
          <a:xfrm>
            <a:off x="352044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Stay ahead of preparation cycles — no last-minute scrambles, no avoidable escalations.</a:t>
            </a:r>
            <a:endParaRPr lang="en-US" sz="1050"/>
          </a:p>
        </p:txBody>
      </p:sp>
      <p:sp>
        <p:nvSpPr>
          <p:cNvPr id="67" name="Shape 65"/>
          <p:cNvSpPr/>
          <p:nvPr/>
        </p:nvSpPr>
        <p:spPr>
          <a:xfrm>
            <a:off x="457200" y="4526280"/>
            <a:ext cx="8229600" cy="365760"/>
          </a:xfrm>
          <a:prstGeom prst="rect">
            <a:avLst/>
          </a:prstGeom>
          <a:solidFill>
            <a:srgbClr val="0F172A"/>
          </a:solidFill>
          <a:ln/>
        </p:spPr>
        <p:txBody>
          <a:bodyPr/>
          <a:lstStyle/>
          <a:p>
            <a:endParaRPr lang="en-IN"/>
          </a:p>
        </p:txBody>
      </p:sp>
      <p:sp>
        <p:nvSpPr>
          <p:cNvPr id="68" name="Text 66"/>
          <p:cNvSpPr/>
          <p:nvPr/>
        </p:nvSpPr>
        <p:spPr>
          <a:xfrm>
            <a:off x="457200" y="4526280"/>
            <a:ext cx="8229600" cy="365760"/>
          </a:xfrm>
          <a:prstGeom prst="rect">
            <a:avLst/>
          </a:prstGeom>
          <a:noFill/>
          <a:ln/>
        </p:spPr>
        <p:txBody>
          <a:bodyPr wrap="square" rtlCol="0" anchor="ctr"/>
          <a:lstStyle/>
          <a:p>
            <a:pPr marL="0" indent="0" algn="ctr">
              <a:buNone/>
            </a:pPr>
            <a:r>
              <a:rPr lang="en-US" sz="1200" b="1" i="1">
                <a:solidFill>
                  <a:srgbClr val="FFFFFF"/>
                </a:solidFill>
                <a:latin typeface="Calibri" pitchFamily="34" charset="0"/>
                <a:ea typeface="Calibri" pitchFamily="34" charset="-122"/>
                <a:cs typeface="Calibri" pitchFamily="34" charset="-120"/>
              </a:rPr>
              <a:t>Foundation is stronger than a few months ago — the next stage is consistency and ownership.</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a:solidFill>
                  <a:srgbClr val="FFFFFF"/>
                </a:solidFill>
                <a:latin typeface="Calibri" pitchFamily="34" charset="0"/>
                <a:ea typeface="Calibri" pitchFamily="34" charset="-122"/>
                <a:cs typeface="Calibri" pitchFamily="34" charset="-120"/>
              </a:rPr>
              <a:t>04C  NIHARIKA — TECHNICAL DEPTH</a:t>
            </a:r>
            <a:endParaRPr lang="en-US" sz="100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a:solidFill>
                  <a:srgbClr val="FFFFFF"/>
                </a:solidFill>
                <a:latin typeface="Calibri" pitchFamily="34" charset="0"/>
                <a:ea typeface="Calibri" pitchFamily="34" charset="-122"/>
                <a:cs typeface="Calibri" pitchFamily="34" charset="-120"/>
              </a:rPr>
              <a:t>JUNE–JULY 2026  •  CONFIDENTIAL</a:t>
            </a:r>
            <a:endParaRPr lang="en-US" sz="90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a:solidFill>
                  <a:srgbClr val="0F172A"/>
                </a:solidFill>
                <a:latin typeface="Calibri" pitchFamily="34" charset="0"/>
                <a:ea typeface="Calibri" pitchFamily="34" charset="-122"/>
                <a:cs typeface="Calibri" pitchFamily="34" charset="-120"/>
              </a:rPr>
              <a:t>Confidence is in place — back it with accurate, demonstrable technical depth</a:t>
            </a:r>
            <a:endParaRPr lang="en-US" sz="220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a:solidFill>
                  <a:srgbClr val="6B7280"/>
                </a:solidFill>
                <a:latin typeface="Calibri" pitchFamily="34" charset="0"/>
                <a:ea typeface="Calibri" pitchFamily="34" charset="-122"/>
                <a:cs typeface="Calibri" pitchFamily="34" charset="-120"/>
              </a:rPr>
              <a:t>Delivery Manager Review</a:t>
            </a:r>
            <a:endParaRPr lang="en-US" sz="90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a:solidFill>
                  <a:srgbClr val="6B7280"/>
                </a:solidFill>
                <a:latin typeface="Calibri" pitchFamily="34" charset="0"/>
                <a:ea typeface="Calibri" pitchFamily="34" charset="-122"/>
                <a:cs typeface="Calibri" pitchFamily="34" charset="-120"/>
              </a:rPr>
              <a:t>6 / 13</a:t>
            </a:r>
            <a:endParaRPr lang="en-US" sz="900"/>
          </a:p>
        </p:txBody>
      </p:sp>
      <p:sp>
        <p:nvSpPr>
          <p:cNvPr id="37" name="Shape 35"/>
          <p:cNvSpPr/>
          <p:nvPr/>
        </p:nvSpPr>
        <p:spPr>
          <a:xfrm>
            <a:off x="45720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73152" cy="1371600"/>
          </a:xfrm>
          <a:prstGeom prst="rect">
            <a:avLst/>
          </a:prstGeom>
          <a:solidFill>
            <a:srgbClr val="DC2626"/>
          </a:solidFill>
          <a:ln/>
        </p:spPr>
        <p:txBody>
          <a:bodyPr/>
          <a:lstStyle/>
          <a:p>
            <a:endParaRPr lang="en-IN"/>
          </a:p>
        </p:txBody>
      </p:sp>
      <p:sp>
        <p:nvSpPr>
          <p:cNvPr id="39" name="Shape 37"/>
          <p:cNvSpPr/>
          <p:nvPr/>
        </p:nvSpPr>
        <p:spPr>
          <a:xfrm>
            <a:off x="2377440" y="1554480"/>
            <a:ext cx="640080" cy="256032"/>
          </a:xfrm>
          <a:prstGeom prst="roundRect">
            <a:avLst>
              <a:gd name="adj" fmla="val 50000"/>
            </a:avLst>
          </a:prstGeom>
          <a:solidFill>
            <a:srgbClr val="DC2626"/>
          </a:solidFill>
          <a:ln/>
        </p:spPr>
        <p:txBody>
          <a:bodyPr/>
          <a:lstStyle/>
          <a:p>
            <a:endParaRPr lang="en-IN"/>
          </a:p>
        </p:txBody>
      </p:sp>
      <p:sp>
        <p:nvSpPr>
          <p:cNvPr id="40" name="Text 38"/>
          <p:cNvSpPr/>
          <p:nvPr/>
        </p:nvSpPr>
        <p:spPr>
          <a:xfrm>
            <a:off x="237744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41" name="Text 39"/>
          <p:cNvSpPr/>
          <p:nvPr/>
        </p:nvSpPr>
        <p:spPr>
          <a:xfrm>
            <a:off x="68580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Concept Accuracy</a:t>
            </a:r>
            <a:endParaRPr lang="en-US" sz="1300"/>
          </a:p>
        </p:txBody>
      </p:sp>
      <p:sp>
        <p:nvSpPr>
          <p:cNvPr id="42" name="Text 40"/>
          <p:cNvSpPr/>
          <p:nvPr/>
        </p:nvSpPr>
        <p:spPr>
          <a:xfrm>
            <a:off x="68580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Eliminate factual gaps — explanations must match the underlying technology, not approximate it.</a:t>
            </a:r>
            <a:endParaRPr lang="en-US" sz="1050"/>
          </a:p>
        </p:txBody>
      </p:sp>
      <p:sp>
        <p:nvSpPr>
          <p:cNvPr id="43" name="Shape 41"/>
          <p:cNvSpPr/>
          <p:nvPr/>
        </p:nvSpPr>
        <p:spPr>
          <a:xfrm>
            <a:off x="329184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4" name="Shape 42"/>
          <p:cNvSpPr/>
          <p:nvPr/>
        </p:nvSpPr>
        <p:spPr>
          <a:xfrm>
            <a:off x="3291840" y="1417320"/>
            <a:ext cx="73152" cy="1371600"/>
          </a:xfrm>
          <a:prstGeom prst="rect">
            <a:avLst/>
          </a:prstGeom>
          <a:solidFill>
            <a:srgbClr val="DC2626"/>
          </a:solidFill>
          <a:ln/>
        </p:spPr>
        <p:txBody>
          <a:bodyPr/>
          <a:lstStyle/>
          <a:p>
            <a:endParaRPr lang="en-IN"/>
          </a:p>
        </p:txBody>
      </p:sp>
      <p:sp>
        <p:nvSpPr>
          <p:cNvPr id="45" name="Shape 43"/>
          <p:cNvSpPr/>
          <p:nvPr/>
        </p:nvSpPr>
        <p:spPr>
          <a:xfrm>
            <a:off x="5212080" y="1554480"/>
            <a:ext cx="640080" cy="256032"/>
          </a:xfrm>
          <a:prstGeom prst="roundRect">
            <a:avLst>
              <a:gd name="adj" fmla="val 50000"/>
            </a:avLst>
          </a:prstGeom>
          <a:solidFill>
            <a:srgbClr val="DC2626"/>
          </a:solidFill>
          <a:ln/>
        </p:spPr>
        <p:txBody>
          <a:bodyPr/>
          <a:lstStyle/>
          <a:p>
            <a:endParaRPr lang="en-IN"/>
          </a:p>
        </p:txBody>
      </p:sp>
      <p:sp>
        <p:nvSpPr>
          <p:cNvPr id="46" name="Text 44"/>
          <p:cNvSpPr/>
          <p:nvPr/>
        </p:nvSpPr>
        <p:spPr>
          <a:xfrm>
            <a:off x="521208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47" name="Text 45"/>
          <p:cNvSpPr/>
          <p:nvPr/>
        </p:nvSpPr>
        <p:spPr>
          <a:xfrm>
            <a:off x="352044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Hands-On Demonstrations</a:t>
            </a:r>
            <a:endParaRPr lang="en-US" sz="1300"/>
          </a:p>
        </p:txBody>
      </p:sp>
      <p:sp>
        <p:nvSpPr>
          <p:cNvPr id="48" name="Text 46"/>
          <p:cNvSpPr/>
          <p:nvPr/>
        </p:nvSpPr>
        <p:spPr>
          <a:xfrm>
            <a:off x="352044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Run labs independently and recover cleanly when the environment misbehaves.</a:t>
            </a:r>
            <a:endParaRPr lang="en-US" sz="1050"/>
          </a:p>
        </p:txBody>
      </p:sp>
      <p:sp>
        <p:nvSpPr>
          <p:cNvPr id="49" name="Shape 47"/>
          <p:cNvSpPr/>
          <p:nvPr/>
        </p:nvSpPr>
        <p:spPr>
          <a:xfrm>
            <a:off x="612648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0" name="Shape 48"/>
          <p:cNvSpPr/>
          <p:nvPr/>
        </p:nvSpPr>
        <p:spPr>
          <a:xfrm>
            <a:off x="6126480" y="1417320"/>
            <a:ext cx="73152" cy="1371600"/>
          </a:xfrm>
          <a:prstGeom prst="rect">
            <a:avLst/>
          </a:prstGeom>
          <a:solidFill>
            <a:srgbClr val="DC2626"/>
          </a:solidFill>
          <a:ln/>
        </p:spPr>
        <p:txBody>
          <a:bodyPr/>
          <a:lstStyle/>
          <a:p>
            <a:endParaRPr lang="en-IN"/>
          </a:p>
        </p:txBody>
      </p:sp>
      <p:sp>
        <p:nvSpPr>
          <p:cNvPr id="51" name="Shape 49"/>
          <p:cNvSpPr/>
          <p:nvPr/>
        </p:nvSpPr>
        <p:spPr>
          <a:xfrm>
            <a:off x="8046720" y="1554480"/>
            <a:ext cx="640080" cy="256032"/>
          </a:xfrm>
          <a:prstGeom prst="roundRect">
            <a:avLst>
              <a:gd name="adj" fmla="val 50000"/>
            </a:avLst>
          </a:prstGeom>
          <a:solidFill>
            <a:srgbClr val="DC2626"/>
          </a:solidFill>
          <a:ln/>
        </p:spPr>
        <p:txBody>
          <a:bodyPr/>
          <a:lstStyle/>
          <a:p>
            <a:endParaRPr lang="en-IN"/>
          </a:p>
        </p:txBody>
      </p:sp>
      <p:sp>
        <p:nvSpPr>
          <p:cNvPr id="52" name="Text 50"/>
          <p:cNvSpPr/>
          <p:nvPr/>
        </p:nvSpPr>
        <p:spPr>
          <a:xfrm>
            <a:off x="8046720" y="155448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53" name="Text 51"/>
          <p:cNvSpPr/>
          <p:nvPr/>
        </p:nvSpPr>
        <p:spPr>
          <a:xfrm>
            <a:off x="6355080" y="152704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Deeper Learner Q&amp;A</a:t>
            </a:r>
            <a:endParaRPr lang="en-US" sz="1300"/>
          </a:p>
        </p:txBody>
      </p:sp>
      <p:sp>
        <p:nvSpPr>
          <p:cNvPr id="54" name="Text 52"/>
          <p:cNvSpPr/>
          <p:nvPr/>
        </p:nvSpPr>
        <p:spPr>
          <a:xfrm>
            <a:off x="6355080" y="192024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Handle probing questions from senior learners and customers without losing control of the room.</a:t>
            </a:r>
            <a:endParaRPr lang="en-US" sz="1050"/>
          </a:p>
        </p:txBody>
      </p:sp>
      <p:sp>
        <p:nvSpPr>
          <p:cNvPr id="55" name="Shape 53"/>
          <p:cNvSpPr/>
          <p:nvPr/>
        </p:nvSpPr>
        <p:spPr>
          <a:xfrm>
            <a:off x="45720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6" name="Shape 54"/>
          <p:cNvSpPr/>
          <p:nvPr/>
        </p:nvSpPr>
        <p:spPr>
          <a:xfrm>
            <a:off x="457200" y="2971800"/>
            <a:ext cx="73152" cy="1371600"/>
          </a:xfrm>
          <a:prstGeom prst="rect">
            <a:avLst/>
          </a:prstGeom>
          <a:solidFill>
            <a:srgbClr val="DC2626"/>
          </a:solidFill>
          <a:ln/>
        </p:spPr>
        <p:txBody>
          <a:bodyPr/>
          <a:lstStyle/>
          <a:p>
            <a:endParaRPr lang="en-IN"/>
          </a:p>
        </p:txBody>
      </p:sp>
      <p:sp>
        <p:nvSpPr>
          <p:cNvPr id="57" name="Shape 55"/>
          <p:cNvSpPr/>
          <p:nvPr/>
        </p:nvSpPr>
        <p:spPr>
          <a:xfrm>
            <a:off x="2377440" y="3108960"/>
            <a:ext cx="640080" cy="256032"/>
          </a:xfrm>
          <a:prstGeom prst="roundRect">
            <a:avLst>
              <a:gd name="adj" fmla="val 50000"/>
            </a:avLst>
          </a:prstGeom>
          <a:solidFill>
            <a:srgbClr val="DC2626"/>
          </a:solidFill>
          <a:ln/>
        </p:spPr>
        <p:txBody>
          <a:bodyPr/>
          <a:lstStyle/>
          <a:p>
            <a:endParaRPr lang="en-IN"/>
          </a:p>
        </p:txBody>
      </p:sp>
      <p:sp>
        <p:nvSpPr>
          <p:cNvPr id="58" name="Text 56"/>
          <p:cNvSpPr/>
          <p:nvPr/>
        </p:nvSpPr>
        <p:spPr>
          <a:xfrm>
            <a:off x="237744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59" name="Text 57"/>
          <p:cNvSpPr/>
          <p:nvPr/>
        </p:nvSpPr>
        <p:spPr>
          <a:xfrm>
            <a:off x="68580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Architecture Fluency</a:t>
            </a:r>
            <a:endParaRPr lang="en-US" sz="1300"/>
          </a:p>
        </p:txBody>
      </p:sp>
      <p:sp>
        <p:nvSpPr>
          <p:cNvPr id="60" name="Text 58"/>
          <p:cNvSpPr/>
          <p:nvPr/>
        </p:nvSpPr>
        <p:spPr>
          <a:xfrm>
            <a:off x="68580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Discuss design choices and trade-offs, not just feature walkthroughs and screen tours.</a:t>
            </a:r>
            <a:endParaRPr lang="en-US" sz="1050"/>
          </a:p>
        </p:txBody>
      </p:sp>
      <p:sp>
        <p:nvSpPr>
          <p:cNvPr id="61" name="Shape 59"/>
          <p:cNvSpPr/>
          <p:nvPr/>
        </p:nvSpPr>
        <p:spPr>
          <a:xfrm>
            <a:off x="329184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2" name="Shape 60"/>
          <p:cNvSpPr/>
          <p:nvPr/>
        </p:nvSpPr>
        <p:spPr>
          <a:xfrm>
            <a:off x="3291840" y="2971800"/>
            <a:ext cx="73152" cy="1371600"/>
          </a:xfrm>
          <a:prstGeom prst="rect">
            <a:avLst/>
          </a:prstGeom>
          <a:solidFill>
            <a:srgbClr val="DC2626"/>
          </a:solidFill>
          <a:ln/>
        </p:spPr>
        <p:txBody>
          <a:bodyPr/>
          <a:lstStyle/>
          <a:p>
            <a:endParaRPr lang="en-IN"/>
          </a:p>
        </p:txBody>
      </p:sp>
      <p:sp>
        <p:nvSpPr>
          <p:cNvPr id="63" name="Shape 61"/>
          <p:cNvSpPr/>
          <p:nvPr/>
        </p:nvSpPr>
        <p:spPr>
          <a:xfrm>
            <a:off x="5212080" y="3108960"/>
            <a:ext cx="640080" cy="256032"/>
          </a:xfrm>
          <a:prstGeom prst="roundRect">
            <a:avLst>
              <a:gd name="adj" fmla="val 50000"/>
            </a:avLst>
          </a:prstGeom>
          <a:solidFill>
            <a:srgbClr val="DC2626"/>
          </a:solidFill>
          <a:ln/>
        </p:spPr>
        <p:txBody>
          <a:bodyPr/>
          <a:lstStyle/>
          <a:p>
            <a:endParaRPr lang="en-IN"/>
          </a:p>
        </p:txBody>
      </p:sp>
      <p:sp>
        <p:nvSpPr>
          <p:cNvPr id="64" name="Text 62"/>
          <p:cNvSpPr/>
          <p:nvPr/>
        </p:nvSpPr>
        <p:spPr>
          <a:xfrm>
            <a:off x="5212080" y="3108960"/>
            <a:ext cx="640080"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FOCUS</a:t>
            </a:r>
            <a:endParaRPr lang="en-US" sz="900"/>
          </a:p>
        </p:txBody>
      </p:sp>
      <p:sp>
        <p:nvSpPr>
          <p:cNvPr id="65" name="Text 63"/>
          <p:cNvSpPr/>
          <p:nvPr/>
        </p:nvSpPr>
        <p:spPr>
          <a:xfrm>
            <a:off x="3520440" y="3081528"/>
            <a:ext cx="1645920" cy="36576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Mock Outcome Conversion</a:t>
            </a:r>
            <a:endParaRPr lang="en-US" sz="1300"/>
          </a:p>
        </p:txBody>
      </p:sp>
      <p:sp>
        <p:nvSpPr>
          <p:cNvPr id="66" name="Text 64"/>
          <p:cNvSpPr/>
          <p:nvPr/>
        </p:nvSpPr>
        <p:spPr>
          <a:xfrm>
            <a:off x="3520440" y="3474720"/>
            <a:ext cx="2331720" cy="822960"/>
          </a:xfrm>
          <a:prstGeom prst="rect">
            <a:avLst/>
          </a:prstGeom>
          <a:noFill/>
          <a:ln/>
        </p:spPr>
        <p:txBody>
          <a:bodyPr wrap="square" rtlCol="0" anchor="ctr"/>
          <a:lstStyle/>
          <a:p>
            <a:pPr marL="0" indent="0">
              <a:buNone/>
            </a:pPr>
            <a:r>
              <a:rPr lang="en-US" sz="1050">
                <a:solidFill>
                  <a:srgbClr val="374151"/>
                </a:solidFill>
                <a:latin typeface="Calibri" pitchFamily="34" charset="0"/>
                <a:ea typeface="Calibri" pitchFamily="34" charset="-122"/>
                <a:cs typeface="Calibri" pitchFamily="34" charset="-120"/>
              </a:rPr>
              <a:t>Move from passing mocks to confidently clearing them on first attempt and translating that into delivery.</a:t>
            </a:r>
            <a:endParaRPr lang="en-US" sz="1050"/>
          </a:p>
        </p:txBody>
      </p:sp>
      <p:sp>
        <p:nvSpPr>
          <p:cNvPr id="67" name="Shape 65"/>
          <p:cNvSpPr/>
          <p:nvPr/>
        </p:nvSpPr>
        <p:spPr>
          <a:xfrm>
            <a:off x="457200" y="4526280"/>
            <a:ext cx="8229600" cy="365760"/>
          </a:xfrm>
          <a:prstGeom prst="rect">
            <a:avLst/>
          </a:prstGeom>
          <a:solidFill>
            <a:srgbClr val="0F172A"/>
          </a:solidFill>
          <a:ln/>
        </p:spPr>
        <p:txBody>
          <a:bodyPr/>
          <a:lstStyle/>
          <a:p>
            <a:endParaRPr lang="en-IN"/>
          </a:p>
        </p:txBody>
      </p:sp>
      <p:sp>
        <p:nvSpPr>
          <p:cNvPr id="68" name="Text 66"/>
          <p:cNvSpPr/>
          <p:nvPr/>
        </p:nvSpPr>
        <p:spPr>
          <a:xfrm>
            <a:off x="457200" y="4526280"/>
            <a:ext cx="8229600" cy="365760"/>
          </a:xfrm>
          <a:prstGeom prst="rect">
            <a:avLst/>
          </a:prstGeom>
          <a:noFill/>
          <a:ln/>
        </p:spPr>
        <p:txBody>
          <a:bodyPr wrap="square" rtlCol="0" anchor="ctr"/>
          <a:lstStyle/>
          <a:p>
            <a:pPr marL="0" indent="0" algn="ctr">
              <a:buNone/>
            </a:pPr>
            <a:r>
              <a:rPr lang="en-US" sz="1200" b="1" i="1">
                <a:solidFill>
                  <a:srgbClr val="FFFFFF"/>
                </a:solidFill>
                <a:latin typeface="Calibri" pitchFamily="34" charset="0"/>
                <a:ea typeface="Calibri" pitchFamily="34" charset="-122"/>
                <a:cs typeface="Calibri" pitchFamily="34" charset="-120"/>
              </a:rPr>
              <a:t>Confidence is the starting point — depth is what makes it credible in front of customers.</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03  BUSINESS EXPECTATIONS</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How readiness translates into business outcomes</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10</a:t>
            </a:r>
            <a:endParaRPr lang="en-US" sz="900" dirty="0"/>
          </a:p>
        </p:txBody>
      </p:sp>
      <p:sp>
        <p:nvSpPr>
          <p:cNvPr id="37" name="Shape 35"/>
          <p:cNvSpPr/>
          <p:nvPr/>
        </p:nvSpPr>
        <p:spPr>
          <a:xfrm>
            <a:off x="457200" y="1417320"/>
            <a:ext cx="1463040" cy="27432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1463040" cy="502920"/>
          </a:xfrm>
          <a:prstGeom prst="rect">
            <a:avLst/>
          </a:prstGeom>
          <a:solidFill>
            <a:srgbClr val="1E3A8A"/>
          </a:solidFill>
          <a:ln/>
        </p:spPr>
        <p:txBody>
          <a:bodyPr/>
          <a:lstStyle/>
          <a:p>
            <a:endParaRPr lang="en-IN"/>
          </a:p>
        </p:txBody>
      </p:sp>
      <p:sp>
        <p:nvSpPr>
          <p:cNvPr id="39" name="Text 37"/>
          <p:cNvSpPr/>
          <p:nvPr/>
        </p:nvSpPr>
        <p:spPr>
          <a:xfrm>
            <a:off x="548640" y="1463040"/>
            <a:ext cx="1280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Allocations</a:t>
            </a:r>
            <a:endParaRPr lang="en-US" sz="1200" dirty="0"/>
          </a:p>
        </p:txBody>
      </p:sp>
      <p:sp>
        <p:nvSpPr>
          <p:cNvPr id="40" name="Shape 38"/>
          <p:cNvSpPr/>
          <p:nvPr/>
        </p:nvSpPr>
        <p:spPr>
          <a:xfrm>
            <a:off x="1051560" y="2103120"/>
            <a:ext cx="274320" cy="274320"/>
          </a:xfrm>
          <a:prstGeom prst="triangle">
            <a:avLst/>
          </a:prstGeom>
          <a:solidFill>
            <a:srgbClr val="1E3A8A"/>
          </a:solidFill>
          <a:ln/>
        </p:spPr>
        <p:txBody>
          <a:bodyPr/>
          <a:lstStyle/>
          <a:p>
            <a:endParaRPr lang="en-IN"/>
          </a:p>
        </p:txBody>
      </p:sp>
      <p:sp>
        <p:nvSpPr>
          <p:cNvPr id="41" name="Text 39"/>
          <p:cNvSpPr/>
          <p:nvPr/>
        </p:nvSpPr>
        <p:spPr>
          <a:xfrm>
            <a:off x="566928" y="2514600"/>
            <a:ext cx="1243584" cy="1463040"/>
          </a:xfrm>
          <a:prstGeom prst="rect">
            <a:avLst/>
          </a:prstGeom>
          <a:noFill/>
          <a:ln/>
        </p:spPr>
        <p:txBody>
          <a:bodyPr wrap="square" rtlCol="0" anchor="ctr"/>
          <a:lstStyle/>
          <a:p>
            <a:pPr marL="0" indent="0" algn="ctr">
              <a:buNone/>
            </a:pPr>
            <a:r>
              <a:rPr lang="en-US" sz="1050" dirty="0">
                <a:solidFill>
                  <a:srgbClr val="374151"/>
                </a:solidFill>
                <a:latin typeface="Calibri" pitchFamily="34" charset="0"/>
                <a:ea typeface="Calibri" pitchFamily="34" charset="-122"/>
                <a:cs typeface="Calibri" pitchFamily="34" charset="-120"/>
              </a:rPr>
              <a:t>Ready trainers get billable allocations first.</a:t>
            </a:r>
            <a:endParaRPr lang="en-US" sz="1050" dirty="0"/>
          </a:p>
        </p:txBody>
      </p:sp>
      <p:sp>
        <p:nvSpPr>
          <p:cNvPr id="42" name="Shape 40"/>
          <p:cNvSpPr/>
          <p:nvPr/>
        </p:nvSpPr>
        <p:spPr>
          <a:xfrm>
            <a:off x="2121408" y="1417320"/>
            <a:ext cx="1463040" cy="27432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3" name="Shape 41"/>
          <p:cNvSpPr/>
          <p:nvPr/>
        </p:nvSpPr>
        <p:spPr>
          <a:xfrm>
            <a:off x="2121408" y="1417320"/>
            <a:ext cx="1463040" cy="502920"/>
          </a:xfrm>
          <a:prstGeom prst="rect">
            <a:avLst/>
          </a:prstGeom>
          <a:solidFill>
            <a:srgbClr val="6B21A8"/>
          </a:solidFill>
          <a:ln/>
        </p:spPr>
        <p:txBody>
          <a:bodyPr/>
          <a:lstStyle/>
          <a:p>
            <a:endParaRPr lang="en-IN"/>
          </a:p>
        </p:txBody>
      </p:sp>
      <p:sp>
        <p:nvSpPr>
          <p:cNvPr id="44" name="Text 42"/>
          <p:cNvSpPr/>
          <p:nvPr/>
        </p:nvSpPr>
        <p:spPr>
          <a:xfrm>
            <a:off x="2212848" y="1463040"/>
            <a:ext cx="1280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p>
        </p:txBody>
      </p:sp>
      <p:sp>
        <p:nvSpPr>
          <p:cNvPr id="45" name="Shape 43"/>
          <p:cNvSpPr/>
          <p:nvPr/>
        </p:nvSpPr>
        <p:spPr>
          <a:xfrm>
            <a:off x="2715768" y="2103120"/>
            <a:ext cx="274320" cy="274320"/>
          </a:xfrm>
          <a:prstGeom prst="triangle">
            <a:avLst/>
          </a:prstGeom>
          <a:solidFill>
            <a:srgbClr val="6B21A8"/>
          </a:solidFill>
          <a:ln/>
        </p:spPr>
        <p:txBody>
          <a:bodyPr/>
          <a:lstStyle/>
          <a:p>
            <a:endParaRPr lang="en-IN"/>
          </a:p>
        </p:txBody>
      </p:sp>
      <p:sp>
        <p:nvSpPr>
          <p:cNvPr id="46" name="Text 44"/>
          <p:cNvSpPr/>
          <p:nvPr/>
        </p:nvSpPr>
        <p:spPr>
          <a:xfrm>
            <a:off x="2231136" y="2514600"/>
            <a:ext cx="1243584" cy="1463040"/>
          </a:xfrm>
          <a:prstGeom prst="rect">
            <a:avLst/>
          </a:prstGeom>
          <a:noFill/>
          <a:ln/>
        </p:spPr>
        <p:txBody>
          <a:bodyPr wrap="square" rtlCol="0" anchor="ctr"/>
          <a:lstStyle/>
          <a:p>
            <a:pPr marL="0" indent="0" algn="ctr">
              <a:buNone/>
            </a:pPr>
            <a:r>
              <a:rPr lang="en-US" sz="1050" dirty="0">
                <a:solidFill>
                  <a:srgbClr val="374151"/>
                </a:solidFill>
                <a:latin typeface="Calibri" pitchFamily="34" charset="0"/>
                <a:ea typeface="Calibri" pitchFamily="34" charset="-122"/>
                <a:cs typeface="Calibri" pitchFamily="34" charset="-120"/>
              </a:rPr>
              <a:t>Faster ramp, fewer dropped engagements, healthier margin.</a:t>
            </a:r>
            <a:endParaRPr lang="en-US" sz="1050" dirty="0"/>
          </a:p>
        </p:txBody>
      </p:sp>
      <p:sp>
        <p:nvSpPr>
          <p:cNvPr id="47" name="Shape 45"/>
          <p:cNvSpPr/>
          <p:nvPr/>
        </p:nvSpPr>
        <p:spPr>
          <a:xfrm>
            <a:off x="3785616" y="1417320"/>
            <a:ext cx="1463040" cy="27432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8" name="Shape 46"/>
          <p:cNvSpPr/>
          <p:nvPr/>
        </p:nvSpPr>
        <p:spPr>
          <a:xfrm>
            <a:off x="3785616" y="1417320"/>
            <a:ext cx="1463040" cy="502920"/>
          </a:xfrm>
          <a:prstGeom prst="rect">
            <a:avLst/>
          </a:prstGeom>
          <a:solidFill>
            <a:srgbClr val="E11D74"/>
          </a:solidFill>
          <a:ln/>
        </p:spPr>
        <p:txBody>
          <a:bodyPr/>
          <a:lstStyle/>
          <a:p>
            <a:endParaRPr lang="en-IN"/>
          </a:p>
        </p:txBody>
      </p:sp>
      <p:sp>
        <p:nvSpPr>
          <p:cNvPr id="49" name="Text 47"/>
          <p:cNvSpPr/>
          <p:nvPr/>
        </p:nvSpPr>
        <p:spPr>
          <a:xfrm>
            <a:off x="3877056" y="1463040"/>
            <a:ext cx="1280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Client Confidence</a:t>
            </a:r>
            <a:endParaRPr lang="en-US" sz="1200" dirty="0"/>
          </a:p>
        </p:txBody>
      </p:sp>
      <p:sp>
        <p:nvSpPr>
          <p:cNvPr id="50" name="Shape 48"/>
          <p:cNvSpPr/>
          <p:nvPr/>
        </p:nvSpPr>
        <p:spPr>
          <a:xfrm>
            <a:off x="4379976" y="2103120"/>
            <a:ext cx="274320" cy="274320"/>
          </a:xfrm>
          <a:prstGeom prst="triangle">
            <a:avLst/>
          </a:prstGeom>
          <a:solidFill>
            <a:srgbClr val="E11D74"/>
          </a:solidFill>
          <a:ln/>
        </p:spPr>
        <p:txBody>
          <a:bodyPr/>
          <a:lstStyle/>
          <a:p>
            <a:endParaRPr lang="en-IN"/>
          </a:p>
        </p:txBody>
      </p:sp>
      <p:sp>
        <p:nvSpPr>
          <p:cNvPr id="51" name="Text 49"/>
          <p:cNvSpPr/>
          <p:nvPr/>
        </p:nvSpPr>
        <p:spPr>
          <a:xfrm>
            <a:off x="3895344" y="2514600"/>
            <a:ext cx="1243584" cy="1463040"/>
          </a:xfrm>
          <a:prstGeom prst="rect">
            <a:avLst/>
          </a:prstGeom>
          <a:noFill/>
          <a:ln/>
        </p:spPr>
        <p:txBody>
          <a:bodyPr wrap="square" rtlCol="0" anchor="ctr"/>
          <a:lstStyle/>
          <a:p>
            <a:pPr marL="0" indent="0" algn="ctr">
              <a:buNone/>
            </a:pPr>
            <a:r>
              <a:rPr lang="en-US" sz="1050" dirty="0">
                <a:solidFill>
                  <a:srgbClr val="374151"/>
                </a:solidFill>
                <a:latin typeface="Calibri" pitchFamily="34" charset="0"/>
                <a:ea typeface="Calibri" pitchFamily="34" charset="-122"/>
                <a:cs typeface="Calibri" pitchFamily="34" charset="-120"/>
              </a:rPr>
              <a:t>Validated demos and certifications build trust pre-engagement.</a:t>
            </a:r>
            <a:endParaRPr lang="en-US" sz="1050" dirty="0"/>
          </a:p>
        </p:txBody>
      </p:sp>
      <p:sp>
        <p:nvSpPr>
          <p:cNvPr id="52" name="Shape 50"/>
          <p:cNvSpPr/>
          <p:nvPr/>
        </p:nvSpPr>
        <p:spPr>
          <a:xfrm>
            <a:off x="5449824" y="1417320"/>
            <a:ext cx="1463040" cy="27432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3" name="Shape 51"/>
          <p:cNvSpPr/>
          <p:nvPr/>
        </p:nvSpPr>
        <p:spPr>
          <a:xfrm>
            <a:off x="5449824" y="1417320"/>
            <a:ext cx="1463040" cy="502920"/>
          </a:xfrm>
          <a:prstGeom prst="rect">
            <a:avLst/>
          </a:prstGeom>
          <a:solidFill>
            <a:srgbClr val="2563EB"/>
          </a:solidFill>
          <a:ln/>
        </p:spPr>
        <p:txBody>
          <a:bodyPr/>
          <a:lstStyle/>
          <a:p>
            <a:endParaRPr lang="en-IN"/>
          </a:p>
        </p:txBody>
      </p:sp>
      <p:sp>
        <p:nvSpPr>
          <p:cNvPr id="54" name="Text 52"/>
          <p:cNvSpPr/>
          <p:nvPr/>
        </p:nvSpPr>
        <p:spPr>
          <a:xfrm>
            <a:off x="5541264" y="1463040"/>
            <a:ext cx="1280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Delivery Quality</a:t>
            </a:r>
            <a:endParaRPr lang="en-US" sz="1200" dirty="0"/>
          </a:p>
        </p:txBody>
      </p:sp>
      <p:sp>
        <p:nvSpPr>
          <p:cNvPr id="55" name="Shape 53"/>
          <p:cNvSpPr/>
          <p:nvPr/>
        </p:nvSpPr>
        <p:spPr>
          <a:xfrm>
            <a:off x="6044184" y="2103120"/>
            <a:ext cx="274320" cy="274320"/>
          </a:xfrm>
          <a:prstGeom prst="triangle">
            <a:avLst/>
          </a:prstGeom>
          <a:solidFill>
            <a:srgbClr val="2563EB"/>
          </a:solidFill>
          <a:ln/>
        </p:spPr>
        <p:txBody>
          <a:bodyPr/>
          <a:lstStyle/>
          <a:p>
            <a:endParaRPr lang="en-IN"/>
          </a:p>
        </p:txBody>
      </p:sp>
      <p:sp>
        <p:nvSpPr>
          <p:cNvPr id="56" name="Text 54"/>
          <p:cNvSpPr/>
          <p:nvPr/>
        </p:nvSpPr>
        <p:spPr>
          <a:xfrm>
            <a:off x="5559552" y="2514600"/>
            <a:ext cx="1243584" cy="1463040"/>
          </a:xfrm>
          <a:prstGeom prst="rect">
            <a:avLst/>
          </a:prstGeom>
          <a:noFill/>
          <a:ln/>
        </p:spPr>
        <p:txBody>
          <a:bodyPr wrap="square" rtlCol="0" anchor="ctr"/>
          <a:lstStyle/>
          <a:p>
            <a:pPr marL="0" indent="0" algn="ctr">
              <a:buNone/>
            </a:pPr>
            <a:r>
              <a:rPr lang="en-US" sz="1050" dirty="0">
                <a:solidFill>
                  <a:srgbClr val="374151"/>
                </a:solidFill>
                <a:latin typeface="Calibri" pitchFamily="34" charset="0"/>
                <a:ea typeface="Calibri" pitchFamily="34" charset="-122"/>
                <a:cs typeface="Calibri" pitchFamily="34" charset="-120"/>
              </a:rPr>
              <a:t>Mock-cleared trainers reduce escalations and PIRs.</a:t>
            </a:r>
            <a:endParaRPr lang="en-US" sz="1050" dirty="0"/>
          </a:p>
        </p:txBody>
      </p:sp>
      <p:sp>
        <p:nvSpPr>
          <p:cNvPr id="57" name="Shape 55"/>
          <p:cNvSpPr/>
          <p:nvPr/>
        </p:nvSpPr>
        <p:spPr>
          <a:xfrm>
            <a:off x="7114032" y="1417320"/>
            <a:ext cx="1463040" cy="27432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8" name="Shape 56"/>
          <p:cNvSpPr/>
          <p:nvPr/>
        </p:nvSpPr>
        <p:spPr>
          <a:xfrm>
            <a:off x="7114032" y="1417320"/>
            <a:ext cx="1463040" cy="502920"/>
          </a:xfrm>
          <a:prstGeom prst="rect">
            <a:avLst/>
          </a:prstGeom>
          <a:solidFill>
            <a:srgbClr val="16A34A"/>
          </a:solidFill>
          <a:ln/>
        </p:spPr>
        <p:txBody>
          <a:bodyPr/>
          <a:lstStyle/>
          <a:p>
            <a:endParaRPr lang="en-IN"/>
          </a:p>
        </p:txBody>
      </p:sp>
      <p:sp>
        <p:nvSpPr>
          <p:cNvPr id="59" name="Text 57"/>
          <p:cNvSpPr/>
          <p:nvPr/>
        </p:nvSpPr>
        <p:spPr>
          <a:xfrm>
            <a:off x="7205472" y="1463040"/>
            <a:ext cx="1280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Career Growth</a:t>
            </a:r>
            <a:endParaRPr lang="en-US" sz="1200" dirty="0"/>
          </a:p>
        </p:txBody>
      </p:sp>
      <p:sp>
        <p:nvSpPr>
          <p:cNvPr id="60" name="Shape 58"/>
          <p:cNvSpPr/>
          <p:nvPr/>
        </p:nvSpPr>
        <p:spPr>
          <a:xfrm>
            <a:off x="7708392" y="2103120"/>
            <a:ext cx="274320" cy="274320"/>
          </a:xfrm>
          <a:prstGeom prst="triangle">
            <a:avLst/>
          </a:prstGeom>
          <a:solidFill>
            <a:srgbClr val="16A34A"/>
          </a:solidFill>
          <a:ln/>
        </p:spPr>
        <p:txBody>
          <a:bodyPr/>
          <a:lstStyle/>
          <a:p>
            <a:endParaRPr lang="en-IN"/>
          </a:p>
        </p:txBody>
      </p:sp>
      <p:sp>
        <p:nvSpPr>
          <p:cNvPr id="61" name="Text 59"/>
          <p:cNvSpPr/>
          <p:nvPr/>
        </p:nvSpPr>
        <p:spPr>
          <a:xfrm>
            <a:off x="7223760" y="2514600"/>
            <a:ext cx="1243584" cy="1463040"/>
          </a:xfrm>
          <a:prstGeom prst="rect">
            <a:avLst/>
          </a:prstGeom>
          <a:noFill/>
          <a:ln/>
        </p:spPr>
        <p:txBody>
          <a:bodyPr wrap="square" rtlCol="0" anchor="ctr"/>
          <a:lstStyle/>
          <a:p>
            <a:pPr marL="0" indent="0" algn="ctr">
              <a:buNone/>
            </a:pPr>
            <a:r>
              <a:rPr lang="en-US" sz="1050" dirty="0">
                <a:solidFill>
                  <a:srgbClr val="374151"/>
                </a:solidFill>
                <a:latin typeface="Calibri" pitchFamily="34" charset="0"/>
                <a:ea typeface="Calibri" pitchFamily="34" charset="-122"/>
                <a:cs typeface="Calibri" pitchFamily="34" charset="-120"/>
              </a:rPr>
              <a:t>Readiness drives eligibility for senior engagements and roles.</a:t>
            </a:r>
            <a:endParaRPr lang="en-US" sz="1050" dirty="0"/>
          </a:p>
        </p:txBody>
      </p:sp>
      <p:sp>
        <p:nvSpPr>
          <p:cNvPr id="62" name="Shape 60"/>
          <p:cNvSpPr/>
          <p:nvPr/>
        </p:nvSpPr>
        <p:spPr>
          <a:xfrm>
            <a:off x="457200" y="4343400"/>
            <a:ext cx="8229600" cy="457200"/>
          </a:xfrm>
          <a:prstGeom prst="rect">
            <a:avLst/>
          </a:prstGeom>
          <a:solidFill>
            <a:srgbClr val="F8FAFC"/>
          </a:solidFill>
          <a:ln w="6350">
            <a:solidFill>
              <a:srgbClr val="E5E7EB"/>
            </a:solidFill>
            <a:prstDash val="solid"/>
          </a:ln>
        </p:spPr>
        <p:txBody>
          <a:bodyPr/>
          <a:lstStyle/>
          <a:p>
            <a:endParaRPr lang="en-IN"/>
          </a:p>
        </p:txBody>
      </p:sp>
      <p:sp>
        <p:nvSpPr>
          <p:cNvPr id="63" name="Text 61"/>
          <p:cNvSpPr/>
          <p:nvPr/>
        </p:nvSpPr>
        <p:spPr>
          <a:xfrm>
            <a:off x="457200" y="4343400"/>
            <a:ext cx="8229600" cy="457200"/>
          </a:xfrm>
          <a:prstGeom prst="rect">
            <a:avLst/>
          </a:prstGeom>
          <a:noFill/>
          <a:ln/>
        </p:spPr>
        <p:txBody>
          <a:bodyPr wrap="square"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Readiness is not an internal metric — it is the gateway to every commercial outcome.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04  KEY CONCERNS IDENTIFIED</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Risks that erode allocation, billing, and client trust</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10</a:t>
            </a:r>
            <a:endParaRPr lang="en-US" sz="900" dirty="0"/>
          </a:p>
        </p:txBody>
      </p:sp>
      <p:sp>
        <p:nvSpPr>
          <p:cNvPr id="37" name="Shape 35"/>
          <p:cNvSpPr/>
          <p:nvPr/>
        </p:nvSpPr>
        <p:spPr>
          <a:xfrm>
            <a:off x="45720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73152" cy="1371600"/>
          </a:xfrm>
          <a:prstGeom prst="rect">
            <a:avLst/>
          </a:prstGeom>
          <a:solidFill>
            <a:srgbClr val="DC2626"/>
          </a:solidFill>
          <a:ln/>
        </p:spPr>
        <p:txBody>
          <a:bodyPr/>
          <a:lstStyle/>
          <a:p>
            <a:endParaRPr lang="en-IN"/>
          </a:p>
        </p:txBody>
      </p:sp>
      <p:sp>
        <p:nvSpPr>
          <p:cNvPr id="39" name="Shape 37"/>
          <p:cNvSpPr/>
          <p:nvPr/>
        </p:nvSpPr>
        <p:spPr>
          <a:xfrm>
            <a:off x="2377440" y="1554480"/>
            <a:ext cx="640080" cy="256032"/>
          </a:xfrm>
          <a:prstGeom prst="roundRect">
            <a:avLst>
              <a:gd name="adj" fmla="val 50000"/>
            </a:avLst>
          </a:prstGeom>
          <a:solidFill>
            <a:srgbClr val="DC2626"/>
          </a:solidFill>
          <a:ln/>
        </p:spPr>
        <p:txBody>
          <a:bodyPr/>
          <a:lstStyle/>
          <a:p>
            <a:endParaRPr lang="en-IN"/>
          </a:p>
        </p:txBody>
      </p:sp>
      <p:sp>
        <p:nvSpPr>
          <p:cNvPr id="40" name="Text 38"/>
          <p:cNvSpPr/>
          <p:nvPr/>
        </p:nvSpPr>
        <p:spPr>
          <a:xfrm>
            <a:off x="2377440" y="155448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1" name="Text 39"/>
          <p:cNvSpPr/>
          <p:nvPr/>
        </p:nvSpPr>
        <p:spPr>
          <a:xfrm>
            <a:off x="685800" y="1527048"/>
            <a:ext cx="1645920" cy="36576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Unnecessary PIRs</a:t>
            </a:r>
            <a:endParaRPr lang="en-US" sz="1300" dirty="0"/>
          </a:p>
        </p:txBody>
      </p:sp>
      <p:sp>
        <p:nvSpPr>
          <p:cNvPr id="42" name="Text 40"/>
          <p:cNvSpPr/>
          <p:nvPr/>
        </p:nvSpPr>
        <p:spPr>
          <a:xfrm>
            <a:off x="685800" y="1920240"/>
            <a:ext cx="233172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Avoidable performance reviews tied to weak prep and missed expectations.</a:t>
            </a:r>
            <a:endParaRPr lang="en-US" sz="1050" dirty="0"/>
          </a:p>
        </p:txBody>
      </p:sp>
      <p:sp>
        <p:nvSpPr>
          <p:cNvPr id="43" name="Shape 41"/>
          <p:cNvSpPr/>
          <p:nvPr/>
        </p:nvSpPr>
        <p:spPr>
          <a:xfrm>
            <a:off x="329184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4" name="Shape 42"/>
          <p:cNvSpPr/>
          <p:nvPr/>
        </p:nvSpPr>
        <p:spPr>
          <a:xfrm>
            <a:off x="3291840" y="1417320"/>
            <a:ext cx="73152" cy="1371600"/>
          </a:xfrm>
          <a:prstGeom prst="rect">
            <a:avLst/>
          </a:prstGeom>
          <a:solidFill>
            <a:srgbClr val="DC2626"/>
          </a:solidFill>
          <a:ln/>
        </p:spPr>
        <p:txBody>
          <a:bodyPr/>
          <a:lstStyle/>
          <a:p>
            <a:endParaRPr lang="en-IN"/>
          </a:p>
        </p:txBody>
      </p:sp>
      <p:sp>
        <p:nvSpPr>
          <p:cNvPr id="45" name="Shape 43"/>
          <p:cNvSpPr/>
          <p:nvPr/>
        </p:nvSpPr>
        <p:spPr>
          <a:xfrm>
            <a:off x="5212080" y="1554480"/>
            <a:ext cx="640080" cy="256032"/>
          </a:xfrm>
          <a:prstGeom prst="roundRect">
            <a:avLst>
              <a:gd name="adj" fmla="val 50000"/>
            </a:avLst>
          </a:prstGeom>
          <a:solidFill>
            <a:srgbClr val="DC2626"/>
          </a:solidFill>
          <a:ln/>
        </p:spPr>
        <p:txBody>
          <a:bodyPr/>
          <a:lstStyle/>
          <a:p>
            <a:endParaRPr lang="en-IN"/>
          </a:p>
        </p:txBody>
      </p:sp>
      <p:sp>
        <p:nvSpPr>
          <p:cNvPr id="46" name="Text 44"/>
          <p:cNvSpPr/>
          <p:nvPr/>
        </p:nvSpPr>
        <p:spPr>
          <a:xfrm>
            <a:off x="5212080" y="155448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7" name="Text 45"/>
          <p:cNvSpPr/>
          <p:nvPr/>
        </p:nvSpPr>
        <p:spPr>
          <a:xfrm>
            <a:off x="3520440" y="1527048"/>
            <a:ext cx="1645920" cy="36576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Operational Escalations</a:t>
            </a:r>
            <a:endParaRPr lang="en-US" sz="1300" dirty="0"/>
          </a:p>
        </p:txBody>
      </p:sp>
      <p:sp>
        <p:nvSpPr>
          <p:cNvPr id="48" name="Text 46"/>
          <p:cNvSpPr/>
          <p:nvPr/>
        </p:nvSpPr>
        <p:spPr>
          <a:xfrm>
            <a:off x="3520440" y="1920240"/>
            <a:ext cx="233172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Delivery issues bubbling up to leadership instead of being resolved locally.</a:t>
            </a:r>
            <a:endParaRPr lang="en-US" sz="1050" dirty="0"/>
          </a:p>
        </p:txBody>
      </p:sp>
      <p:sp>
        <p:nvSpPr>
          <p:cNvPr id="49" name="Shape 47"/>
          <p:cNvSpPr/>
          <p:nvPr/>
        </p:nvSpPr>
        <p:spPr>
          <a:xfrm>
            <a:off x="6126480" y="141732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0" name="Shape 48"/>
          <p:cNvSpPr/>
          <p:nvPr/>
        </p:nvSpPr>
        <p:spPr>
          <a:xfrm>
            <a:off x="6126480" y="1417320"/>
            <a:ext cx="73152" cy="1371600"/>
          </a:xfrm>
          <a:prstGeom prst="rect">
            <a:avLst/>
          </a:prstGeom>
          <a:solidFill>
            <a:srgbClr val="DC2626"/>
          </a:solidFill>
          <a:ln/>
        </p:spPr>
        <p:txBody>
          <a:bodyPr/>
          <a:lstStyle/>
          <a:p>
            <a:endParaRPr lang="en-IN"/>
          </a:p>
        </p:txBody>
      </p:sp>
      <p:sp>
        <p:nvSpPr>
          <p:cNvPr id="51" name="Shape 49"/>
          <p:cNvSpPr/>
          <p:nvPr/>
        </p:nvSpPr>
        <p:spPr>
          <a:xfrm>
            <a:off x="8046720" y="1554480"/>
            <a:ext cx="640080" cy="256032"/>
          </a:xfrm>
          <a:prstGeom prst="roundRect">
            <a:avLst>
              <a:gd name="adj" fmla="val 50000"/>
            </a:avLst>
          </a:prstGeom>
          <a:solidFill>
            <a:srgbClr val="DC2626"/>
          </a:solidFill>
          <a:ln/>
        </p:spPr>
        <p:txBody>
          <a:bodyPr/>
          <a:lstStyle/>
          <a:p>
            <a:endParaRPr lang="en-IN"/>
          </a:p>
        </p:txBody>
      </p:sp>
      <p:sp>
        <p:nvSpPr>
          <p:cNvPr id="52" name="Text 50"/>
          <p:cNvSpPr/>
          <p:nvPr/>
        </p:nvSpPr>
        <p:spPr>
          <a:xfrm>
            <a:off x="8046720" y="155448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53" name="Text 51"/>
          <p:cNvSpPr/>
          <p:nvPr/>
        </p:nvSpPr>
        <p:spPr>
          <a:xfrm>
            <a:off x="6355080" y="1527048"/>
            <a:ext cx="1645920" cy="36576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Delivery Dependency</a:t>
            </a:r>
            <a:endParaRPr lang="en-US" sz="1300" dirty="0"/>
          </a:p>
        </p:txBody>
      </p:sp>
      <p:sp>
        <p:nvSpPr>
          <p:cNvPr id="54" name="Text 52"/>
          <p:cNvSpPr/>
          <p:nvPr/>
        </p:nvSpPr>
        <p:spPr>
          <a:xfrm>
            <a:off x="6355080" y="1920240"/>
            <a:ext cx="233172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Over-reliance on a small set of cleared trainers for new technologies.</a:t>
            </a:r>
            <a:endParaRPr lang="en-US" sz="1050" dirty="0"/>
          </a:p>
        </p:txBody>
      </p:sp>
      <p:sp>
        <p:nvSpPr>
          <p:cNvPr id="55" name="Shape 53"/>
          <p:cNvSpPr/>
          <p:nvPr/>
        </p:nvSpPr>
        <p:spPr>
          <a:xfrm>
            <a:off x="45720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6" name="Shape 54"/>
          <p:cNvSpPr/>
          <p:nvPr/>
        </p:nvSpPr>
        <p:spPr>
          <a:xfrm>
            <a:off x="457200" y="2971800"/>
            <a:ext cx="73152" cy="1371600"/>
          </a:xfrm>
          <a:prstGeom prst="rect">
            <a:avLst/>
          </a:prstGeom>
          <a:solidFill>
            <a:srgbClr val="DC2626"/>
          </a:solidFill>
          <a:ln/>
        </p:spPr>
        <p:txBody>
          <a:bodyPr/>
          <a:lstStyle/>
          <a:p>
            <a:endParaRPr lang="en-IN"/>
          </a:p>
        </p:txBody>
      </p:sp>
      <p:sp>
        <p:nvSpPr>
          <p:cNvPr id="57" name="Shape 55"/>
          <p:cNvSpPr/>
          <p:nvPr/>
        </p:nvSpPr>
        <p:spPr>
          <a:xfrm>
            <a:off x="2377440" y="3108960"/>
            <a:ext cx="640080" cy="256032"/>
          </a:xfrm>
          <a:prstGeom prst="roundRect">
            <a:avLst>
              <a:gd name="adj" fmla="val 50000"/>
            </a:avLst>
          </a:prstGeom>
          <a:solidFill>
            <a:srgbClr val="DC2626"/>
          </a:solidFill>
          <a:ln/>
        </p:spPr>
        <p:txBody>
          <a:bodyPr/>
          <a:lstStyle/>
          <a:p>
            <a:endParaRPr lang="en-IN"/>
          </a:p>
        </p:txBody>
      </p:sp>
      <p:sp>
        <p:nvSpPr>
          <p:cNvPr id="58" name="Text 56"/>
          <p:cNvSpPr/>
          <p:nvPr/>
        </p:nvSpPr>
        <p:spPr>
          <a:xfrm>
            <a:off x="2377440" y="310896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59" name="Text 57"/>
          <p:cNvSpPr/>
          <p:nvPr/>
        </p:nvSpPr>
        <p:spPr>
          <a:xfrm>
            <a:off x="685800" y="3081528"/>
            <a:ext cx="1645920" cy="36576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Slow Preparation Cycles</a:t>
            </a:r>
            <a:endParaRPr lang="en-US" sz="1300" dirty="0"/>
          </a:p>
        </p:txBody>
      </p:sp>
      <p:sp>
        <p:nvSpPr>
          <p:cNvPr id="60" name="Text 58"/>
          <p:cNvSpPr/>
          <p:nvPr/>
        </p:nvSpPr>
        <p:spPr>
          <a:xfrm>
            <a:off x="685800" y="3474720"/>
            <a:ext cx="233172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Weeks lost between announcement and demo-ready state.</a:t>
            </a:r>
            <a:endParaRPr lang="en-US" sz="1050" dirty="0"/>
          </a:p>
        </p:txBody>
      </p:sp>
      <p:sp>
        <p:nvSpPr>
          <p:cNvPr id="61" name="Shape 59"/>
          <p:cNvSpPr/>
          <p:nvPr/>
        </p:nvSpPr>
        <p:spPr>
          <a:xfrm>
            <a:off x="3291840" y="2971800"/>
            <a:ext cx="2651760" cy="13716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2" name="Shape 60"/>
          <p:cNvSpPr/>
          <p:nvPr/>
        </p:nvSpPr>
        <p:spPr>
          <a:xfrm>
            <a:off x="3291840" y="2971800"/>
            <a:ext cx="73152" cy="1371600"/>
          </a:xfrm>
          <a:prstGeom prst="rect">
            <a:avLst/>
          </a:prstGeom>
          <a:solidFill>
            <a:srgbClr val="DC2626"/>
          </a:solidFill>
          <a:ln/>
        </p:spPr>
        <p:txBody>
          <a:bodyPr/>
          <a:lstStyle/>
          <a:p>
            <a:endParaRPr lang="en-IN"/>
          </a:p>
        </p:txBody>
      </p:sp>
      <p:sp>
        <p:nvSpPr>
          <p:cNvPr id="63" name="Shape 61"/>
          <p:cNvSpPr/>
          <p:nvPr/>
        </p:nvSpPr>
        <p:spPr>
          <a:xfrm>
            <a:off x="5212080" y="3108960"/>
            <a:ext cx="640080" cy="256032"/>
          </a:xfrm>
          <a:prstGeom prst="roundRect">
            <a:avLst>
              <a:gd name="adj" fmla="val 50000"/>
            </a:avLst>
          </a:prstGeom>
          <a:solidFill>
            <a:srgbClr val="DC2626"/>
          </a:solidFill>
          <a:ln/>
        </p:spPr>
        <p:txBody>
          <a:bodyPr/>
          <a:lstStyle/>
          <a:p>
            <a:endParaRPr lang="en-IN"/>
          </a:p>
        </p:txBody>
      </p:sp>
      <p:sp>
        <p:nvSpPr>
          <p:cNvPr id="64" name="Text 62"/>
          <p:cNvSpPr/>
          <p:nvPr/>
        </p:nvSpPr>
        <p:spPr>
          <a:xfrm>
            <a:off x="5212080" y="310896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65" name="Text 63"/>
          <p:cNvSpPr/>
          <p:nvPr/>
        </p:nvSpPr>
        <p:spPr>
          <a:xfrm>
            <a:off x="3520440" y="3081528"/>
            <a:ext cx="1645920" cy="36576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Lack of Proactive Readiness</a:t>
            </a:r>
            <a:endParaRPr lang="en-US" sz="1300" dirty="0"/>
          </a:p>
        </p:txBody>
      </p:sp>
      <p:sp>
        <p:nvSpPr>
          <p:cNvPr id="66" name="Text 64"/>
          <p:cNvSpPr/>
          <p:nvPr/>
        </p:nvSpPr>
        <p:spPr>
          <a:xfrm>
            <a:off x="3520440" y="3474720"/>
            <a:ext cx="233172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Reactive learning starts only after the customer ask lands.</a:t>
            </a:r>
            <a:endParaRPr lang="en-US" sz="1050" dirty="0"/>
          </a:p>
        </p:txBody>
      </p:sp>
      <p:sp>
        <p:nvSpPr>
          <p:cNvPr id="67" name="Shape 65"/>
          <p:cNvSpPr/>
          <p:nvPr/>
        </p:nvSpPr>
        <p:spPr>
          <a:xfrm>
            <a:off x="457200" y="4526280"/>
            <a:ext cx="8229600" cy="365760"/>
          </a:xfrm>
          <a:prstGeom prst="rect">
            <a:avLst/>
          </a:prstGeom>
          <a:solidFill>
            <a:srgbClr val="0F172A"/>
          </a:solidFill>
          <a:ln/>
        </p:spPr>
        <p:txBody>
          <a:bodyPr/>
          <a:lstStyle/>
          <a:p>
            <a:endParaRPr lang="en-IN"/>
          </a:p>
        </p:txBody>
      </p:sp>
      <p:sp>
        <p:nvSpPr>
          <p:cNvPr id="68" name="Text 66"/>
          <p:cNvSpPr/>
          <p:nvPr/>
        </p:nvSpPr>
        <p:spPr>
          <a:xfrm>
            <a:off x="457200" y="4526280"/>
            <a:ext cx="8229600" cy="365760"/>
          </a:xfrm>
          <a:prstGeom prst="rect">
            <a:avLst/>
          </a:prstGeom>
          <a:noFill/>
          <a:ln/>
        </p:spPr>
        <p:txBody>
          <a:bodyPr wrap="square" rtlCol="0" anchor="ctr"/>
          <a:lstStyle/>
          <a:p>
            <a:pPr marL="0" indent="0" algn="ctr">
              <a:buNone/>
            </a:pPr>
            <a:r>
              <a:rPr lang="en-US" sz="1200" b="1" i="1" dirty="0">
                <a:solidFill>
                  <a:srgbClr val="FFFFFF"/>
                </a:solidFill>
                <a:latin typeface="Calibri" pitchFamily="34" charset="0"/>
                <a:ea typeface="Calibri" pitchFamily="34" charset="-122"/>
                <a:cs typeface="Calibri" pitchFamily="34" charset="-120"/>
              </a:rPr>
              <a:t>Every concern listed is closable in one delivery cycle with disciplined execution.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05  MARKET DEMAND &amp; TECH TRENDS</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Where customers are spending — and where we must be ready</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10</a:t>
            </a:r>
            <a:endParaRPr lang="en-US" sz="900" dirty="0"/>
          </a:p>
        </p:txBody>
      </p:sp>
      <p:sp>
        <p:nvSpPr>
          <p:cNvPr id="37" name="Shape 35"/>
          <p:cNvSpPr/>
          <p:nvPr/>
        </p:nvSpPr>
        <p:spPr>
          <a:xfrm>
            <a:off x="457200" y="1417320"/>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2624328" cy="36576"/>
          </a:xfrm>
          <a:prstGeom prst="rect">
            <a:avLst/>
          </a:prstGeom>
          <a:solidFill>
            <a:srgbClr val="DC2626"/>
          </a:solidFill>
          <a:ln/>
        </p:spPr>
        <p:txBody>
          <a:bodyPr/>
          <a:lstStyle/>
          <a:p>
            <a:endParaRPr lang="en-IN"/>
          </a:p>
        </p:txBody>
      </p:sp>
      <p:sp>
        <p:nvSpPr>
          <p:cNvPr id="39" name="Text 37"/>
          <p:cNvSpPr/>
          <p:nvPr/>
        </p:nvSpPr>
        <p:spPr>
          <a:xfrm>
            <a:off x="594360" y="1490472"/>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Agentic AI</a:t>
            </a:r>
            <a:endParaRPr lang="en-US" sz="1200" dirty="0"/>
          </a:p>
        </p:txBody>
      </p:sp>
      <p:sp>
        <p:nvSpPr>
          <p:cNvPr id="40" name="Shape 38"/>
          <p:cNvSpPr/>
          <p:nvPr/>
        </p:nvSpPr>
        <p:spPr>
          <a:xfrm>
            <a:off x="2331720" y="1527048"/>
            <a:ext cx="685800" cy="219456"/>
          </a:xfrm>
          <a:prstGeom prst="roundRect">
            <a:avLst>
              <a:gd name="adj" fmla="val 50000"/>
            </a:avLst>
          </a:prstGeom>
          <a:solidFill>
            <a:srgbClr val="DC2626"/>
          </a:solidFill>
          <a:ln/>
        </p:spPr>
        <p:txBody>
          <a:bodyPr/>
          <a:lstStyle/>
          <a:p>
            <a:endParaRPr lang="en-IN"/>
          </a:p>
        </p:txBody>
      </p:sp>
      <p:sp>
        <p:nvSpPr>
          <p:cNvPr id="41" name="Text 39"/>
          <p:cNvSpPr/>
          <p:nvPr/>
        </p:nvSpPr>
        <p:spPr>
          <a:xfrm>
            <a:off x="2331720" y="1527048"/>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42" name="Shape 40"/>
          <p:cNvSpPr/>
          <p:nvPr/>
        </p:nvSpPr>
        <p:spPr>
          <a:xfrm>
            <a:off x="594360" y="1828800"/>
            <a:ext cx="2331720" cy="109728"/>
          </a:xfrm>
          <a:prstGeom prst="rect">
            <a:avLst/>
          </a:prstGeom>
          <a:solidFill>
            <a:srgbClr val="F1F5F9"/>
          </a:solidFill>
          <a:ln/>
        </p:spPr>
        <p:txBody>
          <a:bodyPr/>
          <a:lstStyle/>
          <a:p>
            <a:endParaRPr lang="en-IN"/>
          </a:p>
        </p:txBody>
      </p:sp>
      <p:sp>
        <p:nvSpPr>
          <p:cNvPr id="43" name="Shape 41"/>
          <p:cNvSpPr/>
          <p:nvPr/>
        </p:nvSpPr>
        <p:spPr>
          <a:xfrm>
            <a:off x="594360" y="1828800"/>
            <a:ext cx="2215134" cy="109728"/>
          </a:xfrm>
          <a:prstGeom prst="rect">
            <a:avLst/>
          </a:prstGeom>
          <a:solidFill>
            <a:srgbClr val="DC2626"/>
          </a:solidFill>
          <a:ln/>
        </p:spPr>
        <p:txBody>
          <a:bodyPr/>
          <a:lstStyle/>
          <a:p>
            <a:endParaRPr lang="en-IN"/>
          </a:p>
        </p:txBody>
      </p:sp>
      <p:sp>
        <p:nvSpPr>
          <p:cNvPr id="44" name="Text 42"/>
          <p:cNvSpPr/>
          <p:nvPr/>
        </p:nvSpPr>
        <p:spPr>
          <a:xfrm>
            <a:off x="594360" y="1984248"/>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Gartner: 40% apps embed agents by EOY 2026</a:t>
            </a:r>
            <a:endParaRPr lang="en-US" sz="850" dirty="0"/>
          </a:p>
        </p:txBody>
      </p:sp>
      <p:sp>
        <p:nvSpPr>
          <p:cNvPr id="45" name="Shape 43"/>
          <p:cNvSpPr/>
          <p:nvPr/>
        </p:nvSpPr>
        <p:spPr>
          <a:xfrm>
            <a:off x="3264408" y="1417320"/>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6" name="Shape 44"/>
          <p:cNvSpPr/>
          <p:nvPr/>
        </p:nvSpPr>
        <p:spPr>
          <a:xfrm>
            <a:off x="3264408" y="1417320"/>
            <a:ext cx="2624328" cy="36576"/>
          </a:xfrm>
          <a:prstGeom prst="rect">
            <a:avLst/>
          </a:prstGeom>
          <a:solidFill>
            <a:srgbClr val="DC2626"/>
          </a:solidFill>
          <a:ln/>
        </p:spPr>
        <p:txBody>
          <a:bodyPr/>
          <a:lstStyle/>
          <a:p>
            <a:endParaRPr lang="en-IN"/>
          </a:p>
        </p:txBody>
      </p:sp>
      <p:sp>
        <p:nvSpPr>
          <p:cNvPr id="47" name="Text 45"/>
          <p:cNvSpPr/>
          <p:nvPr/>
        </p:nvSpPr>
        <p:spPr>
          <a:xfrm>
            <a:off x="3401568" y="1490472"/>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Azure AI Foundry</a:t>
            </a:r>
            <a:endParaRPr lang="en-US" sz="1200" dirty="0"/>
          </a:p>
        </p:txBody>
      </p:sp>
      <p:sp>
        <p:nvSpPr>
          <p:cNvPr id="48" name="Shape 46"/>
          <p:cNvSpPr/>
          <p:nvPr/>
        </p:nvSpPr>
        <p:spPr>
          <a:xfrm>
            <a:off x="5138928" y="1527048"/>
            <a:ext cx="685800" cy="219456"/>
          </a:xfrm>
          <a:prstGeom prst="roundRect">
            <a:avLst>
              <a:gd name="adj" fmla="val 50000"/>
            </a:avLst>
          </a:prstGeom>
          <a:solidFill>
            <a:srgbClr val="DC2626"/>
          </a:solidFill>
          <a:ln/>
        </p:spPr>
        <p:txBody>
          <a:bodyPr/>
          <a:lstStyle/>
          <a:p>
            <a:endParaRPr lang="en-IN"/>
          </a:p>
        </p:txBody>
      </p:sp>
      <p:sp>
        <p:nvSpPr>
          <p:cNvPr id="49" name="Text 47"/>
          <p:cNvSpPr/>
          <p:nvPr/>
        </p:nvSpPr>
        <p:spPr>
          <a:xfrm>
            <a:off x="5138928" y="1527048"/>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50" name="Shape 48"/>
          <p:cNvSpPr/>
          <p:nvPr/>
        </p:nvSpPr>
        <p:spPr>
          <a:xfrm>
            <a:off x="3401568" y="1828800"/>
            <a:ext cx="2331720" cy="109728"/>
          </a:xfrm>
          <a:prstGeom prst="rect">
            <a:avLst/>
          </a:prstGeom>
          <a:solidFill>
            <a:srgbClr val="F1F5F9"/>
          </a:solidFill>
          <a:ln/>
        </p:spPr>
        <p:txBody>
          <a:bodyPr/>
          <a:lstStyle/>
          <a:p>
            <a:endParaRPr lang="en-IN"/>
          </a:p>
        </p:txBody>
      </p:sp>
      <p:sp>
        <p:nvSpPr>
          <p:cNvPr id="51" name="Shape 49"/>
          <p:cNvSpPr/>
          <p:nvPr/>
        </p:nvSpPr>
        <p:spPr>
          <a:xfrm>
            <a:off x="3401568" y="1828800"/>
            <a:ext cx="2145182" cy="109728"/>
          </a:xfrm>
          <a:prstGeom prst="rect">
            <a:avLst/>
          </a:prstGeom>
          <a:solidFill>
            <a:srgbClr val="DC2626"/>
          </a:solidFill>
          <a:ln/>
        </p:spPr>
        <p:txBody>
          <a:bodyPr/>
          <a:lstStyle/>
          <a:p>
            <a:endParaRPr lang="en-IN"/>
          </a:p>
        </p:txBody>
      </p:sp>
      <p:sp>
        <p:nvSpPr>
          <p:cNvPr id="52" name="Text 50"/>
          <p:cNvSpPr/>
          <p:nvPr/>
        </p:nvSpPr>
        <p:spPr>
          <a:xfrm>
            <a:off x="3401568" y="1984248"/>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10K+ orgs migrated; enterprise agent OS</a:t>
            </a:r>
            <a:endParaRPr lang="en-US" sz="850" dirty="0"/>
          </a:p>
        </p:txBody>
      </p:sp>
      <p:sp>
        <p:nvSpPr>
          <p:cNvPr id="53" name="Shape 51"/>
          <p:cNvSpPr/>
          <p:nvPr/>
        </p:nvSpPr>
        <p:spPr>
          <a:xfrm>
            <a:off x="6071616" y="1417320"/>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4" name="Shape 52"/>
          <p:cNvSpPr/>
          <p:nvPr/>
        </p:nvSpPr>
        <p:spPr>
          <a:xfrm>
            <a:off x="6071616" y="1417320"/>
            <a:ext cx="2624328" cy="36576"/>
          </a:xfrm>
          <a:prstGeom prst="rect">
            <a:avLst/>
          </a:prstGeom>
          <a:solidFill>
            <a:srgbClr val="F59E0B"/>
          </a:solidFill>
          <a:ln/>
        </p:spPr>
        <p:txBody>
          <a:bodyPr/>
          <a:lstStyle/>
          <a:p>
            <a:endParaRPr lang="en-IN"/>
          </a:p>
        </p:txBody>
      </p:sp>
      <p:sp>
        <p:nvSpPr>
          <p:cNvPr id="55" name="Text 53"/>
          <p:cNvSpPr/>
          <p:nvPr/>
        </p:nvSpPr>
        <p:spPr>
          <a:xfrm>
            <a:off x="6208776" y="1490472"/>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DP-700 (Fabric DE)</a:t>
            </a:r>
            <a:endParaRPr lang="en-US" sz="1200" dirty="0"/>
          </a:p>
        </p:txBody>
      </p:sp>
      <p:sp>
        <p:nvSpPr>
          <p:cNvPr id="56" name="Shape 54"/>
          <p:cNvSpPr/>
          <p:nvPr/>
        </p:nvSpPr>
        <p:spPr>
          <a:xfrm>
            <a:off x="7946136" y="1527048"/>
            <a:ext cx="685800" cy="219456"/>
          </a:xfrm>
          <a:prstGeom prst="roundRect">
            <a:avLst>
              <a:gd name="adj" fmla="val 50000"/>
            </a:avLst>
          </a:prstGeom>
          <a:solidFill>
            <a:srgbClr val="F59E0B"/>
          </a:solidFill>
          <a:ln/>
        </p:spPr>
        <p:txBody>
          <a:bodyPr/>
          <a:lstStyle/>
          <a:p>
            <a:endParaRPr lang="en-IN"/>
          </a:p>
        </p:txBody>
      </p:sp>
      <p:sp>
        <p:nvSpPr>
          <p:cNvPr id="57" name="Text 55"/>
          <p:cNvSpPr/>
          <p:nvPr/>
        </p:nvSpPr>
        <p:spPr>
          <a:xfrm>
            <a:off x="7946136" y="1527048"/>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58" name="Shape 56"/>
          <p:cNvSpPr/>
          <p:nvPr/>
        </p:nvSpPr>
        <p:spPr>
          <a:xfrm>
            <a:off x="6208776" y="1828800"/>
            <a:ext cx="2331720" cy="109728"/>
          </a:xfrm>
          <a:prstGeom prst="rect">
            <a:avLst/>
          </a:prstGeom>
          <a:solidFill>
            <a:srgbClr val="F1F5F9"/>
          </a:solidFill>
          <a:ln/>
        </p:spPr>
        <p:txBody>
          <a:bodyPr/>
          <a:lstStyle/>
          <a:p>
            <a:endParaRPr lang="en-IN"/>
          </a:p>
        </p:txBody>
      </p:sp>
      <p:sp>
        <p:nvSpPr>
          <p:cNvPr id="59" name="Shape 57"/>
          <p:cNvSpPr/>
          <p:nvPr/>
        </p:nvSpPr>
        <p:spPr>
          <a:xfrm>
            <a:off x="6208776" y="1828800"/>
            <a:ext cx="1981962" cy="109728"/>
          </a:xfrm>
          <a:prstGeom prst="rect">
            <a:avLst/>
          </a:prstGeom>
          <a:solidFill>
            <a:srgbClr val="F59E0B"/>
          </a:solidFill>
          <a:ln/>
        </p:spPr>
        <p:txBody>
          <a:bodyPr/>
          <a:lstStyle/>
          <a:p>
            <a:endParaRPr lang="en-IN"/>
          </a:p>
        </p:txBody>
      </p:sp>
      <p:sp>
        <p:nvSpPr>
          <p:cNvPr id="60" name="Text 58"/>
          <p:cNvSpPr/>
          <p:nvPr/>
        </p:nvSpPr>
        <p:spPr>
          <a:xfrm>
            <a:off x="6208776" y="1984248"/>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70% Fortune 500 on Microsoft Fabric</a:t>
            </a:r>
            <a:endParaRPr lang="en-US" sz="850" dirty="0"/>
          </a:p>
        </p:txBody>
      </p:sp>
      <p:sp>
        <p:nvSpPr>
          <p:cNvPr id="61" name="Shape 59"/>
          <p:cNvSpPr/>
          <p:nvPr/>
        </p:nvSpPr>
        <p:spPr>
          <a:xfrm>
            <a:off x="457200" y="2496312"/>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2" name="Shape 60"/>
          <p:cNvSpPr/>
          <p:nvPr/>
        </p:nvSpPr>
        <p:spPr>
          <a:xfrm>
            <a:off x="457200" y="2496312"/>
            <a:ext cx="2624328" cy="36576"/>
          </a:xfrm>
          <a:prstGeom prst="rect">
            <a:avLst/>
          </a:prstGeom>
          <a:solidFill>
            <a:srgbClr val="DC2626"/>
          </a:solidFill>
          <a:ln/>
        </p:spPr>
        <p:txBody>
          <a:bodyPr/>
          <a:lstStyle/>
          <a:p>
            <a:endParaRPr lang="en-IN"/>
          </a:p>
        </p:txBody>
      </p:sp>
      <p:sp>
        <p:nvSpPr>
          <p:cNvPr id="63" name="Text 61"/>
          <p:cNvSpPr/>
          <p:nvPr/>
        </p:nvSpPr>
        <p:spPr>
          <a:xfrm>
            <a:off x="594360" y="2569464"/>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Databricks</a:t>
            </a:r>
            <a:endParaRPr lang="en-US" sz="1200" dirty="0"/>
          </a:p>
        </p:txBody>
      </p:sp>
      <p:sp>
        <p:nvSpPr>
          <p:cNvPr id="64" name="Shape 62"/>
          <p:cNvSpPr/>
          <p:nvPr/>
        </p:nvSpPr>
        <p:spPr>
          <a:xfrm>
            <a:off x="2331720" y="2606040"/>
            <a:ext cx="685800" cy="219456"/>
          </a:xfrm>
          <a:prstGeom prst="roundRect">
            <a:avLst>
              <a:gd name="adj" fmla="val 50000"/>
            </a:avLst>
          </a:prstGeom>
          <a:solidFill>
            <a:srgbClr val="DC2626"/>
          </a:solidFill>
          <a:ln/>
        </p:spPr>
        <p:txBody>
          <a:bodyPr/>
          <a:lstStyle/>
          <a:p>
            <a:endParaRPr lang="en-IN"/>
          </a:p>
        </p:txBody>
      </p:sp>
      <p:sp>
        <p:nvSpPr>
          <p:cNvPr id="65" name="Text 63"/>
          <p:cNvSpPr/>
          <p:nvPr/>
        </p:nvSpPr>
        <p:spPr>
          <a:xfrm>
            <a:off x="2331720" y="2606040"/>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66" name="Shape 64"/>
          <p:cNvSpPr/>
          <p:nvPr/>
        </p:nvSpPr>
        <p:spPr>
          <a:xfrm>
            <a:off x="594360" y="2907792"/>
            <a:ext cx="2331720" cy="109728"/>
          </a:xfrm>
          <a:prstGeom prst="rect">
            <a:avLst/>
          </a:prstGeom>
          <a:solidFill>
            <a:srgbClr val="F1F5F9"/>
          </a:solidFill>
          <a:ln/>
        </p:spPr>
        <p:txBody>
          <a:bodyPr/>
          <a:lstStyle/>
          <a:p>
            <a:endParaRPr lang="en-IN"/>
          </a:p>
        </p:txBody>
      </p:sp>
      <p:sp>
        <p:nvSpPr>
          <p:cNvPr id="67" name="Shape 65"/>
          <p:cNvSpPr/>
          <p:nvPr/>
        </p:nvSpPr>
        <p:spPr>
          <a:xfrm>
            <a:off x="594360" y="2907792"/>
            <a:ext cx="2098548" cy="109728"/>
          </a:xfrm>
          <a:prstGeom prst="rect">
            <a:avLst/>
          </a:prstGeom>
          <a:solidFill>
            <a:srgbClr val="DC2626"/>
          </a:solidFill>
          <a:ln/>
        </p:spPr>
        <p:txBody>
          <a:bodyPr/>
          <a:lstStyle/>
          <a:p>
            <a:endParaRPr lang="en-IN"/>
          </a:p>
        </p:txBody>
      </p:sp>
      <p:sp>
        <p:nvSpPr>
          <p:cNvPr id="68" name="Text 66"/>
          <p:cNvSpPr/>
          <p:nvPr/>
        </p:nvSpPr>
        <p:spPr>
          <a:xfrm>
            <a:off x="594360" y="3063240"/>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$5.4B run-rate, +65% YoY</a:t>
            </a:r>
            <a:endParaRPr lang="en-US" sz="850" dirty="0"/>
          </a:p>
        </p:txBody>
      </p:sp>
      <p:sp>
        <p:nvSpPr>
          <p:cNvPr id="69" name="Shape 67"/>
          <p:cNvSpPr/>
          <p:nvPr/>
        </p:nvSpPr>
        <p:spPr>
          <a:xfrm>
            <a:off x="3264408" y="2496312"/>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70" name="Shape 68"/>
          <p:cNvSpPr/>
          <p:nvPr/>
        </p:nvSpPr>
        <p:spPr>
          <a:xfrm>
            <a:off x="3264408" y="2496312"/>
            <a:ext cx="2624328" cy="36576"/>
          </a:xfrm>
          <a:prstGeom prst="rect">
            <a:avLst/>
          </a:prstGeom>
          <a:solidFill>
            <a:srgbClr val="F59E0B"/>
          </a:solidFill>
          <a:ln/>
        </p:spPr>
        <p:txBody>
          <a:bodyPr/>
          <a:lstStyle/>
          <a:p>
            <a:endParaRPr lang="en-IN"/>
          </a:p>
        </p:txBody>
      </p:sp>
      <p:sp>
        <p:nvSpPr>
          <p:cNvPr id="71" name="Text 69"/>
          <p:cNvSpPr/>
          <p:nvPr/>
        </p:nvSpPr>
        <p:spPr>
          <a:xfrm>
            <a:off x="3401568" y="2569464"/>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AI-102 → AI-103</a:t>
            </a:r>
            <a:endParaRPr lang="en-US" sz="1200" dirty="0"/>
          </a:p>
        </p:txBody>
      </p:sp>
      <p:sp>
        <p:nvSpPr>
          <p:cNvPr id="72" name="Shape 70"/>
          <p:cNvSpPr/>
          <p:nvPr/>
        </p:nvSpPr>
        <p:spPr>
          <a:xfrm>
            <a:off x="5138928" y="2606040"/>
            <a:ext cx="685800" cy="219456"/>
          </a:xfrm>
          <a:prstGeom prst="roundRect">
            <a:avLst>
              <a:gd name="adj" fmla="val 50000"/>
            </a:avLst>
          </a:prstGeom>
          <a:solidFill>
            <a:srgbClr val="F59E0B"/>
          </a:solidFill>
          <a:ln/>
        </p:spPr>
        <p:txBody>
          <a:bodyPr/>
          <a:lstStyle/>
          <a:p>
            <a:endParaRPr lang="en-IN"/>
          </a:p>
        </p:txBody>
      </p:sp>
      <p:sp>
        <p:nvSpPr>
          <p:cNvPr id="73" name="Text 71"/>
          <p:cNvSpPr/>
          <p:nvPr/>
        </p:nvSpPr>
        <p:spPr>
          <a:xfrm>
            <a:off x="5138928" y="2606040"/>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74" name="Shape 72"/>
          <p:cNvSpPr/>
          <p:nvPr/>
        </p:nvSpPr>
        <p:spPr>
          <a:xfrm>
            <a:off x="3401568" y="2907792"/>
            <a:ext cx="2331720" cy="109728"/>
          </a:xfrm>
          <a:prstGeom prst="rect">
            <a:avLst/>
          </a:prstGeom>
          <a:solidFill>
            <a:srgbClr val="F1F5F9"/>
          </a:solidFill>
          <a:ln/>
        </p:spPr>
        <p:txBody>
          <a:bodyPr/>
          <a:lstStyle/>
          <a:p>
            <a:endParaRPr lang="en-IN"/>
          </a:p>
        </p:txBody>
      </p:sp>
      <p:sp>
        <p:nvSpPr>
          <p:cNvPr id="75" name="Shape 73"/>
          <p:cNvSpPr/>
          <p:nvPr/>
        </p:nvSpPr>
        <p:spPr>
          <a:xfrm>
            <a:off x="3401568" y="2907792"/>
            <a:ext cx="1865376" cy="109728"/>
          </a:xfrm>
          <a:prstGeom prst="rect">
            <a:avLst/>
          </a:prstGeom>
          <a:solidFill>
            <a:srgbClr val="F59E0B"/>
          </a:solidFill>
          <a:ln/>
        </p:spPr>
        <p:txBody>
          <a:bodyPr/>
          <a:lstStyle/>
          <a:p>
            <a:endParaRPr lang="en-IN"/>
          </a:p>
        </p:txBody>
      </p:sp>
      <p:sp>
        <p:nvSpPr>
          <p:cNvPr id="76" name="Text 74"/>
          <p:cNvSpPr/>
          <p:nvPr/>
        </p:nvSpPr>
        <p:spPr>
          <a:xfrm>
            <a:off x="3401568" y="3063240"/>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Retiring Jun 2026 — AI-103 replaces</a:t>
            </a:r>
            <a:endParaRPr lang="en-US" sz="850" dirty="0"/>
          </a:p>
        </p:txBody>
      </p:sp>
      <p:sp>
        <p:nvSpPr>
          <p:cNvPr id="77" name="Shape 75"/>
          <p:cNvSpPr/>
          <p:nvPr/>
        </p:nvSpPr>
        <p:spPr>
          <a:xfrm>
            <a:off x="6071616" y="2496312"/>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78" name="Shape 76"/>
          <p:cNvSpPr/>
          <p:nvPr/>
        </p:nvSpPr>
        <p:spPr>
          <a:xfrm>
            <a:off x="6071616" y="2496312"/>
            <a:ext cx="2624328" cy="36576"/>
          </a:xfrm>
          <a:prstGeom prst="rect">
            <a:avLst/>
          </a:prstGeom>
          <a:solidFill>
            <a:srgbClr val="F59E0B"/>
          </a:solidFill>
          <a:ln/>
        </p:spPr>
        <p:txBody>
          <a:bodyPr/>
          <a:lstStyle/>
          <a:p>
            <a:endParaRPr lang="en-IN"/>
          </a:p>
        </p:txBody>
      </p:sp>
      <p:sp>
        <p:nvSpPr>
          <p:cNvPr id="79" name="Text 77"/>
          <p:cNvSpPr/>
          <p:nvPr/>
        </p:nvSpPr>
        <p:spPr>
          <a:xfrm>
            <a:off x="6208776" y="2569464"/>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DP-600 (Fabric AE)</a:t>
            </a:r>
            <a:endParaRPr lang="en-US" sz="1200" dirty="0"/>
          </a:p>
        </p:txBody>
      </p:sp>
      <p:sp>
        <p:nvSpPr>
          <p:cNvPr id="80" name="Shape 78"/>
          <p:cNvSpPr/>
          <p:nvPr/>
        </p:nvSpPr>
        <p:spPr>
          <a:xfrm>
            <a:off x="7946136" y="2606040"/>
            <a:ext cx="685800" cy="219456"/>
          </a:xfrm>
          <a:prstGeom prst="roundRect">
            <a:avLst>
              <a:gd name="adj" fmla="val 50000"/>
            </a:avLst>
          </a:prstGeom>
          <a:solidFill>
            <a:srgbClr val="F59E0B"/>
          </a:solidFill>
          <a:ln/>
        </p:spPr>
        <p:txBody>
          <a:bodyPr/>
          <a:lstStyle/>
          <a:p>
            <a:endParaRPr lang="en-IN"/>
          </a:p>
        </p:txBody>
      </p:sp>
      <p:sp>
        <p:nvSpPr>
          <p:cNvPr id="81" name="Text 79"/>
          <p:cNvSpPr/>
          <p:nvPr/>
        </p:nvSpPr>
        <p:spPr>
          <a:xfrm>
            <a:off x="7946136" y="2606040"/>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RISING</a:t>
            </a:r>
            <a:endParaRPr lang="en-US" sz="900" dirty="0"/>
          </a:p>
        </p:txBody>
      </p:sp>
      <p:sp>
        <p:nvSpPr>
          <p:cNvPr id="82" name="Shape 80"/>
          <p:cNvSpPr/>
          <p:nvPr/>
        </p:nvSpPr>
        <p:spPr>
          <a:xfrm>
            <a:off x="6208776" y="2907792"/>
            <a:ext cx="2331720" cy="109728"/>
          </a:xfrm>
          <a:prstGeom prst="rect">
            <a:avLst/>
          </a:prstGeom>
          <a:solidFill>
            <a:srgbClr val="F1F5F9"/>
          </a:solidFill>
          <a:ln/>
        </p:spPr>
        <p:txBody>
          <a:bodyPr/>
          <a:lstStyle/>
          <a:p>
            <a:endParaRPr lang="en-IN"/>
          </a:p>
        </p:txBody>
      </p:sp>
      <p:sp>
        <p:nvSpPr>
          <p:cNvPr id="83" name="Shape 81"/>
          <p:cNvSpPr/>
          <p:nvPr/>
        </p:nvSpPr>
        <p:spPr>
          <a:xfrm>
            <a:off x="6208776" y="2907792"/>
            <a:ext cx="1818742" cy="109728"/>
          </a:xfrm>
          <a:prstGeom prst="rect">
            <a:avLst/>
          </a:prstGeom>
          <a:solidFill>
            <a:srgbClr val="F59E0B"/>
          </a:solidFill>
          <a:ln/>
        </p:spPr>
        <p:txBody>
          <a:bodyPr/>
          <a:lstStyle/>
          <a:p>
            <a:endParaRPr lang="en-IN"/>
          </a:p>
        </p:txBody>
      </p:sp>
      <p:sp>
        <p:nvSpPr>
          <p:cNvPr id="84" name="Text 82"/>
          <p:cNvSpPr/>
          <p:nvPr/>
        </p:nvSpPr>
        <p:spPr>
          <a:xfrm>
            <a:off x="6208776" y="3063240"/>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Fastest-growing role-based cert</a:t>
            </a:r>
            <a:endParaRPr lang="en-US" sz="850" dirty="0"/>
          </a:p>
        </p:txBody>
      </p:sp>
      <p:sp>
        <p:nvSpPr>
          <p:cNvPr id="85" name="Shape 83"/>
          <p:cNvSpPr/>
          <p:nvPr/>
        </p:nvSpPr>
        <p:spPr>
          <a:xfrm>
            <a:off x="457200" y="3575304"/>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86" name="Shape 84"/>
          <p:cNvSpPr/>
          <p:nvPr/>
        </p:nvSpPr>
        <p:spPr>
          <a:xfrm>
            <a:off x="457200" y="3575304"/>
            <a:ext cx="2624328" cy="36576"/>
          </a:xfrm>
          <a:prstGeom prst="rect">
            <a:avLst/>
          </a:prstGeom>
          <a:solidFill>
            <a:srgbClr val="16A34A"/>
          </a:solidFill>
          <a:ln/>
        </p:spPr>
        <p:txBody>
          <a:bodyPr/>
          <a:lstStyle/>
          <a:p>
            <a:endParaRPr lang="en-IN"/>
          </a:p>
        </p:txBody>
      </p:sp>
      <p:sp>
        <p:nvSpPr>
          <p:cNvPr id="87" name="Text 85"/>
          <p:cNvSpPr/>
          <p:nvPr/>
        </p:nvSpPr>
        <p:spPr>
          <a:xfrm>
            <a:off x="594360" y="3648456"/>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PL-300 (Power BI)</a:t>
            </a:r>
            <a:endParaRPr lang="en-US" sz="1200" dirty="0"/>
          </a:p>
        </p:txBody>
      </p:sp>
      <p:sp>
        <p:nvSpPr>
          <p:cNvPr id="88" name="Shape 86"/>
          <p:cNvSpPr/>
          <p:nvPr/>
        </p:nvSpPr>
        <p:spPr>
          <a:xfrm>
            <a:off x="2331720" y="3685032"/>
            <a:ext cx="685800" cy="219456"/>
          </a:xfrm>
          <a:prstGeom prst="roundRect">
            <a:avLst>
              <a:gd name="adj" fmla="val 50000"/>
            </a:avLst>
          </a:prstGeom>
          <a:solidFill>
            <a:srgbClr val="16A34A"/>
          </a:solidFill>
          <a:ln/>
        </p:spPr>
        <p:txBody>
          <a:bodyPr/>
          <a:lstStyle/>
          <a:p>
            <a:endParaRPr lang="en-IN"/>
          </a:p>
        </p:txBody>
      </p:sp>
      <p:sp>
        <p:nvSpPr>
          <p:cNvPr id="89" name="Text 87"/>
          <p:cNvSpPr/>
          <p:nvPr/>
        </p:nvSpPr>
        <p:spPr>
          <a:xfrm>
            <a:off x="2331720" y="3685032"/>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STABLE-HIGH</a:t>
            </a:r>
            <a:endParaRPr lang="en-US" sz="900" dirty="0"/>
          </a:p>
        </p:txBody>
      </p:sp>
      <p:sp>
        <p:nvSpPr>
          <p:cNvPr id="90" name="Shape 88"/>
          <p:cNvSpPr/>
          <p:nvPr/>
        </p:nvSpPr>
        <p:spPr>
          <a:xfrm>
            <a:off x="594360" y="3986784"/>
            <a:ext cx="2331720" cy="109728"/>
          </a:xfrm>
          <a:prstGeom prst="rect">
            <a:avLst/>
          </a:prstGeom>
          <a:solidFill>
            <a:srgbClr val="F1F5F9"/>
          </a:solidFill>
          <a:ln/>
        </p:spPr>
        <p:txBody>
          <a:bodyPr/>
          <a:lstStyle/>
          <a:p>
            <a:endParaRPr lang="en-IN"/>
          </a:p>
        </p:txBody>
      </p:sp>
      <p:sp>
        <p:nvSpPr>
          <p:cNvPr id="91" name="Shape 89"/>
          <p:cNvSpPr/>
          <p:nvPr/>
        </p:nvSpPr>
        <p:spPr>
          <a:xfrm>
            <a:off x="594360" y="3986784"/>
            <a:ext cx="1632204" cy="109728"/>
          </a:xfrm>
          <a:prstGeom prst="rect">
            <a:avLst/>
          </a:prstGeom>
          <a:solidFill>
            <a:srgbClr val="16A34A"/>
          </a:solidFill>
          <a:ln/>
        </p:spPr>
        <p:txBody>
          <a:bodyPr/>
          <a:lstStyle/>
          <a:p>
            <a:endParaRPr lang="en-IN"/>
          </a:p>
        </p:txBody>
      </p:sp>
      <p:sp>
        <p:nvSpPr>
          <p:cNvPr id="92" name="Text 90"/>
          <p:cNvSpPr/>
          <p:nvPr/>
        </p:nvSpPr>
        <p:spPr>
          <a:xfrm>
            <a:off x="594360" y="4142232"/>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Microsoft #1 in Gartner BI MQ (18yr)</a:t>
            </a:r>
            <a:endParaRPr lang="en-US" sz="850" dirty="0"/>
          </a:p>
        </p:txBody>
      </p:sp>
      <p:sp>
        <p:nvSpPr>
          <p:cNvPr id="93" name="Shape 91"/>
          <p:cNvSpPr/>
          <p:nvPr/>
        </p:nvSpPr>
        <p:spPr>
          <a:xfrm>
            <a:off x="3264408" y="3575304"/>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94" name="Shape 92"/>
          <p:cNvSpPr/>
          <p:nvPr/>
        </p:nvSpPr>
        <p:spPr>
          <a:xfrm>
            <a:off x="3264408" y="3575304"/>
            <a:ext cx="2624328" cy="36576"/>
          </a:xfrm>
          <a:prstGeom prst="rect">
            <a:avLst/>
          </a:prstGeom>
          <a:solidFill>
            <a:srgbClr val="16A34A"/>
          </a:solidFill>
          <a:ln/>
        </p:spPr>
        <p:txBody>
          <a:bodyPr/>
          <a:lstStyle/>
          <a:p>
            <a:endParaRPr lang="en-IN"/>
          </a:p>
        </p:txBody>
      </p:sp>
      <p:sp>
        <p:nvSpPr>
          <p:cNvPr id="95" name="Text 93"/>
          <p:cNvSpPr/>
          <p:nvPr/>
        </p:nvSpPr>
        <p:spPr>
          <a:xfrm>
            <a:off x="3401568" y="3648456"/>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DP-300 (Azure DBA)</a:t>
            </a:r>
            <a:endParaRPr lang="en-US" sz="1200" dirty="0"/>
          </a:p>
        </p:txBody>
      </p:sp>
      <p:sp>
        <p:nvSpPr>
          <p:cNvPr id="96" name="Shape 94"/>
          <p:cNvSpPr/>
          <p:nvPr/>
        </p:nvSpPr>
        <p:spPr>
          <a:xfrm>
            <a:off x="5138928" y="3685032"/>
            <a:ext cx="685800" cy="219456"/>
          </a:xfrm>
          <a:prstGeom prst="roundRect">
            <a:avLst>
              <a:gd name="adj" fmla="val 50000"/>
            </a:avLst>
          </a:prstGeom>
          <a:solidFill>
            <a:srgbClr val="16A34A"/>
          </a:solidFill>
          <a:ln/>
        </p:spPr>
        <p:txBody>
          <a:bodyPr/>
          <a:lstStyle/>
          <a:p>
            <a:endParaRPr lang="en-IN"/>
          </a:p>
        </p:txBody>
      </p:sp>
      <p:sp>
        <p:nvSpPr>
          <p:cNvPr id="97" name="Text 95"/>
          <p:cNvSpPr/>
          <p:nvPr/>
        </p:nvSpPr>
        <p:spPr>
          <a:xfrm>
            <a:off x="5138928" y="3685032"/>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STABLE</a:t>
            </a:r>
            <a:endParaRPr lang="en-US" sz="900" dirty="0"/>
          </a:p>
        </p:txBody>
      </p:sp>
      <p:sp>
        <p:nvSpPr>
          <p:cNvPr id="98" name="Shape 96"/>
          <p:cNvSpPr/>
          <p:nvPr/>
        </p:nvSpPr>
        <p:spPr>
          <a:xfrm>
            <a:off x="3401568" y="3986784"/>
            <a:ext cx="2331720" cy="109728"/>
          </a:xfrm>
          <a:prstGeom prst="rect">
            <a:avLst/>
          </a:prstGeom>
          <a:solidFill>
            <a:srgbClr val="F1F5F9"/>
          </a:solidFill>
          <a:ln/>
        </p:spPr>
        <p:txBody>
          <a:bodyPr/>
          <a:lstStyle/>
          <a:p>
            <a:endParaRPr lang="en-IN"/>
          </a:p>
        </p:txBody>
      </p:sp>
      <p:sp>
        <p:nvSpPr>
          <p:cNvPr id="99" name="Shape 97"/>
          <p:cNvSpPr/>
          <p:nvPr/>
        </p:nvSpPr>
        <p:spPr>
          <a:xfrm>
            <a:off x="3401568" y="3986784"/>
            <a:ext cx="1399032" cy="109728"/>
          </a:xfrm>
          <a:prstGeom prst="rect">
            <a:avLst/>
          </a:prstGeom>
          <a:solidFill>
            <a:srgbClr val="16A34A"/>
          </a:solidFill>
          <a:ln/>
        </p:spPr>
        <p:txBody>
          <a:bodyPr/>
          <a:lstStyle/>
          <a:p>
            <a:endParaRPr lang="en-IN"/>
          </a:p>
        </p:txBody>
      </p:sp>
      <p:sp>
        <p:nvSpPr>
          <p:cNvPr id="100" name="Text 98"/>
          <p:cNvSpPr/>
          <p:nvPr/>
        </p:nvSpPr>
        <p:spPr>
          <a:xfrm>
            <a:off x="3401568" y="4142232"/>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Steady enterprise DBA demand</a:t>
            </a:r>
            <a:endParaRPr lang="en-US" sz="850" dirty="0"/>
          </a:p>
        </p:txBody>
      </p:sp>
      <p:sp>
        <p:nvSpPr>
          <p:cNvPr id="101" name="Shape 99"/>
          <p:cNvSpPr/>
          <p:nvPr/>
        </p:nvSpPr>
        <p:spPr>
          <a:xfrm>
            <a:off x="6071616" y="3575304"/>
            <a:ext cx="2624328" cy="960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102" name="Shape 100"/>
          <p:cNvSpPr/>
          <p:nvPr/>
        </p:nvSpPr>
        <p:spPr>
          <a:xfrm>
            <a:off x="6071616" y="3575304"/>
            <a:ext cx="2624328" cy="36576"/>
          </a:xfrm>
          <a:prstGeom prst="rect">
            <a:avLst/>
          </a:prstGeom>
          <a:solidFill>
            <a:srgbClr val="16A34A"/>
          </a:solidFill>
          <a:ln/>
        </p:spPr>
        <p:txBody>
          <a:bodyPr/>
          <a:lstStyle/>
          <a:p>
            <a:endParaRPr lang="en-IN"/>
          </a:p>
        </p:txBody>
      </p:sp>
      <p:sp>
        <p:nvSpPr>
          <p:cNvPr id="103" name="Text 101"/>
          <p:cNvSpPr/>
          <p:nvPr/>
        </p:nvSpPr>
        <p:spPr>
          <a:xfrm>
            <a:off x="6208776" y="3648456"/>
            <a:ext cx="1828800" cy="292608"/>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SQL Server 2025</a:t>
            </a:r>
            <a:endParaRPr lang="en-US" sz="1200" dirty="0"/>
          </a:p>
        </p:txBody>
      </p:sp>
      <p:sp>
        <p:nvSpPr>
          <p:cNvPr id="104" name="Shape 102"/>
          <p:cNvSpPr/>
          <p:nvPr/>
        </p:nvSpPr>
        <p:spPr>
          <a:xfrm>
            <a:off x="7946136" y="3685032"/>
            <a:ext cx="685800" cy="219456"/>
          </a:xfrm>
          <a:prstGeom prst="roundRect">
            <a:avLst>
              <a:gd name="adj" fmla="val 50000"/>
            </a:avLst>
          </a:prstGeom>
          <a:solidFill>
            <a:srgbClr val="16A34A"/>
          </a:solidFill>
          <a:ln/>
        </p:spPr>
        <p:txBody>
          <a:bodyPr/>
          <a:lstStyle/>
          <a:p>
            <a:endParaRPr lang="en-IN"/>
          </a:p>
        </p:txBody>
      </p:sp>
      <p:sp>
        <p:nvSpPr>
          <p:cNvPr id="105" name="Text 103"/>
          <p:cNvSpPr/>
          <p:nvPr/>
        </p:nvSpPr>
        <p:spPr>
          <a:xfrm>
            <a:off x="7946136" y="3685032"/>
            <a:ext cx="6858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STABLE-HIGH</a:t>
            </a:r>
            <a:endParaRPr lang="en-US" sz="900" dirty="0"/>
          </a:p>
        </p:txBody>
      </p:sp>
      <p:sp>
        <p:nvSpPr>
          <p:cNvPr id="106" name="Shape 104"/>
          <p:cNvSpPr/>
          <p:nvPr/>
        </p:nvSpPr>
        <p:spPr>
          <a:xfrm>
            <a:off x="6208776" y="3986784"/>
            <a:ext cx="2331720" cy="109728"/>
          </a:xfrm>
          <a:prstGeom prst="rect">
            <a:avLst/>
          </a:prstGeom>
          <a:solidFill>
            <a:srgbClr val="F1F5F9"/>
          </a:solidFill>
          <a:ln/>
        </p:spPr>
        <p:txBody>
          <a:bodyPr/>
          <a:lstStyle/>
          <a:p>
            <a:endParaRPr lang="en-IN"/>
          </a:p>
        </p:txBody>
      </p:sp>
      <p:sp>
        <p:nvSpPr>
          <p:cNvPr id="107" name="Shape 105"/>
          <p:cNvSpPr/>
          <p:nvPr/>
        </p:nvSpPr>
        <p:spPr>
          <a:xfrm>
            <a:off x="6208776" y="3986784"/>
            <a:ext cx="1585570" cy="109728"/>
          </a:xfrm>
          <a:prstGeom prst="rect">
            <a:avLst/>
          </a:prstGeom>
          <a:solidFill>
            <a:srgbClr val="16A34A"/>
          </a:solidFill>
          <a:ln/>
        </p:spPr>
        <p:txBody>
          <a:bodyPr/>
          <a:lstStyle/>
          <a:p>
            <a:endParaRPr lang="en-IN"/>
          </a:p>
        </p:txBody>
      </p:sp>
      <p:sp>
        <p:nvSpPr>
          <p:cNvPr id="108" name="Text 106"/>
          <p:cNvSpPr/>
          <p:nvPr/>
        </p:nvSpPr>
        <p:spPr>
          <a:xfrm>
            <a:off x="6208776" y="4142232"/>
            <a:ext cx="2377440" cy="36576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AI-ready DB: vector search, DiskANN</a:t>
            </a:r>
            <a:endParaRPr lang="en-US" sz="850" dirty="0"/>
          </a:p>
        </p:txBody>
      </p:sp>
      <p:sp>
        <p:nvSpPr>
          <p:cNvPr id="109" name="Text 107"/>
          <p:cNvSpPr/>
          <p:nvPr/>
        </p:nvSpPr>
        <p:spPr>
          <a:xfrm>
            <a:off x="457200" y="4617720"/>
            <a:ext cx="8229600" cy="228600"/>
          </a:xfrm>
          <a:prstGeom prst="rect">
            <a:avLst/>
          </a:prstGeom>
          <a:noFill/>
          <a:ln/>
        </p:spPr>
        <p:txBody>
          <a:bodyPr wrap="square" rtlCol="0" anchor="ctr"/>
          <a:lstStyle/>
          <a:p>
            <a:pPr marL="0" indent="0" algn="ctr">
              <a:buNone/>
            </a:pPr>
            <a:r>
              <a:rPr lang="en-US" sz="800" i="1" dirty="0">
                <a:solidFill>
                  <a:srgbClr val="6B7280"/>
                </a:solidFill>
                <a:latin typeface="Calibri" pitchFamily="34" charset="0"/>
                <a:ea typeface="Calibri" pitchFamily="34" charset="-122"/>
                <a:cs typeface="Calibri" pitchFamily="34" charset="-120"/>
              </a:rPr>
              <a:t>Sources: Gartner, Microsoft FY26 Q1, VentureBeat, Databricks, Microsoft Learn (2025–2026)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06  CURRENT vs REQUIRED SKILLS</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Competency gap matrix with business priority</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10</a:t>
            </a:r>
            <a:endParaRPr lang="en-US" sz="900" dirty="0"/>
          </a:p>
        </p:txBody>
      </p:sp>
      <p:sp>
        <p:nvSpPr>
          <p:cNvPr id="37" name="Shape 35"/>
          <p:cNvSpPr/>
          <p:nvPr/>
        </p:nvSpPr>
        <p:spPr>
          <a:xfrm>
            <a:off x="457200" y="1371600"/>
            <a:ext cx="8229600" cy="365760"/>
          </a:xfrm>
          <a:prstGeom prst="rect">
            <a:avLst/>
          </a:prstGeom>
          <a:solidFill>
            <a:srgbClr val="0F172A"/>
          </a:solidFill>
          <a:ln/>
        </p:spPr>
        <p:txBody>
          <a:bodyPr/>
          <a:lstStyle/>
          <a:p>
            <a:endParaRPr lang="en-IN"/>
          </a:p>
        </p:txBody>
      </p:sp>
      <p:sp>
        <p:nvSpPr>
          <p:cNvPr id="38" name="Text 36"/>
          <p:cNvSpPr/>
          <p:nvPr/>
        </p:nvSpPr>
        <p:spPr>
          <a:xfrm>
            <a:off x="566928" y="1371600"/>
            <a:ext cx="2084832" cy="365760"/>
          </a:xfrm>
          <a:prstGeom prst="rect">
            <a:avLst/>
          </a:prstGeom>
          <a:noFill/>
          <a:ln/>
        </p:spPr>
        <p:txBody>
          <a:bodyPr wrap="square"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Technology</a:t>
            </a:r>
            <a:endParaRPr lang="en-US" sz="1000" dirty="0"/>
          </a:p>
        </p:txBody>
      </p:sp>
      <p:sp>
        <p:nvSpPr>
          <p:cNvPr id="39" name="Text 37"/>
          <p:cNvSpPr/>
          <p:nvPr/>
        </p:nvSpPr>
        <p:spPr>
          <a:xfrm>
            <a:off x="2761488" y="1371600"/>
            <a:ext cx="1261872" cy="365760"/>
          </a:xfrm>
          <a:prstGeom prst="rect">
            <a:avLst/>
          </a:prstGeom>
          <a:noFill/>
          <a:ln/>
        </p:spPr>
        <p:txBody>
          <a:bodyPr wrap="square"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Current</a:t>
            </a:r>
            <a:endParaRPr lang="en-US" sz="1000" dirty="0"/>
          </a:p>
        </p:txBody>
      </p:sp>
      <p:sp>
        <p:nvSpPr>
          <p:cNvPr id="40" name="Text 38"/>
          <p:cNvSpPr/>
          <p:nvPr/>
        </p:nvSpPr>
        <p:spPr>
          <a:xfrm>
            <a:off x="4133088" y="1371600"/>
            <a:ext cx="1261872" cy="365760"/>
          </a:xfrm>
          <a:prstGeom prst="rect">
            <a:avLst/>
          </a:prstGeom>
          <a:noFill/>
          <a:ln/>
        </p:spPr>
        <p:txBody>
          <a:bodyPr wrap="square"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Target</a:t>
            </a:r>
            <a:endParaRPr lang="en-US" sz="1000" dirty="0"/>
          </a:p>
        </p:txBody>
      </p:sp>
      <p:sp>
        <p:nvSpPr>
          <p:cNvPr id="41" name="Text 39"/>
          <p:cNvSpPr/>
          <p:nvPr/>
        </p:nvSpPr>
        <p:spPr>
          <a:xfrm>
            <a:off x="5504688" y="1371600"/>
            <a:ext cx="1261872" cy="365760"/>
          </a:xfrm>
          <a:prstGeom prst="rect">
            <a:avLst/>
          </a:prstGeom>
          <a:noFill/>
          <a:ln/>
        </p:spPr>
        <p:txBody>
          <a:bodyPr wrap="square"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Demand</a:t>
            </a:r>
            <a:endParaRPr lang="en-US" sz="1000" dirty="0"/>
          </a:p>
        </p:txBody>
      </p:sp>
      <p:sp>
        <p:nvSpPr>
          <p:cNvPr id="42" name="Text 40"/>
          <p:cNvSpPr/>
          <p:nvPr/>
        </p:nvSpPr>
        <p:spPr>
          <a:xfrm>
            <a:off x="6876288" y="1371600"/>
            <a:ext cx="1810512" cy="365760"/>
          </a:xfrm>
          <a:prstGeom prst="rect">
            <a:avLst/>
          </a:prstGeom>
          <a:noFill/>
          <a:ln/>
        </p:spPr>
        <p:txBody>
          <a:bodyPr wrap="square"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Priority</a:t>
            </a:r>
            <a:endParaRPr lang="en-US" sz="1000" dirty="0"/>
          </a:p>
        </p:txBody>
      </p:sp>
      <p:sp>
        <p:nvSpPr>
          <p:cNvPr id="43" name="Shape 41"/>
          <p:cNvSpPr/>
          <p:nvPr/>
        </p:nvSpPr>
        <p:spPr>
          <a:xfrm>
            <a:off x="457200" y="1783080"/>
            <a:ext cx="8229600" cy="329184"/>
          </a:xfrm>
          <a:prstGeom prst="rect">
            <a:avLst/>
          </a:prstGeom>
          <a:solidFill>
            <a:srgbClr val="FFFFFF"/>
          </a:solidFill>
          <a:ln w="3810">
            <a:solidFill>
              <a:srgbClr val="E5E7EB"/>
            </a:solidFill>
            <a:prstDash val="solid"/>
          </a:ln>
        </p:spPr>
        <p:txBody>
          <a:bodyPr/>
          <a:lstStyle/>
          <a:p>
            <a:endParaRPr lang="en-IN"/>
          </a:p>
        </p:txBody>
      </p:sp>
      <p:sp>
        <p:nvSpPr>
          <p:cNvPr id="44" name="Text 42"/>
          <p:cNvSpPr/>
          <p:nvPr/>
        </p:nvSpPr>
        <p:spPr>
          <a:xfrm>
            <a:off x="566928" y="1783080"/>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DP-700 / Fabric DE</a:t>
            </a:r>
            <a:endParaRPr lang="en-US" sz="1100" dirty="0"/>
          </a:p>
        </p:txBody>
      </p:sp>
      <p:sp>
        <p:nvSpPr>
          <p:cNvPr id="45" name="Shape 43"/>
          <p:cNvSpPr/>
          <p:nvPr/>
        </p:nvSpPr>
        <p:spPr>
          <a:xfrm>
            <a:off x="2880360" y="1837944"/>
            <a:ext cx="914400" cy="219456"/>
          </a:xfrm>
          <a:prstGeom prst="roundRect">
            <a:avLst>
              <a:gd name="adj" fmla="val 50000"/>
            </a:avLst>
          </a:prstGeom>
          <a:solidFill>
            <a:srgbClr val="DC2626"/>
          </a:solidFill>
          <a:ln/>
        </p:spPr>
        <p:txBody>
          <a:bodyPr/>
          <a:lstStyle/>
          <a:p>
            <a:endParaRPr lang="en-IN"/>
          </a:p>
        </p:txBody>
      </p:sp>
      <p:sp>
        <p:nvSpPr>
          <p:cNvPr id="46" name="Text 44"/>
          <p:cNvSpPr/>
          <p:nvPr/>
        </p:nvSpPr>
        <p:spPr>
          <a:xfrm>
            <a:off x="2880360" y="183794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47" name="Shape 45"/>
          <p:cNvSpPr/>
          <p:nvPr/>
        </p:nvSpPr>
        <p:spPr>
          <a:xfrm>
            <a:off x="4251960" y="1837944"/>
            <a:ext cx="914400" cy="219456"/>
          </a:xfrm>
          <a:prstGeom prst="roundRect">
            <a:avLst>
              <a:gd name="adj" fmla="val 50000"/>
            </a:avLst>
          </a:prstGeom>
          <a:solidFill>
            <a:srgbClr val="16A34A"/>
          </a:solidFill>
          <a:ln/>
        </p:spPr>
        <p:txBody>
          <a:bodyPr/>
          <a:lstStyle/>
          <a:p>
            <a:endParaRPr lang="en-IN"/>
          </a:p>
        </p:txBody>
      </p:sp>
      <p:sp>
        <p:nvSpPr>
          <p:cNvPr id="48" name="Text 46"/>
          <p:cNvSpPr/>
          <p:nvPr/>
        </p:nvSpPr>
        <p:spPr>
          <a:xfrm>
            <a:off x="4251960" y="183794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9" name="Shape 47"/>
          <p:cNvSpPr/>
          <p:nvPr/>
        </p:nvSpPr>
        <p:spPr>
          <a:xfrm>
            <a:off x="5623560" y="1837944"/>
            <a:ext cx="914400" cy="219456"/>
          </a:xfrm>
          <a:prstGeom prst="roundRect">
            <a:avLst>
              <a:gd name="adj" fmla="val 50000"/>
            </a:avLst>
          </a:prstGeom>
          <a:solidFill>
            <a:srgbClr val="16A34A"/>
          </a:solidFill>
          <a:ln/>
        </p:spPr>
        <p:txBody>
          <a:bodyPr/>
          <a:lstStyle/>
          <a:p>
            <a:endParaRPr lang="en-IN"/>
          </a:p>
        </p:txBody>
      </p:sp>
      <p:sp>
        <p:nvSpPr>
          <p:cNvPr id="50" name="Text 48"/>
          <p:cNvSpPr/>
          <p:nvPr/>
        </p:nvSpPr>
        <p:spPr>
          <a:xfrm>
            <a:off x="5623560" y="183794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51" name="Shape 49"/>
          <p:cNvSpPr/>
          <p:nvPr/>
        </p:nvSpPr>
        <p:spPr>
          <a:xfrm>
            <a:off x="7132320" y="1837944"/>
            <a:ext cx="1188720" cy="219456"/>
          </a:xfrm>
          <a:prstGeom prst="roundRect">
            <a:avLst>
              <a:gd name="adj" fmla="val 50000"/>
            </a:avLst>
          </a:prstGeom>
          <a:solidFill>
            <a:srgbClr val="DC2626"/>
          </a:solidFill>
          <a:ln/>
        </p:spPr>
        <p:txBody>
          <a:bodyPr/>
          <a:lstStyle/>
          <a:p>
            <a:endParaRPr lang="en-IN"/>
          </a:p>
        </p:txBody>
      </p:sp>
      <p:sp>
        <p:nvSpPr>
          <p:cNvPr id="52" name="Text 50"/>
          <p:cNvSpPr/>
          <p:nvPr/>
        </p:nvSpPr>
        <p:spPr>
          <a:xfrm>
            <a:off x="7132320" y="1837944"/>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P0 — IMMEDIATE</a:t>
            </a:r>
            <a:endParaRPr lang="en-US" sz="900" dirty="0"/>
          </a:p>
        </p:txBody>
      </p:sp>
      <p:sp>
        <p:nvSpPr>
          <p:cNvPr id="53" name="Shape 51"/>
          <p:cNvSpPr/>
          <p:nvPr/>
        </p:nvSpPr>
        <p:spPr>
          <a:xfrm>
            <a:off x="457200" y="2112264"/>
            <a:ext cx="8229600" cy="329184"/>
          </a:xfrm>
          <a:prstGeom prst="rect">
            <a:avLst/>
          </a:prstGeom>
          <a:solidFill>
            <a:srgbClr val="F8FAFC"/>
          </a:solidFill>
          <a:ln w="3810">
            <a:solidFill>
              <a:srgbClr val="E5E7EB"/>
            </a:solidFill>
            <a:prstDash val="solid"/>
          </a:ln>
        </p:spPr>
        <p:txBody>
          <a:bodyPr/>
          <a:lstStyle/>
          <a:p>
            <a:endParaRPr lang="en-IN"/>
          </a:p>
        </p:txBody>
      </p:sp>
      <p:sp>
        <p:nvSpPr>
          <p:cNvPr id="54" name="Text 52"/>
          <p:cNvSpPr/>
          <p:nvPr/>
        </p:nvSpPr>
        <p:spPr>
          <a:xfrm>
            <a:off x="566928" y="2112264"/>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AI-102 / AI-103</a:t>
            </a:r>
            <a:endParaRPr lang="en-US" sz="1100" dirty="0"/>
          </a:p>
        </p:txBody>
      </p:sp>
      <p:sp>
        <p:nvSpPr>
          <p:cNvPr id="55" name="Shape 53"/>
          <p:cNvSpPr/>
          <p:nvPr/>
        </p:nvSpPr>
        <p:spPr>
          <a:xfrm>
            <a:off x="2880360" y="2167128"/>
            <a:ext cx="914400" cy="219456"/>
          </a:xfrm>
          <a:prstGeom prst="roundRect">
            <a:avLst>
              <a:gd name="adj" fmla="val 50000"/>
            </a:avLst>
          </a:prstGeom>
          <a:solidFill>
            <a:srgbClr val="F59E0B"/>
          </a:solidFill>
          <a:ln/>
        </p:spPr>
        <p:txBody>
          <a:bodyPr/>
          <a:lstStyle/>
          <a:p>
            <a:endParaRPr lang="en-IN"/>
          </a:p>
        </p:txBody>
      </p:sp>
      <p:sp>
        <p:nvSpPr>
          <p:cNvPr id="56" name="Text 54"/>
          <p:cNvSpPr/>
          <p:nvPr/>
        </p:nvSpPr>
        <p:spPr>
          <a:xfrm>
            <a:off x="2880360" y="216712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57" name="Shape 55"/>
          <p:cNvSpPr/>
          <p:nvPr/>
        </p:nvSpPr>
        <p:spPr>
          <a:xfrm>
            <a:off x="4251960" y="2167128"/>
            <a:ext cx="914400" cy="219456"/>
          </a:xfrm>
          <a:prstGeom prst="roundRect">
            <a:avLst>
              <a:gd name="adj" fmla="val 50000"/>
            </a:avLst>
          </a:prstGeom>
          <a:solidFill>
            <a:srgbClr val="16A34A"/>
          </a:solidFill>
          <a:ln/>
        </p:spPr>
        <p:txBody>
          <a:bodyPr/>
          <a:lstStyle/>
          <a:p>
            <a:endParaRPr lang="en-IN"/>
          </a:p>
        </p:txBody>
      </p:sp>
      <p:sp>
        <p:nvSpPr>
          <p:cNvPr id="58" name="Text 56"/>
          <p:cNvSpPr/>
          <p:nvPr/>
        </p:nvSpPr>
        <p:spPr>
          <a:xfrm>
            <a:off x="4251960" y="216712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59" name="Shape 57"/>
          <p:cNvSpPr/>
          <p:nvPr/>
        </p:nvSpPr>
        <p:spPr>
          <a:xfrm>
            <a:off x="5623560" y="2167128"/>
            <a:ext cx="914400" cy="219456"/>
          </a:xfrm>
          <a:prstGeom prst="roundRect">
            <a:avLst>
              <a:gd name="adj" fmla="val 50000"/>
            </a:avLst>
          </a:prstGeom>
          <a:solidFill>
            <a:srgbClr val="16A34A"/>
          </a:solidFill>
          <a:ln/>
        </p:spPr>
        <p:txBody>
          <a:bodyPr/>
          <a:lstStyle/>
          <a:p>
            <a:endParaRPr lang="en-IN"/>
          </a:p>
        </p:txBody>
      </p:sp>
      <p:sp>
        <p:nvSpPr>
          <p:cNvPr id="60" name="Text 58"/>
          <p:cNvSpPr/>
          <p:nvPr/>
        </p:nvSpPr>
        <p:spPr>
          <a:xfrm>
            <a:off x="5623560" y="216712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61" name="Shape 59"/>
          <p:cNvSpPr/>
          <p:nvPr/>
        </p:nvSpPr>
        <p:spPr>
          <a:xfrm>
            <a:off x="7132320" y="2167128"/>
            <a:ext cx="1188720" cy="219456"/>
          </a:xfrm>
          <a:prstGeom prst="roundRect">
            <a:avLst>
              <a:gd name="adj" fmla="val 50000"/>
            </a:avLst>
          </a:prstGeom>
          <a:solidFill>
            <a:srgbClr val="DC2626"/>
          </a:solidFill>
          <a:ln/>
        </p:spPr>
        <p:txBody>
          <a:bodyPr/>
          <a:lstStyle/>
          <a:p>
            <a:endParaRPr lang="en-IN"/>
          </a:p>
        </p:txBody>
      </p:sp>
      <p:sp>
        <p:nvSpPr>
          <p:cNvPr id="62" name="Text 60"/>
          <p:cNvSpPr/>
          <p:nvPr/>
        </p:nvSpPr>
        <p:spPr>
          <a:xfrm>
            <a:off x="7132320" y="2167128"/>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P0 — IMMEDIATE</a:t>
            </a:r>
            <a:endParaRPr lang="en-US" sz="900" dirty="0"/>
          </a:p>
        </p:txBody>
      </p:sp>
      <p:sp>
        <p:nvSpPr>
          <p:cNvPr id="63" name="Shape 61"/>
          <p:cNvSpPr/>
          <p:nvPr/>
        </p:nvSpPr>
        <p:spPr>
          <a:xfrm>
            <a:off x="457200" y="2441448"/>
            <a:ext cx="8229600" cy="329184"/>
          </a:xfrm>
          <a:prstGeom prst="rect">
            <a:avLst/>
          </a:prstGeom>
          <a:solidFill>
            <a:srgbClr val="FFFFFF"/>
          </a:solidFill>
          <a:ln w="3810">
            <a:solidFill>
              <a:srgbClr val="E5E7EB"/>
            </a:solidFill>
            <a:prstDash val="solid"/>
          </a:ln>
        </p:spPr>
        <p:txBody>
          <a:bodyPr/>
          <a:lstStyle/>
          <a:p>
            <a:endParaRPr lang="en-IN"/>
          </a:p>
        </p:txBody>
      </p:sp>
      <p:sp>
        <p:nvSpPr>
          <p:cNvPr id="64" name="Text 62"/>
          <p:cNvSpPr/>
          <p:nvPr/>
        </p:nvSpPr>
        <p:spPr>
          <a:xfrm>
            <a:off x="566928" y="2441448"/>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Azure AI Foundry</a:t>
            </a:r>
            <a:endParaRPr lang="en-US" sz="1100" dirty="0"/>
          </a:p>
        </p:txBody>
      </p:sp>
      <p:sp>
        <p:nvSpPr>
          <p:cNvPr id="65" name="Shape 63"/>
          <p:cNvSpPr/>
          <p:nvPr/>
        </p:nvSpPr>
        <p:spPr>
          <a:xfrm>
            <a:off x="2880360" y="2496312"/>
            <a:ext cx="914400" cy="219456"/>
          </a:xfrm>
          <a:prstGeom prst="roundRect">
            <a:avLst>
              <a:gd name="adj" fmla="val 50000"/>
            </a:avLst>
          </a:prstGeom>
          <a:solidFill>
            <a:srgbClr val="DC2626"/>
          </a:solidFill>
          <a:ln/>
        </p:spPr>
        <p:txBody>
          <a:bodyPr/>
          <a:lstStyle/>
          <a:p>
            <a:endParaRPr lang="en-IN"/>
          </a:p>
        </p:txBody>
      </p:sp>
      <p:sp>
        <p:nvSpPr>
          <p:cNvPr id="66" name="Text 64"/>
          <p:cNvSpPr/>
          <p:nvPr/>
        </p:nvSpPr>
        <p:spPr>
          <a:xfrm>
            <a:off x="2880360" y="249631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67" name="Shape 65"/>
          <p:cNvSpPr/>
          <p:nvPr/>
        </p:nvSpPr>
        <p:spPr>
          <a:xfrm>
            <a:off x="4251960" y="2496312"/>
            <a:ext cx="914400" cy="219456"/>
          </a:xfrm>
          <a:prstGeom prst="roundRect">
            <a:avLst>
              <a:gd name="adj" fmla="val 50000"/>
            </a:avLst>
          </a:prstGeom>
          <a:solidFill>
            <a:srgbClr val="16A34A"/>
          </a:solidFill>
          <a:ln/>
        </p:spPr>
        <p:txBody>
          <a:bodyPr/>
          <a:lstStyle/>
          <a:p>
            <a:endParaRPr lang="en-IN"/>
          </a:p>
        </p:txBody>
      </p:sp>
      <p:sp>
        <p:nvSpPr>
          <p:cNvPr id="68" name="Text 66"/>
          <p:cNvSpPr/>
          <p:nvPr/>
        </p:nvSpPr>
        <p:spPr>
          <a:xfrm>
            <a:off x="4251960" y="249631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69" name="Shape 67"/>
          <p:cNvSpPr/>
          <p:nvPr/>
        </p:nvSpPr>
        <p:spPr>
          <a:xfrm>
            <a:off x="5623560" y="2496312"/>
            <a:ext cx="914400" cy="219456"/>
          </a:xfrm>
          <a:prstGeom prst="roundRect">
            <a:avLst>
              <a:gd name="adj" fmla="val 50000"/>
            </a:avLst>
          </a:prstGeom>
          <a:solidFill>
            <a:srgbClr val="16A34A"/>
          </a:solidFill>
          <a:ln/>
        </p:spPr>
        <p:txBody>
          <a:bodyPr/>
          <a:lstStyle/>
          <a:p>
            <a:endParaRPr lang="en-IN"/>
          </a:p>
        </p:txBody>
      </p:sp>
      <p:sp>
        <p:nvSpPr>
          <p:cNvPr id="70" name="Text 68"/>
          <p:cNvSpPr/>
          <p:nvPr/>
        </p:nvSpPr>
        <p:spPr>
          <a:xfrm>
            <a:off x="5623560" y="249631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71" name="Shape 69"/>
          <p:cNvSpPr/>
          <p:nvPr/>
        </p:nvSpPr>
        <p:spPr>
          <a:xfrm>
            <a:off x="7132320" y="2496312"/>
            <a:ext cx="1188720" cy="219456"/>
          </a:xfrm>
          <a:prstGeom prst="roundRect">
            <a:avLst>
              <a:gd name="adj" fmla="val 50000"/>
            </a:avLst>
          </a:prstGeom>
          <a:solidFill>
            <a:srgbClr val="DC2626"/>
          </a:solidFill>
          <a:ln/>
        </p:spPr>
        <p:txBody>
          <a:bodyPr/>
          <a:lstStyle/>
          <a:p>
            <a:endParaRPr lang="en-IN"/>
          </a:p>
        </p:txBody>
      </p:sp>
      <p:sp>
        <p:nvSpPr>
          <p:cNvPr id="72" name="Text 70"/>
          <p:cNvSpPr/>
          <p:nvPr/>
        </p:nvSpPr>
        <p:spPr>
          <a:xfrm>
            <a:off x="7132320" y="2496312"/>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P0 — IMMEDIATE</a:t>
            </a:r>
            <a:endParaRPr lang="en-US" sz="900" dirty="0"/>
          </a:p>
        </p:txBody>
      </p:sp>
      <p:sp>
        <p:nvSpPr>
          <p:cNvPr id="73" name="Shape 71"/>
          <p:cNvSpPr/>
          <p:nvPr/>
        </p:nvSpPr>
        <p:spPr>
          <a:xfrm>
            <a:off x="457200" y="2770632"/>
            <a:ext cx="8229600" cy="329184"/>
          </a:xfrm>
          <a:prstGeom prst="rect">
            <a:avLst/>
          </a:prstGeom>
          <a:solidFill>
            <a:srgbClr val="F8FAFC"/>
          </a:solidFill>
          <a:ln w="3810">
            <a:solidFill>
              <a:srgbClr val="E5E7EB"/>
            </a:solidFill>
            <a:prstDash val="solid"/>
          </a:ln>
        </p:spPr>
        <p:txBody>
          <a:bodyPr/>
          <a:lstStyle/>
          <a:p>
            <a:endParaRPr lang="en-IN"/>
          </a:p>
        </p:txBody>
      </p:sp>
      <p:sp>
        <p:nvSpPr>
          <p:cNvPr id="74" name="Text 72"/>
          <p:cNvSpPr/>
          <p:nvPr/>
        </p:nvSpPr>
        <p:spPr>
          <a:xfrm>
            <a:off x="566928" y="2770632"/>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Agentic AI</a:t>
            </a:r>
            <a:endParaRPr lang="en-US" sz="1100" dirty="0"/>
          </a:p>
        </p:txBody>
      </p:sp>
      <p:sp>
        <p:nvSpPr>
          <p:cNvPr id="75" name="Shape 73"/>
          <p:cNvSpPr/>
          <p:nvPr/>
        </p:nvSpPr>
        <p:spPr>
          <a:xfrm>
            <a:off x="2880360" y="2825496"/>
            <a:ext cx="914400" cy="219456"/>
          </a:xfrm>
          <a:prstGeom prst="roundRect">
            <a:avLst>
              <a:gd name="adj" fmla="val 50000"/>
            </a:avLst>
          </a:prstGeom>
          <a:solidFill>
            <a:srgbClr val="DC2626"/>
          </a:solidFill>
          <a:ln/>
        </p:spPr>
        <p:txBody>
          <a:bodyPr/>
          <a:lstStyle/>
          <a:p>
            <a:endParaRPr lang="en-IN"/>
          </a:p>
        </p:txBody>
      </p:sp>
      <p:sp>
        <p:nvSpPr>
          <p:cNvPr id="76" name="Text 74"/>
          <p:cNvSpPr/>
          <p:nvPr/>
        </p:nvSpPr>
        <p:spPr>
          <a:xfrm>
            <a:off x="2880360" y="2825496"/>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77" name="Shape 75"/>
          <p:cNvSpPr/>
          <p:nvPr/>
        </p:nvSpPr>
        <p:spPr>
          <a:xfrm>
            <a:off x="4251960" y="2825496"/>
            <a:ext cx="914400" cy="219456"/>
          </a:xfrm>
          <a:prstGeom prst="roundRect">
            <a:avLst>
              <a:gd name="adj" fmla="val 50000"/>
            </a:avLst>
          </a:prstGeom>
          <a:solidFill>
            <a:srgbClr val="16A34A"/>
          </a:solidFill>
          <a:ln/>
        </p:spPr>
        <p:txBody>
          <a:bodyPr/>
          <a:lstStyle/>
          <a:p>
            <a:endParaRPr lang="en-IN"/>
          </a:p>
        </p:txBody>
      </p:sp>
      <p:sp>
        <p:nvSpPr>
          <p:cNvPr id="78" name="Text 76"/>
          <p:cNvSpPr/>
          <p:nvPr/>
        </p:nvSpPr>
        <p:spPr>
          <a:xfrm>
            <a:off x="4251960" y="2825496"/>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79" name="Shape 77"/>
          <p:cNvSpPr/>
          <p:nvPr/>
        </p:nvSpPr>
        <p:spPr>
          <a:xfrm>
            <a:off x="5623560" y="2825496"/>
            <a:ext cx="914400" cy="219456"/>
          </a:xfrm>
          <a:prstGeom prst="roundRect">
            <a:avLst>
              <a:gd name="adj" fmla="val 50000"/>
            </a:avLst>
          </a:prstGeom>
          <a:solidFill>
            <a:srgbClr val="16A34A"/>
          </a:solidFill>
          <a:ln/>
        </p:spPr>
        <p:txBody>
          <a:bodyPr/>
          <a:lstStyle/>
          <a:p>
            <a:endParaRPr lang="en-IN"/>
          </a:p>
        </p:txBody>
      </p:sp>
      <p:sp>
        <p:nvSpPr>
          <p:cNvPr id="80" name="Text 78"/>
          <p:cNvSpPr/>
          <p:nvPr/>
        </p:nvSpPr>
        <p:spPr>
          <a:xfrm>
            <a:off x="5623560" y="2825496"/>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81" name="Shape 79"/>
          <p:cNvSpPr/>
          <p:nvPr/>
        </p:nvSpPr>
        <p:spPr>
          <a:xfrm>
            <a:off x="7132320" y="2825496"/>
            <a:ext cx="1188720" cy="219456"/>
          </a:xfrm>
          <a:prstGeom prst="roundRect">
            <a:avLst>
              <a:gd name="adj" fmla="val 50000"/>
            </a:avLst>
          </a:prstGeom>
          <a:solidFill>
            <a:srgbClr val="DC2626"/>
          </a:solidFill>
          <a:ln/>
        </p:spPr>
        <p:txBody>
          <a:bodyPr/>
          <a:lstStyle/>
          <a:p>
            <a:endParaRPr lang="en-IN"/>
          </a:p>
        </p:txBody>
      </p:sp>
      <p:sp>
        <p:nvSpPr>
          <p:cNvPr id="82" name="Text 80"/>
          <p:cNvSpPr/>
          <p:nvPr/>
        </p:nvSpPr>
        <p:spPr>
          <a:xfrm>
            <a:off x="7132320" y="2825496"/>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P0 — IMMEDIATE</a:t>
            </a:r>
            <a:endParaRPr lang="en-US" sz="900" dirty="0"/>
          </a:p>
        </p:txBody>
      </p:sp>
      <p:sp>
        <p:nvSpPr>
          <p:cNvPr id="83" name="Shape 81"/>
          <p:cNvSpPr/>
          <p:nvPr/>
        </p:nvSpPr>
        <p:spPr>
          <a:xfrm>
            <a:off x="457200" y="3099816"/>
            <a:ext cx="8229600" cy="329184"/>
          </a:xfrm>
          <a:prstGeom prst="rect">
            <a:avLst/>
          </a:prstGeom>
          <a:solidFill>
            <a:srgbClr val="FFFFFF"/>
          </a:solidFill>
          <a:ln w="3810">
            <a:solidFill>
              <a:srgbClr val="E5E7EB"/>
            </a:solidFill>
            <a:prstDash val="solid"/>
          </a:ln>
        </p:spPr>
        <p:txBody>
          <a:bodyPr/>
          <a:lstStyle/>
          <a:p>
            <a:endParaRPr lang="en-IN"/>
          </a:p>
        </p:txBody>
      </p:sp>
      <p:sp>
        <p:nvSpPr>
          <p:cNvPr id="84" name="Text 82"/>
          <p:cNvSpPr/>
          <p:nvPr/>
        </p:nvSpPr>
        <p:spPr>
          <a:xfrm>
            <a:off x="566928" y="3099816"/>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Databricks</a:t>
            </a:r>
            <a:endParaRPr lang="en-US" sz="1100" dirty="0"/>
          </a:p>
        </p:txBody>
      </p:sp>
      <p:sp>
        <p:nvSpPr>
          <p:cNvPr id="85" name="Shape 83"/>
          <p:cNvSpPr/>
          <p:nvPr/>
        </p:nvSpPr>
        <p:spPr>
          <a:xfrm>
            <a:off x="2880360" y="3154680"/>
            <a:ext cx="914400" cy="219456"/>
          </a:xfrm>
          <a:prstGeom prst="roundRect">
            <a:avLst>
              <a:gd name="adj" fmla="val 50000"/>
            </a:avLst>
          </a:prstGeom>
          <a:solidFill>
            <a:srgbClr val="DC2626"/>
          </a:solidFill>
          <a:ln/>
        </p:spPr>
        <p:txBody>
          <a:bodyPr/>
          <a:lstStyle/>
          <a:p>
            <a:endParaRPr lang="en-IN"/>
          </a:p>
        </p:txBody>
      </p:sp>
      <p:sp>
        <p:nvSpPr>
          <p:cNvPr id="86" name="Text 84"/>
          <p:cNvSpPr/>
          <p:nvPr/>
        </p:nvSpPr>
        <p:spPr>
          <a:xfrm>
            <a:off x="2880360" y="3154680"/>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87" name="Shape 85"/>
          <p:cNvSpPr/>
          <p:nvPr/>
        </p:nvSpPr>
        <p:spPr>
          <a:xfrm>
            <a:off x="4251960" y="3154680"/>
            <a:ext cx="914400" cy="219456"/>
          </a:xfrm>
          <a:prstGeom prst="roundRect">
            <a:avLst>
              <a:gd name="adj" fmla="val 50000"/>
            </a:avLst>
          </a:prstGeom>
          <a:solidFill>
            <a:srgbClr val="F59E0B"/>
          </a:solidFill>
          <a:ln/>
        </p:spPr>
        <p:txBody>
          <a:bodyPr/>
          <a:lstStyle/>
          <a:p>
            <a:endParaRPr lang="en-IN"/>
          </a:p>
        </p:txBody>
      </p:sp>
      <p:sp>
        <p:nvSpPr>
          <p:cNvPr id="88" name="Text 86"/>
          <p:cNvSpPr/>
          <p:nvPr/>
        </p:nvSpPr>
        <p:spPr>
          <a:xfrm>
            <a:off x="4251960" y="3154680"/>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89" name="Shape 87"/>
          <p:cNvSpPr/>
          <p:nvPr/>
        </p:nvSpPr>
        <p:spPr>
          <a:xfrm>
            <a:off x="5623560" y="3154680"/>
            <a:ext cx="914400" cy="219456"/>
          </a:xfrm>
          <a:prstGeom prst="roundRect">
            <a:avLst>
              <a:gd name="adj" fmla="val 50000"/>
            </a:avLst>
          </a:prstGeom>
          <a:solidFill>
            <a:srgbClr val="16A34A"/>
          </a:solidFill>
          <a:ln/>
        </p:spPr>
        <p:txBody>
          <a:bodyPr/>
          <a:lstStyle/>
          <a:p>
            <a:endParaRPr lang="en-IN"/>
          </a:p>
        </p:txBody>
      </p:sp>
      <p:sp>
        <p:nvSpPr>
          <p:cNvPr id="90" name="Text 88"/>
          <p:cNvSpPr/>
          <p:nvPr/>
        </p:nvSpPr>
        <p:spPr>
          <a:xfrm>
            <a:off x="5623560" y="3154680"/>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91" name="Shape 89"/>
          <p:cNvSpPr/>
          <p:nvPr/>
        </p:nvSpPr>
        <p:spPr>
          <a:xfrm>
            <a:off x="7132320" y="3154680"/>
            <a:ext cx="1188720" cy="219456"/>
          </a:xfrm>
          <a:prstGeom prst="roundRect">
            <a:avLst>
              <a:gd name="adj" fmla="val 50000"/>
            </a:avLst>
          </a:prstGeom>
          <a:solidFill>
            <a:srgbClr val="F59E0B"/>
          </a:solidFill>
          <a:ln/>
        </p:spPr>
        <p:txBody>
          <a:bodyPr/>
          <a:lstStyle/>
          <a:p>
            <a:endParaRPr lang="en-IN"/>
          </a:p>
        </p:txBody>
      </p:sp>
      <p:sp>
        <p:nvSpPr>
          <p:cNvPr id="92" name="Text 90"/>
          <p:cNvSpPr/>
          <p:nvPr/>
        </p:nvSpPr>
        <p:spPr>
          <a:xfrm>
            <a:off x="7132320" y="3154680"/>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P1 — THIS CYCLE</a:t>
            </a:r>
            <a:endParaRPr lang="en-US" sz="900" dirty="0"/>
          </a:p>
        </p:txBody>
      </p:sp>
      <p:sp>
        <p:nvSpPr>
          <p:cNvPr id="93" name="Shape 91"/>
          <p:cNvSpPr/>
          <p:nvPr/>
        </p:nvSpPr>
        <p:spPr>
          <a:xfrm>
            <a:off x="457200" y="3429000"/>
            <a:ext cx="8229600" cy="329184"/>
          </a:xfrm>
          <a:prstGeom prst="rect">
            <a:avLst/>
          </a:prstGeom>
          <a:solidFill>
            <a:srgbClr val="F8FAFC"/>
          </a:solidFill>
          <a:ln w="3810">
            <a:solidFill>
              <a:srgbClr val="E5E7EB"/>
            </a:solidFill>
            <a:prstDash val="solid"/>
          </a:ln>
        </p:spPr>
        <p:txBody>
          <a:bodyPr/>
          <a:lstStyle/>
          <a:p>
            <a:endParaRPr lang="en-IN"/>
          </a:p>
        </p:txBody>
      </p:sp>
      <p:sp>
        <p:nvSpPr>
          <p:cNvPr id="94" name="Text 92"/>
          <p:cNvSpPr/>
          <p:nvPr/>
        </p:nvSpPr>
        <p:spPr>
          <a:xfrm>
            <a:off x="566928" y="3429000"/>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DP-600 / Fabric AE</a:t>
            </a:r>
            <a:endParaRPr lang="en-US" sz="1100" dirty="0"/>
          </a:p>
        </p:txBody>
      </p:sp>
      <p:sp>
        <p:nvSpPr>
          <p:cNvPr id="95" name="Shape 93"/>
          <p:cNvSpPr/>
          <p:nvPr/>
        </p:nvSpPr>
        <p:spPr>
          <a:xfrm>
            <a:off x="2880360" y="3483864"/>
            <a:ext cx="914400" cy="219456"/>
          </a:xfrm>
          <a:prstGeom prst="roundRect">
            <a:avLst>
              <a:gd name="adj" fmla="val 50000"/>
            </a:avLst>
          </a:prstGeom>
          <a:solidFill>
            <a:srgbClr val="F59E0B"/>
          </a:solidFill>
          <a:ln/>
        </p:spPr>
        <p:txBody>
          <a:bodyPr/>
          <a:lstStyle/>
          <a:p>
            <a:endParaRPr lang="en-IN"/>
          </a:p>
        </p:txBody>
      </p:sp>
      <p:sp>
        <p:nvSpPr>
          <p:cNvPr id="96" name="Text 94"/>
          <p:cNvSpPr/>
          <p:nvPr/>
        </p:nvSpPr>
        <p:spPr>
          <a:xfrm>
            <a:off x="2880360" y="348386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97" name="Shape 95"/>
          <p:cNvSpPr/>
          <p:nvPr/>
        </p:nvSpPr>
        <p:spPr>
          <a:xfrm>
            <a:off x="4251960" y="3483864"/>
            <a:ext cx="914400" cy="219456"/>
          </a:xfrm>
          <a:prstGeom prst="roundRect">
            <a:avLst>
              <a:gd name="adj" fmla="val 50000"/>
            </a:avLst>
          </a:prstGeom>
          <a:solidFill>
            <a:srgbClr val="16A34A"/>
          </a:solidFill>
          <a:ln/>
        </p:spPr>
        <p:txBody>
          <a:bodyPr/>
          <a:lstStyle/>
          <a:p>
            <a:endParaRPr lang="en-IN"/>
          </a:p>
        </p:txBody>
      </p:sp>
      <p:sp>
        <p:nvSpPr>
          <p:cNvPr id="98" name="Text 96"/>
          <p:cNvSpPr/>
          <p:nvPr/>
        </p:nvSpPr>
        <p:spPr>
          <a:xfrm>
            <a:off x="4251960" y="348386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99" name="Shape 97"/>
          <p:cNvSpPr/>
          <p:nvPr/>
        </p:nvSpPr>
        <p:spPr>
          <a:xfrm>
            <a:off x="5623560" y="3483864"/>
            <a:ext cx="914400" cy="219456"/>
          </a:xfrm>
          <a:prstGeom prst="roundRect">
            <a:avLst>
              <a:gd name="adj" fmla="val 50000"/>
            </a:avLst>
          </a:prstGeom>
          <a:solidFill>
            <a:srgbClr val="16A34A"/>
          </a:solidFill>
          <a:ln/>
        </p:spPr>
        <p:txBody>
          <a:bodyPr/>
          <a:lstStyle/>
          <a:p>
            <a:endParaRPr lang="en-IN"/>
          </a:p>
        </p:txBody>
      </p:sp>
      <p:sp>
        <p:nvSpPr>
          <p:cNvPr id="100" name="Text 98"/>
          <p:cNvSpPr/>
          <p:nvPr/>
        </p:nvSpPr>
        <p:spPr>
          <a:xfrm>
            <a:off x="5623560" y="3483864"/>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1" name="Shape 99"/>
          <p:cNvSpPr/>
          <p:nvPr/>
        </p:nvSpPr>
        <p:spPr>
          <a:xfrm>
            <a:off x="7132320" y="3483864"/>
            <a:ext cx="1188720" cy="219456"/>
          </a:xfrm>
          <a:prstGeom prst="roundRect">
            <a:avLst>
              <a:gd name="adj" fmla="val 50000"/>
            </a:avLst>
          </a:prstGeom>
          <a:solidFill>
            <a:srgbClr val="F59E0B"/>
          </a:solidFill>
          <a:ln/>
        </p:spPr>
        <p:txBody>
          <a:bodyPr/>
          <a:lstStyle/>
          <a:p>
            <a:endParaRPr lang="en-IN"/>
          </a:p>
        </p:txBody>
      </p:sp>
      <p:sp>
        <p:nvSpPr>
          <p:cNvPr id="102" name="Text 100"/>
          <p:cNvSpPr/>
          <p:nvPr/>
        </p:nvSpPr>
        <p:spPr>
          <a:xfrm>
            <a:off x="7132320" y="3483864"/>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P1 — THIS CYCLE</a:t>
            </a:r>
            <a:endParaRPr lang="en-US" sz="900" dirty="0"/>
          </a:p>
        </p:txBody>
      </p:sp>
      <p:sp>
        <p:nvSpPr>
          <p:cNvPr id="103" name="Shape 101"/>
          <p:cNvSpPr/>
          <p:nvPr/>
        </p:nvSpPr>
        <p:spPr>
          <a:xfrm>
            <a:off x="457200" y="3758184"/>
            <a:ext cx="8229600" cy="329184"/>
          </a:xfrm>
          <a:prstGeom prst="rect">
            <a:avLst/>
          </a:prstGeom>
          <a:solidFill>
            <a:srgbClr val="FFFFFF"/>
          </a:solidFill>
          <a:ln w="3810">
            <a:solidFill>
              <a:srgbClr val="E5E7EB"/>
            </a:solidFill>
            <a:prstDash val="solid"/>
          </a:ln>
        </p:spPr>
        <p:txBody>
          <a:bodyPr/>
          <a:lstStyle/>
          <a:p>
            <a:endParaRPr lang="en-IN"/>
          </a:p>
        </p:txBody>
      </p:sp>
      <p:sp>
        <p:nvSpPr>
          <p:cNvPr id="104" name="Text 102"/>
          <p:cNvSpPr/>
          <p:nvPr/>
        </p:nvSpPr>
        <p:spPr>
          <a:xfrm>
            <a:off x="566928" y="3758184"/>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PL-300 / Power BI</a:t>
            </a:r>
            <a:endParaRPr lang="en-US" sz="1100" dirty="0"/>
          </a:p>
        </p:txBody>
      </p:sp>
      <p:sp>
        <p:nvSpPr>
          <p:cNvPr id="105" name="Shape 103"/>
          <p:cNvSpPr/>
          <p:nvPr/>
        </p:nvSpPr>
        <p:spPr>
          <a:xfrm>
            <a:off x="2880360" y="3813048"/>
            <a:ext cx="914400" cy="219456"/>
          </a:xfrm>
          <a:prstGeom prst="roundRect">
            <a:avLst>
              <a:gd name="adj" fmla="val 50000"/>
            </a:avLst>
          </a:prstGeom>
          <a:solidFill>
            <a:srgbClr val="F59E0B"/>
          </a:solidFill>
          <a:ln/>
        </p:spPr>
        <p:txBody>
          <a:bodyPr/>
          <a:lstStyle/>
          <a:p>
            <a:endParaRPr lang="en-IN"/>
          </a:p>
        </p:txBody>
      </p:sp>
      <p:sp>
        <p:nvSpPr>
          <p:cNvPr id="106" name="Text 104"/>
          <p:cNvSpPr/>
          <p:nvPr/>
        </p:nvSpPr>
        <p:spPr>
          <a:xfrm>
            <a:off x="2880360" y="381304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107" name="Shape 105"/>
          <p:cNvSpPr/>
          <p:nvPr/>
        </p:nvSpPr>
        <p:spPr>
          <a:xfrm>
            <a:off x="4251960" y="3813048"/>
            <a:ext cx="914400" cy="219456"/>
          </a:xfrm>
          <a:prstGeom prst="roundRect">
            <a:avLst>
              <a:gd name="adj" fmla="val 50000"/>
            </a:avLst>
          </a:prstGeom>
          <a:solidFill>
            <a:srgbClr val="16A34A"/>
          </a:solidFill>
          <a:ln/>
        </p:spPr>
        <p:txBody>
          <a:bodyPr/>
          <a:lstStyle/>
          <a:p>
            <a:endParaRPr lang="en-IN"/>
          </a:p>
        </p:txBody>
      </p:sp>
      <p:sp>
        <p:nvSpPr>
          <p:cNvPr id="108" name="Text 106"/>
          <p:cNvSpPr/>
          <p:nvPr/>
        </p:nvSpPr>
        <p:spPr>
          <a:xfrm>
            <a:off x="4251960" y="381304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9" name="Shape 107"/>
          <p:cNvSpPr/>
          <p:nvPr/>
        </p:nvSpPr>
        <p:spPr>
          <a:xfrm>
            <a:off x="5623560" y="3813048"/>
            <a:ext cx="914400" cy="219456"/>
          </a:xfrm>
          <a:prstGeom prst="roundRect">
            <a:avLst>
              <a:gd name="adj" fmla="val 50000"/>
            </a:avLst>
          </a:prstGeom>
          <a:solidFill>
            <a:srgbClr val="F59E0B"/>
          </a:solidFill>
          <a:ln/>
        </p:spPr>
        <p:txBody>
          <a:bodyPr/>
          <a:lstStyle/>
          <a:p>
            <a:endParaRPr lang="en-IN"/>
          </a:p>
        </p:txBody>
      </p:sp>
      <p:sp>
        <p:nvSpPr>
          <p:cNvPr id="110" name="Text 108"/>
          <p:cNvSpPr/>
          <p:nvPr/>
        </p:nvSpPr>
        <p:spPr>
          <a:xfrm>
            <a:off x="5623560" y="3813048"/>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111" name="Shape 109"/>
          <p:cNvSpPr/>
          <p:nvPr/>
        </p:nvSpPr>
        <p:spPr>
          <a:xfrm>
            <a:off x="7132320" y="3813048"/>
            <a:ext cx="1188720" cy="219456"/>
          </a:xfrm>
          <a:prstGeom prst="roundRect">
            <a:avLst>
              <a:gd name="adj" fmla="val 50000"/>
            </a:avLst>
          </a:prstGeom>
          <a:solidFill>
            <a:srgbClr val="16A34A"/>
          </a:solidFill>
          <a:ln/>
        </p:spPr>
        <p:txBody>
          <a:bodyPr/>
          <a:lstStyle/>
          <a:p>
            <a:endParaRPr lang="en-IN"/>
          </a:p>
        </p:txBody>
      </p:sp>
      <p:sp>
        <p:nvSpPr>
          <p:cNvPr id="112" name="Text 110"/>
          <p:cNvSpPr/>
          <p:nvPr/>
        </p:nvSpPr>
        <p:spPr>
          <a:xfrm>
            <a:off x="7132320" y="3813048"/>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P2 — NEXT CYCLE</a:t>
            </a:r>
            <a:endParaRPr lang="en-US" sz="900" dirty="0"/>
          </a:p>
        </p:txBody>
      </p:sp>
      <p:sp>
        <p:nvSpPr>
          <p:cNvPr id="113" name="Shape 111"/>
          <p:cNvSpPr/>
          <p:nvPr/>
        </p:nvSpPr>
        <p:spPr>
          <a:xfrm>
            <a:off x="457200" y="4087368"/>
            <a:ext cx="8229600" cy="329184"/>
          </a:xfrm>
          <a:prstGeom prst="rect">
            <a:avLst/>
          </a:prstGeom>
          <a:solidFill>
            <a:srgbClr val="F8FAFC"/>
          </a:solidFill>
          <a:ln w="3810">
            <a:solidFill>
              <a:srgbClr val="E5E7EB"/>
            </a:solidFill>
            <a:prstDash val="solid"/>
          </a:ln>
        </p:spPr>
        <p:txBody>
          <a:bodyPr/>
          <a:lstStyle/>
          <a:p>
            <a:endParaRPr lang="en-IN"/>
          </a:p>
        </p:txBody>
      </p:sp>
      <p:sp>
        <p:nvSpPr>
          <p:cNvPr id="114" name="Text 112"/>
          <p:cNvSpPr/>
          <p:nvPr/>
        </p:nvSpPr>
        <p:spPr>
          <a:xfrm>
            <a:off x="566928" y="4087368"/>
            <a:ext cx="2084832" cy="329184"/>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DP-300 / SQL DBA</a:t>
            </a:r>
            <a:endParaRPr lang="en-US" sz="1100" dirty="0"/>
          </a:p>
        </p:txBody>
      </p:sp>
      <p:sp>
        <p:nvSpPr>
          <p:cNvPr id="115" name="Shape 113"/>
          <p:cNvSpPr/>
          <p:nvPr/>
        </p:nvSpPr>
        <p:spPr>
          <a:xfrm>
            <a:off x="2880360" y="4142232"/>
            <a:ext cx="914400" cy="219456"/>
          </a:xfrm>
          <a:prstGeom prst="roundRect">
            <a:avLst>
              <a:gd name="adj" fmla="val 50000"/>
            </a:avLst>
          </a:prstGeom>
          <a:solidFill>
            <a:srgbClr val="F59E0B"/>
          </a:solidFill>
          <a:ln/>
        </p:spPr>
        <p:txBody>
          <a:bodyPr/>
          <a:lstStyle/>
          <a:p>
            <a:endParaRPr lang="en-IN"/>
          </a:p>
        </p:txBody>
      </p:sp>
      <p:sp>
        <p:nvSpPr>
          <p:cNvPr id="116" name="Text 114"/>
          <p:cNvSpPr/>
          <p:nvPr/>
        </p:nvSpPr>
        <p:spPr>
          <a:xfrm>
            <a:off x="2880360" y="414223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117" name="Shape 115"/>
          <p:cNvSpPr/>
          <p:nvPr/>
        </p:nvSpPr>
        <p:spPr>
          <a:xfrm>
            <a:off x="4251960" y="4142232"/>
            <a:ext cx="914400" cy="219456"/>
          </a:xfrm>
          <a:prstGeom prst="roundRect">
            <a:avLst>
              <a:gd name="adj" fmla="val 50000"/>
            </a:avLst>
          </a:prstGeom>
          <a:solidFill>
            <a:srgbClr val="16A34A"/>
          </a:solidFill>
          <a:ln/>
        </p:spPr>
        <p:txBody>
          <a:bodyPr/>
          <a:lstStyle/>
          <a:p>
            <a:endParaRPr lang="en-IN"/>
          </a:p>
        </p:txBody>
      </p:sp>
      <p:sp>
        <p:nvSpPr>
          <p:cNvPr id="118" name="Text 116"/>
          <p:cNvSpPr/>
          <p:nvPr/>
        </p:nvSpPr>
        <p:spPr>
          <a:xfrm>
            <a:off x="4251960" y="414223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19" name="Shape 117"/>
          <p:cNvSpPr/>
          <p:nvPr/>
        </p:nvSpPr>
        <p:spPr>
          <a:xfrm>
            <a:off x="5623560" y="4142232"/>
            <a:ext cx="914400" cy="219456"/>
          </a:xfrm>
          <a:prstGeom prst="roundRect">
            <a:avLst>
              <a:gd name="adj" fmla="val 50000"/>
            </a:avLst>
          </a:prstGeom>
          <a:solidFill>
            <a:srgbClr val="F59E0B"/>
          </a:solidFill>
          <a:ln/>
        </p:spPr>
        <p:txBody>
          <a:bodyPr/>
          <a:lstStyle/>
          <a:p>
            <a:endParaRPr lang="en-IN"/>
          </a:p>
        </p:txBody>
      </p:sp>
      <p:sp>
        <p:nvSpPr>
          <p:cNvPr id="120" name="Text 118"/>
          <p:cNvSpPr/>
          <p:nvPr/>
        </p:nvSpPr>
        <p:spPr>
          <a:xfrm>
            <a:off x="5623560" y="4142232"/>
            <a:ext cx="91440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121" name="Shape 119"/>
          <p:cNvSpPr/>
          <p:nvPr/>
        </p:nvSpPr>
        <p:spPr>
          <a:xfrm>
            <a:off x="7132320" y="4142232"/>
            <a:ext cx="1188720" cy="219456"/>
          </a:xfrm>
          <a:prstGeom prst="roundRect">
            <a:avLst>
              <a:gd name="adj" fmla="val 50000"/>
            </a:avLst>
          </a:prstGeom>
          <a:solidFill>
            <a:srgbClr val="16A34A"/>
          </a:solidFill>
          <a:ln/>
        </p:spPr>
        <p:txBody>
          <a:bodyPr/>
          <a:lstStyle/>
          <a:p>
            <a:endParaRPr lang="en-IN"/>
          </a:p>
        </p:txBody>
      </p:sp>
      <p:sp>
        <p:nvSpPr>
          <p:cNvPr id="122" name="Text 120"/>
          <p:cNvSpPr/>
          <p:nvPr/>
        </p:nvSpPr>
        <p:spPr>
          <a:xfrm>
            <a:off x="7132320" y="4142232"/>
            <a:ext cx="11887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P2 — NEXT CYCLE</a:t>
            </a:r>
            <a:endParaRPr lang="en-US" sz="900" dirty="0"/>
          </a:p>
        </p:txBody>
      </p:sp>
      <p:sp>
        <p:nvSpPr>
          <p:cNvPr id="123" name="Text 121"/>
          <p:cNvSpPr/>
          <p:nvPr/>
        </p:nvSpPr>
        <p:spPr>
          <a:xfrm>
            <a:off x="457200" y="4572000"/>
            <a:ext cx="8229600" cy="274320"/>
          </a:xfrm>
          <a:prstGeom prst="rect">
            <a:avLst/>
          </a:prstGeom>
          <a:noFill/>
          <a:ln/>
        </p:spPr>
        <p:txBody>
          <a:bodyPr wrap="square" rtlCol="0" anchor="ctr"/>
          <a:lstStyle/>
          <a:p>
            <a:pPr marL="0" indent="0" algn="ctr">
              <a:buNone/>
            </a:pPr>
            <a:r>
              <a:rPr lang="en-US" sz="1100" b="1" i="1" dirty="0">
                <a:solidFill>
                  <a:srgbClr val="0F172A"/>
                </a:solidFill>
                <a:latin typeface="Calibri" pitchFamily="34" charset="0"/>
                <a:ea typeface="Calibri" pitchFamily="34" charset="-122"/>
                <a:cs typeface="Calibri" pitchFamily="34" charset="-120"/>
              </a:rPr>
              <a:t>P0 items must show measurable progress within 30 days.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07  DELIVERY READINESS LIFECYCLE</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What 'ready' actually means</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10</a:t>
            </a:r>
            <a:endParaRPr lang="en-US" sz="900" dirty="0"/>
          </a:p>
        </p:txBody>
      </p:sp>
      <p:sp>
        <p:nvSpPr>
          <p:cNvPr id="37" name="Shape 35"/>
          <p:cNvSpPr/>
          <p:nvPr/>
        </p:nvSpPr>
        <p:spPr>
          <a:xfrm>
            <a:off x="365760" y="1691640"/>
            <a:ext cx="1325880" cy="914400"/>
          </a:xfrm>
          <a:prstGeom prst="rect">
            <a:avLst/>
          </a:prstGeom>
          <a:solidFill>
            <a:srgbClr val="1E3A8A"/>
          </a:solidFill>
          <a:ln/>
        </p:spPr>
        <p:txBody>
          <a:bodyPr/>
          <a:lstStyle/>
          <a:p>
            <a:endParaRPr lang="en-IN"/>
          </a:p>
        </p:txBody>
      </p:sp>
      <p:sp>
        <p:nvSpPr>
          <p:cNvPr id="38" name="Shape 36"/>
          <p:cNvSpPr/>
          <p:nvPr/>
        </p:nvSpPr>
        <p:spPr>
          <a:xfrm rot="5400000">
            <a:off x="1696212" y="2011680"/>
            <a:ext cx="109728" cy="274320"/>
          </a:xfrm>
          <a:prstGeom prst="triangle">
            <a:avLst/>
          </a:prstGeom>
          <a:solidFill>
            <a:srgbClr val="6B7280"/>
          </a:solidFill>
          <a:ln/>
        </p:spPr>
        <p:txBody>
          <a:bodyPr/>
          <a:lstStyle/>
          <a:p>
            <a:endParaRPr lang="en-IN"/>
          </a:p>
        </p:txBody>
      </p:sp>
      <p:sp>
        <p:nvSpPr>
          <p:cNvPr id="39" name="Text 37"/>
          <p:cNvSpPr/>
          <p:nvPr/>
        </p:nvSpPr>
        <p:spPr>
          <a:xfrm>
            <a:off x="457200"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01</a:t>
            </a:r>
            <a:endParaRPr lang="en-US" sz="1000" dirty="0"/>
          </a:p>
        </p:txBody>
      </p:sp>
      <p:sp>
        <p:nvSpPr>
          <p:cNvPr id="40" name="Text 38"/>
          <p:cNvSpPr/>
          <p:nvPr/>
        </p:nvSpPr>
        <p:spPr>
          <a:xfrm>
            <a:off x="457200"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Learning</a:t>
            </a:r>
            <a:endParaRPr lang="en-US" sz="1300" dirty="0"/>
          </a:p>
        </p:txBody>
      </p:sp>
      <p:sp>
        <p:nvSpPr>
          <p:cNvPr id="41" name="Text 39"/>
          <p:cNvSpPr/>
          <p:nvPr/>
        </p:nvSpPr>
        <p:spPr>
          <a:xfrm>
            <a:off x="457200"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Curated MS Learn paths</a:t>
            </a:r>
            <a:endParaRPr lang="en-US" sz="900" dirty="0"/>
          </a:p>
        </p:txBody>
      </p:sp>
      <p:sp>
        <p:nvSpPr>
          <p:cNvPr id="42" name="Shape 40"/>
          <p:cNvSpPr/>
          <p:nvPr/>
        </p:nvSpPr>
        <p:spPr>
          <a:xfrm>
            <a:off x="1810512" y="1691640"/>
            <a:ext cx="1325880" cy="914400"/>
          </a:xfrm>
          <a:prstGeom prst="rect">
            <a:avLst/>
          </a:prstGeom>
          <a:solidFill>
            <a:srgbClr val="1E3A8A"/>
          </a:solidFill>
          <a:ln/>
        </p:spPr>
        <p:txBody>
          <a:bodyPr/>
          <a:lstStyle/>
          <a:p>
            <a:endParaRPr lang="en-IN"/>
          </a:p>
        </p:txBody>
      </p:sp>
      <p:sp>
        <p:nvSpPr>
          <p:cNvPr id="43" name="Shape 41"/>
          <p:cNvSpPr/>
          <p:nvPr/>
        </p:nvSpPr>
        <p:spPr>
          <a:xfrm rot="5400000">
            <a:off x="3140964" y="2011680"/>
            <a:ext cx="109728" cy="274320"/>
          </a:xfrm>
          <a:prstGeom prst="triangle">
            <a:avLst/>
          </a:prstGeom>
          <a:solidFill>
            <a:srgbClr val="6B7280"/>
          </a:solidFill>
          <a:ln/>
        </p:spPr>
        <p:txBody>
          <a:bodyPr/>
          <a:lstStyle/>
          <a:p>
            <a:endParaRPr lang="en-IN"/>
          </a:p>
        </p:txBody>
      </p:sp>
      <p:sp>
        <p:nvSpPr>
          <p:cNvPr id="44" name="Text 42"/>
          <p:cNvSpPr/>
          <p:nvPr/>
        </p:nvSpPr>
        <p:spPr>
          <a:xfrm>
            <a:off x="1901952"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02</a:t>
            </a:r>
            <a:endParaRPr lang="en-US" sz="1000" dirty="0"/>
          </a:p>
        </p:txBody>
      </p:sp>
      <p:sp>
        <p:nvSpPr>
          <p:cNvPr id="45" name="Text 43"/>
          <p:cNvSpPr/>
          <p:nvPr/>
        </p:nvSpPr>
        <p:spPr>
          <a:xfrm>
            <a:off x="1901952"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Labs</a:t>
            </a:r>
            <a:endParaRPr lang="en-US" sz="1300" dirty="0"/>
          </a:p>
        </p:txBody>
      </p:sp>
      <p:sp>
        <p:nvSpPr>
          <p:cNvPr id="46" name="Text 44"/>
          <p:cNvSpPr/>
          <p:nvPr/>
        </p:nvSpPr>
        <p:spPr>
          <a:xfrm>
            <a:off x="1901952"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Hands-on practice</a:t>
            </a:r>
            <a:endParaRPr lang="en-US" sz="900" dirty="0"/>
          </a:p>
        </p:txBody>
      </p:sp>
      <p:sp>
        <p:nvSpPr>
          <p:cNvPr id="47" name="Shape 45"/>
          <p:cNvSpPr/>
          <p:nvPr/>
        </p:nvSpPr>
        <p:spPr>
          <a:xfrm>
            <a:off x="3255264" y="1691640"/>
            <a:ext cx="1325880" cy="914400"/>
          </a:xfrm>
          <a:prstGeom prst="rect">
            <a:avLst/>
          </a:prstGeom>
          <a:solidFill>
            <a:srgbClr val="1E3A8A"/>
          </a:solidFill>
          <a:ln/>
        </p:spPr>
        <p:txBody>
          <a:bodyPr/>
          <a:lstStyle/>
          <a:p>
            <a:endParaRPr lang="en-IN"/>
          </a:p>
        </p:txBody>
      </p:sp>
      <p:sp>
        <p:nvSpPr>
          <p:cNvPr id="48" name="Shape 46"/>
          <p:cNvSpPr/>
          <p:nvPr/>
        </p:nvSpPr>
        <p:spPr>
          <a:xfrm rot="5400000">
            <a:off x="4585716" y="2011680"/>
            <a:ext cx="109728" cy="274320"/>
          </a:xfrm>
          <a:prstGeom prst="triangle">
            <a:avLst/>
          </a:prstGeom>
          <a:solidFill>
            <a:srgbClr val="6B7280"/>
          </a:solidFill>
          <a:ln/>
        </p:spPr>
        <p:txBody>
          <a:bodyPr/>
          <a:lstStyle/>
          <a:p>
            <a:endParaRPr lang="en-IN"/>
          </a:p>
        </p:txBody>
      </p:sp>
      <p:sp>
        <p:nvSpPr>
          <p:cNvPr id="49" name="Text 47"/>
          <p:cNvSpPr/>
          <p:nvPr/>
        </p:nvSpPr>
        <p:spPr>
          <a:xfrm>
            <a:off x="3346704"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03</a:t>
            </a:r>
            <a:endParaRPr lang="en-US" sz="1000" dirty="0"/>
          </a:p>
        </p:txBody>
      </p:sp>
      <p:sp>
        <p:nvSpPr>
          <p:cNvPr id="50" name="Text 48"/>
          <p:cNvSpPr/>
          <p:nvPr/>
        </p:nvSpPr>
        <p:spPr>
          <a:xfrm>
            <a:off x="3346704"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Mock Evaluation</a:t>
            </a:r>
            <a:endParaRPr lang="en-US" sz="1300" dirty="0"/>
          </a:p>
        </p:txBody>
      </p:sp>
      <p:sp>
        <p:nvSpPr>
          <p:cNvPr id="51" name="Text 49"/>
          <p:cNvSpPr/>
          <p:nvPr/>
        </p:nvSpPr>
        <p:spPr>
          <a:xfrm>
            <a:off x="3346704"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Peer + lead review</a:t>
            </a:r>
            <a:endParaRPr lang="en-US" sz="900" dirty="0"/>
          </a:p>
        </p:txBody>
      </p:sp>
      <p:sp>
        <p:nvSpPr>
          <p:cNvPr id="52" name="Shape 50"/>
          <p:cNvSpPr/>
          <p:nvPr/>
        </p:nvSpPr>
        <p:spPr>
          <a:xfrm>
            <a:off x="4700016" y="1691640"/>
            <a:ext cx="1325880" cy="914400"/>
          </a:xfrm>
          <a:prstGeom prst="rect">
            <a:avLst/>
          </a:prstGeom>
          <a:solidFill>
            <a:srgbClr val="6B21A8"/>
          </a:solidFill>
          <a:ln/>
        </p:spPr>
        <p:txBody>
          <a:bodyPr/>
          <a:lstStyle/>
          <a:p>
            <a:endParaRPr lang="en-IN"/>
          </a:p>
        </p:txBody>
      </p:sp>
      <p:sp>
        <p:nvSpPr>
          <p:cNvPr id="53" name="Shape 51"/>
          <p:cNvSpPr/>
          <p:nvPr/>
        </p:nvSpPr>
        <p:spPr>
          <a:xfrm rot="5400000">
            <a:off x="6030468" y="2011680"/>
            <a:ext cx="109728" cy="274320"/>
          </a:xfrm>
          <a:prstGeom prst="triangle">
            <a:avLst/>
          </a:prstGeom>
          <a:solidFill>
            <a:srgbClr val="6B7280"/>
          </a:solidFill>
          <a:ln/>
        </p:spPr>
        <p:txBody>
          <a:bodyPr/>
          <a:lstStyle/>
          <a:p>
            <a:endParaRPr lang="en-IN"/>
          </a:p>
        </p:txBody>
      </p:sp>
      <p:sp>
        <p:nvSpPr>
          <p:cNvPr id="54" name="Text 52"/>
          <p:cNvSpPr/>
          <p:nvPr/>
        </p:nvSpPr>
        <p:spPr>
          <a:xfrm>
            <a:off x="4791456"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04</a:t>
            </a:r>
            <a:endParaRPr lang="en-US" sz="1000" dirty="0"/>
          </a:p>
        </p:txBody>
      </p:sp>
      <p:sp>
        <p:nvSpPr>
          <p:cNvPr id="55" name="Text 53"/>
          <p:cNvSpPr/>
          <p:nvPr/>
        </p:nvSpPr>
        <p:spPr>
          <a:xfrm>
            <a:off x="4791456"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Certification</a:t>
            </a:r>
            <a:endParaRPr lang="en-US" sz="1300" dirty="0"/>
          </a:p>
        </p:txBody>
      </p:sp>
      <p:sp>
        <p:nvSpPr>
          <p:cNvPr id="56" name="Text 54"/>
          <p:cNvSpPr/>
          <p:nvPr/>
        </p:nvSpPr>
        <p:spPr>
          <a:xfrm>
            <a:off x="4791456"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Official MS exam</a:t>
            </a:r>
            <a:endParaRPr lang="en-US" sz="900" dirty="0"/>
          </a:p>
        </p:txBody>
      </p:sp>
      <p:sp>
        <p:nvSpPr>
          <p:cNvPr id="57" name="Shape 55"/>
          <p:cNvSpPr/>
          <p:nvPr/>
        </p:nvSpPr>
        <p:spPr>
          <a:xfrm>
            <a:off x="6144768" y="1691640"/>
            <a:ext cx="1325880" cy="914400"/>
          </a:xfrm>
          <a:prstGeom prst="rect">
            <a:avLst/>
          </a:prstGeom>
          <a:solidFill>
            <a:srgbClr val="6B21A8"/>
          </a:solidFill>
          <a:ln/>
        </p:spPr>
        <p:txBody>
          <a:bodyPr/>
          <a:lstStyle/>
          <a:p>
            <a:endParaRPr lang="en-IN"/>
          </a:p>
        </p:txBody>
      </p:sp>
      <p:sp>
        <p:nvSpPr>
          <p:cNvPr id="58" name="Shape 56"/>
          <p:cNvSpPr/>
          <p:nvPr/>
        </p:nvSpPr>
        <p:spPr>
          <a:xfrm rot="5400000">
            <a:off x="7475220" y="2011680"/>
            <a:ext cx="109728" cy="274320"/>
          </a:xfrm>
          <a:prstGeom prst="triangle">
            <a:avLst/>
          </a:prstGeom>
          <a:solidFill>
            <a:srgbClr val="6B7280"/>
          </a:solidFill>
          <a:ln/>
        </p:spPr>
        <p:txBody>
          <a:bodyPr/>
          <a:lstStyle/>
          <a:p>
            <a:endParaRPr lang="en-IN"/>
          </a:p>
        </p:txBody>
      </p:sp>
      <p:sp>
        <p:nvSpPr>
          <p:cNvPr id="59" name="Text 57"/>
          <p:cNvSpPr/>
          <p:nvPr/>
        </p:nvSpPr>
        <p:spPr>
          <a:xfrm>
            <a:off x="6236208"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05</a:t>
            </a:r>
            <a:endParaRPr lang="en-US" sz="1000" dirty="0"/>
          </a:p>
        </p:txBody>
      </p:sp>
      <p:sp>
        <p:nvSpPr>
          <p:cNvPr id="60" name="Text 58"/>
          <p:cNvSpPr/>
          <p:nvPr/>
        </p:nvSpPr>
        <p:spPr>
          <a:xfrm>
            <a:off x="6236208"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Demo Delivery</a:t>
            </a:r>
            <a:endParaRPr lang="en-US" sz="1300" dirty="0"/>
          </a:p>
        </p:txBody>
      </p:sp>
      <p:sp>
        <p:nvSpPr>
          <p:cNvPr id="61" name="Text 59"/>
          <p:cNvSpPr/>
          <p:nvPr/>
        </p:nvSpPr>
        <p:spPr>
          <a:xfrm>
            <a:off x="6236208"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Customer-grade demo</a:t>
            </a:r>
            <a:endParaRPr lang="en-US" sz="900" dirty="0"/>
          </a:p>
        </p:txBody>
      </p:sp>
      <p:sp>
        <p:nvSpPr>
          <p:cNvPr id="62" name="Shape 60"/>
          <p:cNvSpPr/>
          <p:nvPr/>
        </p:nvSpPr>
        <p:spPr>
          <a:xfrm>
            <a:off x="7589520" y="1691640"/>
            <a:ext cx="1325880" cy="914400"/>
          </a:xfrm>
          <a:prstGeom prst="rect">
            <a:avLst/>
          </a:prstGeom>
          <a:solidFill>
            <a:srgbClr val="E11D74"/>
          </a:solidFill>
          <a:ln/>
        </p:spPr>
        <p:txBody>
          <a:bodyPr/>
          <a:lstStyle/>
          <a:p>
            <a:endParaRPr lang="en-IN"/>
          </a:p>
        </p:txBody>
      </p:sp>
      <p:sp>
        <p:nvSpPr>
          <p:cNvPr id="63" name="Text 61"/>
          <p:cNvSpPr/>
          <p:nvPr/>
        </p:nvSpPr>
        <p:spPr>
          <a:xfrm>
            <a:off x="7680960" y="1737360"/>
            <a:ext cx="1097280" cy="274320"/>
          </a:xfrm>
          <a:prstGeom prst="rect">
            <a:avLst/>
          </a:prstGeom>
          <a:noFill/>
          <a:ln/>
        </p:spPr>
        <p:txBody>
          <a:bodyPr wrap="square" rtlCol="0" anchor="ctr"/>
          <a:lstStyle/>
          <a:p>
            <a:pPr marL="0" indent="0">
              <a:buNone/>
            </a:pPr>
            <a:r>
              <a:rPr lang="en-US" sz="1000" b="1" kern="0" spc="200" dirty="0">
                <a:solidFill>
                  <a:srgbClr val="F472B6"/>
                </a:solidFill>
                <a:latin typeface="Calibri" pitchFamily="34" charset="0"/>
                <a:ea typeface="Calibri" pitchFamily="34" charset="-122"/>
                <a:cs typeface="Calibri" pitchFamily="34" charset="-120"/>
              </a:rPr>
              <a:t>06</a:t>
            </a:r>
            <a:endParaRPr lang="en-US" sz="1000" dirty="0"/>
          </a:p>
        </p:txBody>
      </p:sp>
      <p:sp>
        <p:nvSpPr>
          <p:cNvPr id="64" name="Text 62"/>
          <p:cNvSpPr/>
          <p:nvPr/>
        </p:nvSpPr>
        <p:spPr>
          <a:xfrm>
            <a:off x="7680960" y="1965960"/>
            <a:ext cx="118872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Allocation Ready</a:t>
            </a:r>
            <a:endParaRPr lang="en-US" sz="1300" dirty="0"/>
          </a:p>
        </p:txBody>
      </p:sp>
      <p:sp>
        <p:nvSpPr>
          <p:cNvPr id="65" name="Text 63"/>
          <p:cNvSpPr/>
          <p:nvPr/>
        </p:nvSpPr>
        <p:spPr>
          <a:xfrm>
            <a:off x="7680960" y="2313432"/>
            <a:ext cx="1188720" cy="274320"/>
          </a:xfrm>
          <a:prstGeom prst="rect">
            <a:avLst/>
          </a:prstGeom>
          <a:noFill/>
          <a:ln/>
        </p:spPr>
        <p:txBody>
          <a:bodyPr wrap="square" rtlCol="0" anchor="ctr"/>
          <a:lstStyle/>
          <a:p>
            <a:pPr marL="0" indent="0">
              <a:buNone/>
            </a:pPr>
            <a:r>
              <a:rPr lang="en-US" sz="900" dirty="0">
                <a:solidFill>
                  <a:srgbClr val="E0E7FF"/>
                </a:solidFill>
                <a:latin typeface="Calibri" pitchFamily="34" charset="0"/>
                <a:ea typeface="Calibri" pitchFamily="34" charset="-122"/>
                <a:cs typeface="Calibri" pitchFamily="34" charset="-120"/>
              </a:rPr>
              <a:t>Cleared for billing</a:t>
            </a:r>
            <a:endParaRPr lang="en-US" sz="900" dirty="0"/>
          </a:p>
        </p:txBody>
      </p:sp>
      <p:sp>
        <p:nvSpPr>
          <p:cNvPr id="66" name="Shape 64"/>
          <p:cNvSpPr/>
          <p:nvPr/>
        </p:nvSpPr>
        <p:spPr>
          <a:xfrm>
            <a:off x="365760" y="2743200"/>
            <a:ext cx="2770632" cy="73152"/>
          </a:xfrm>
          <a:prstGeom prst="rect">
            <a:avLst/>
          </a:prstGeom>
          <a:solidFill>
            <a:srgbClr val="1E3A8A"/>
          </a:solidFill>
          <a:ln/>
        </p:spPr>
        <p:txBody>
          <a:bodyPr/>
          <a:lstStyle/>
          <a:p>
            <a:endParaRPr lang="en-IN"/>
          </a:p>
        </p:txBody>
      </p:sp>
      <p:sp>
        <p:nvSpPr>
          <p:cNvPr id="67" name="Text 65"/>
          <p:cNvSpPr/>
          <p:nvPr/>
        </p:nvSpPr>
        <p:spPr>
          <a:xfrm>
            <a:off x="365760" y="2852928"/>
            <a:ext cx="2770632" cy="274320"/>
          </a:xfrm>
          <a:prstGeom prst="rect">
            <a:avLst/>
          </a:prstGeom>
          <a:noFill/>
          <a:ln/>
        </p:spPr>
        <p:txBody>
          <a:bodyPr wrap="square" rtlCol="0" anchor="ctr"/>
          <a:lstStyle/>
          <a:p>
            <a:pPr marL="0" indent="0" algn="ctr">
              <a:buNone/>
            </a:pPr>
            <a:r>
              <a:rPr lang="en-US" sz="900" b="1" kern="0" spc="300" dirty="0">
                <a:solidFill>
                  <a:srgbClr val="1E3A8A"/>
                </a:solidFill>
                <a:latin typeface="Calibri" pitchFamily="34" charset="0"/>
                <a:ea typeface="Calibri" pitchFamily="34" charset="-122"/>
                <a:cs typeface="Calibri" pitchFamily="34" charset="-120"/>
              </a:rPr>
              <a:t>PREPARATION</a:t>
            </a:r>
            <a:endParaRPr lang="en-US" sz="900" dirty="0"/>
          </a:p>
        </p:txBody>
      </p:sp>
      <p:sp>
        <p:nvSpPr>
          <p:cNvPr id="68" name="Shape 66"/>
          <p:cNvSpPr/>
          <p:nvPr/>
        </p:nvSpPr>
        <p:spPr>
          <a:xfrm>
            <a:off x="3255264" y="2743200"/>
            <a:ext cx="2770632" cy="73152"/>
          </a:xfrm>
          <a:prstGeom prst="rect">
            <a:avLst/>
          </a:prstGeom>
          <a:solidFill>
            <a:srgbClr val="6B21A8"/>
          </a:solidFill>
          <a:ln/>
        </p:spPr>
        <p:txBody>
          <a:bodyPr/>
          <a:lstStyle/>
          <a:p>
            <a:endParaRPr lang="en-IN"/>
          </a:p>
        </p:txBody>
      </p:sp>
      <p:sp>
        <p:nvSpPr>
          <p:cNvPr id="69" name="Text 67"/>
          <p:cNvSpPr/>
          <p:nvPr/>
        </p:nvSpPr>
        <p:spPr>
          <a:xfrm>
            <a:off x="3255264" y="2852928"/>
            <a:ext cx="2770632" cy="274320"/>
          </a:xfrm>
          <a:prstGeom prst="rect">
            <a:avLst/>
          </a:prstGeom>
          <a:noFill/>
          <a:ln/>
        </p:spPr>
        <p:txBody>
          <a:bodyPr wrap="square" rtlCol="0" anchor="ctr"/>
          <a:lstStyle/>
          <a:p>
            <a:pPr marL="0" indent="0" algn="ctr">
              <a:buNone/>
            </a:pPr>
            <a:r>
              <a:rPr lang="en-US" sz="900" b="1" kern="0" spc="300" dirty="0">
                <a:solidFill>
                  <a:srgbClr val="6B21A8"/>
                </a:solidFill>
                <a:latin typeface="Calibri" pitchFamily="34" charset="0"/>
                <a:ea typeface="Calibri" pitchFamily="34" charset="-122"/>
                <a:cs typeface="Calibri" pitchFamily="34" charset="-120"/>
              </a:rPr>
              <a:t>VALIDATION</a:t>
            </a:r>
            <a:endParaRPr lang="en-US" sz="900" dirty="0"/>
          </a:p>
        </p:txBody>
      </p:sp>
      <p:sp>
        <p:nvSpPr>
          <p:cNvPr id="70" name="Shape 68"/>
          <p:cNvSpPr/>
          <p:nvPr/>
        </p:nvSpPr>
        <p:spPr>
          <a:xfrm>
            <a:off x="6144768" y="2743200"/>
            <a:ext cx="2770632" cy="73152"/>
          </a:xfrm>
          <a:prstGeom prst="rect">
            <a:avLst/>
          </a:prstGeom>
          <a:solidFill>
            <a:srgbClr val="E11D74"/>
          </a:solidFill>
          <a:ln/>
        </p:spPr>
        <p:txBody>
          <a:bodyPr/>
          <a:lstStyle/>
          <a:p>
            <a:endParaRPr lang="en-IN"/>
          </a:p>
        </p:txBody>
      </p:sp>
      <p:sp>
        <p:nvSpPr>
          <p:cNvPr id="71" name="Text 69"/>
          <p:cNvSpPr/>
          <p:nvPr/>
        </p:nvSpPr>
        <p:spPr>
          <a:xfrm>
            <a:off x="6144768" y="2852928"/>
            <a:ext cx="2770632" cy="274320"/>
          </a:xfrm>
          <a:prstGeom prst="rect">
            <a:avLst/>
          </a:prstGeom>
          <a:noFill/>
          <a:ln/>
        </p:spPr>
        <p:txBody>
          <a:bodyPr wrap="square" rtlCol="0" anchor="ctr"/>
          <a:lstStyle/>
          <a:p>
            <a:pPr marL="0" indent="0" algn="ctr">
              <a:buNone/>
            </a:pPr>
            <a:r>
              <a:rPr lang="en-US" sz="900" b="1" kern="0" spc="300" dirty="0">
                <a:solidFill>
                  <a:srgbClr val="E11D74"/>
                </a:solidFill>
                <a:latin typeface="Calibri" pitchFamily="34" charset="0"/>
                <a:ea typeface="Calibri" pitchFamily="34" charset="-122"/>
                <a:cs typeface="Calibri" pitchFamily="34" charset="-120"/>
              </a:rPr>
              <a:t>RELEASE</a:t>
            </a:r>
            <a:endParaRPr lang="en-US" sz="900" dirty="0"/>
          </a:p>
        </p:txBody>
      </p:sp>
      <p:sp>
        <p:nvSpPr>
          <p:cNvPr id="72" name="Shape 70"/>
          <p:cNvSpPr/>
          <p:nvPr/>
        </p:nvSpPr>
        <p:spPr>
          <a:xfrm>
            <a:off x="457200" y="3429000"/>
            <a:ext cx="8229600" cy="1234440"/>
          </a:xfrm>
          <a:prstGeom prst="rect">
            <a:avLst/>
          </a:prstGeom>
          <a:solidFill>
            <a:srgbClr val="0F172A"/>
          </a:solidFill>
          <a:ln/>
        </p:spPr>
        <p:txBody>
          <a:bodyPr/>
          <a:lstStyle/>
          <a:p>
            <a:endParaRPr lang="en-IN"/>
          </a:p>
        </p:txBody>
      </p:sp>
      <p:sp>
        <p:nvSpPr>
          <p:cNvPr id="73" name="Shape 71"/>
          <p:cNvSpPr/>
          <p:nvPr/>
        </p:nvSpPr>
        <p:spPr>
          <a:xfrm>
            <a:off x="457200" y="3429000"/>
            <a:ext cx="91440" cy="1234440"/>
          </a:xfrm>
          <a:prstGeom prst="rect">
            <a:avLst/>
          </a:prstGeom>
          <a:solidFill>
            <a:srgbClr val="E11D74"/>
          </a:solidFill>
          <a:ln/>
        </p:spPr>
        <p:txBody>
          <a:bodyPr/>
          <a:lstStyle/>
          <a:p>
            <a:endParaRPr lang="en-IN"/>
          </a:p>
        </p:txBody>
      </p:sp>
      <p:sp>
        <p:nvSpPr>
          <p:cNvPr id="74" name="Text 72"/>
          <p:cNvSpPr/>
          <p:nvPr/>
        </p:nvSpPr>
        <p:spPr>
          <a:xfrm>
            <a:off x="685800" y="3520440"/>
            <a:ext cx="4572000" cy="274320"/>
          </a:xfrm>
          <a:prstGeom prst="rect">
            <a:avLst/>
          </a:prstGeom>
          <a:noFill/>
          <a:ln/>
        </p:spPr>
        <p:txBody>
          <a:bodyPr wrap="square" rtlCol="0" anchor="ctr"/>
          <a:lstStyle/>
          <a:p>
            <a:pPr marL="0" indent="0">
              <a:buNone/>
            </a:pPr>
            <a:r>
              <a:rPr lang="en-US" sz="1000" b="1" kern="0" spc="400" dirty="0">
                <a:solidFill>
                  <a:srgbClr val="F472B6"/>
                </a:solidFill>
                <a:latin typeface="Calibri" pitchFamily="34" charset="0"/>
                <a:ea typeface="Calibri" pitchFamily="34" charset="-122"/>
                <a:cs typeface="Calibri" pitchFamily="34" charset="-120"/>
              </a:rPr>
              <a:t>OFFICIAL DEFINITION</a:t>
            </a:r>
            <a:endParaRPr lang="en-US" sz="1000" dirty="0"/>
          </a:p>
        </p:txBody>
      </p:sp>
      <p:sp>
        <p:nvSpPr>
          <p:cNvPr id="75" name="Text 73"/>
          <p:cNvSpPr/>
          <p:nvPr/>
        </p:nvSpPr>
        <p:spPr>
          <a:xfrm>
            <a:off x="685800" y="3794760"/>
            <a:ext cx="7863840" cy="868680"/>
          </a:xfrm>
          <a:prstGeom prst="rect">
            <a:avLst/>
          </a:prstGeom>
          <a:noFill/>
          <a:ln/>
        </p:spPr>
        <p:txBody>
          <a:bodyPr wrap="square" rtlCol="0" anchor="ctr"/>
          <a:lstStyle/>
          <a:p>
            <a:pPr marL="0" indent="0">
              <a:buNone/>
            </a:pPr>
            <a:r>
              <a:rPr lang="en-US" sz="1600" b="1" i="1" dirty="0">
                <a:solidFill>
                  <a:srgbClr val="FFFFFF"/>
                </a:solidFill>
                <a:latin typeface="Calibri" pitchFamily="34" charset="0"/>
                <a:ea typeface="Calibri" pitchFamily="34" charset="-122"/>
                <a:cs typeface="Calibri" pitchFamily="34" charset="-120"/>
              </a:rPr>
              <a:t>"A technology is not considered delivery ready until mock clearance and business validation are completed."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08  30-DAY EXECUTION ROADMAP</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Week-by-week sprint plan</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10</a:t>
            </a:r>
            <a:endParaRPr lang="en-US" sz="900" dirty="0"/>
          </a:p>
        </p:txBody>
      </p:sp>
      <p:sp>
        <p:nvSpPr>
          <p:cNvPr id="37" name="Shape 35"/>
          <p:cNvSpPr/>
          <p:nvPr/>
        </p:nvSpPr>
        <p:spPr>
          <a:xfrm>
            <a:off x="457200" y="2240280"/>
            <a:ext cx="8229600" cy="54864"/>
          </a:xfrm>
          <a:prstGeom prst="rect">
            <a:avLst/>
          </a:prstGeom>
          <a:solidFill>
            <a:srgbClr val="E5E7EB"/>
          </a:solidFill>
          <a:ln/>
        </p:spPr>
        <p:txBody>
          <a:bodyPr/>
          <a:lstStyle/>
          <a:p>
            <a:endParaRPr lang="en-IN"/>
          </a:p>
        </p:txBody>
      </p:sp>
      <p:sp>
        <p:nvSpPr>
          <p:cNvPr id="38" name="Shape 36"/>
          <p:cNvSpPr/>
          <p:nvPr/>
        </p:nvSpPr>
        <p:spPr>
          <a:xfrm>
            <a:off x="1371600" y="2157984"/>
            <a:ext cx="228600" cy="228600"/>
          </a:xfrm>
          <a:prstGeom prst="ellipse">
            <a:avLst/>
          </a:prstGeom>
          <a:solidFill>
            <a:srgbClr val="1E3A8A"/>
          </a:solidFill>
          <a:ln w="25400">
            <a:solidFill>
              <a:srgbClr val="FFFFFF"/>
            </a:solidFill>
            <a:prstDash val="solid"/>
          </a:ln>
        </p:spPr>
        <p:txBody>
          <a:bodyPr/>
          <a:lstStyle/>
          <a:p>
            <a:endParaRPr lang="en-IN"/>
          </a:p>
        </p:txBody>
      </p:sp>
      <p:sp>
        <p:nvSpPr>
          <p:cNvPr id="39" name="Shape 37"/>
          <p:cNvSpPr/>
          <p:nvPr/>
        </p:nvSpPr>
        <p:spPr>
          <a:xfrm>
            <a:off x="457200" y="1417320"/>
            <a:ext cx="1874520" cy="640080"/>
          </a:xfrm>
          <a:prstGeom prst="rect">
            <a:avLst/>
          </a:prstGeom>
          <a:solidFill>
            <a:srgbClr val="1E3A8A"/>
          </a:solidFill>
          <a:ln/>
        </p:spPr>
        <p:txBody>
          <a:bodyPr/>
          <a:lstStyle/>
          <a:p>
            <a:endParaRPr lang="en-IN"/>
          </a:p>
        </p:txBody>
      </p:sp>
      <p:sp>
        <p:nvSpPr>
          <p:cNvPr id="40" name="Text 38"/>
          <p:cNvSpPr/>
          <p:nvPr/>
        </p:nvSpPr>
        <p:spPr>
          <a:xfrm>
            <a:off x="594360" y="1463040"/>
            <a:ext cx="1645920" cy="274320"/>
          </a:xfrm>
          <a:prstGeom prst="rect">
            <a:avLst/>
          </a:prstGeom>
          <a:noFill/>
          <a:ln/>
        </p:spPr>
        <p:txBody>
          <a:bodyPr wrap="square" rtlCol="0" anchor="ctr"/>
          <a:lstStyle/>
          <a:p>
            <a:pPr marL="0" indent="0">
              <a:buNone/>
            </a:pPr>
            <a:r>
              <a:rPr lang="en-US" sz="1100" b="1" kern="0" spc="300" dirty="0">
                <a:solidFill>
                  <a:srgbClr val="F472B6"/>
                </a:solidFill>
                <a:latin typeface="Calibri" pitchFamily="34" charset="0"/>
                <a:ea typeface="Calibri" pitchFamily="34" charset="-122"/>
                <a:cs typeface="Calibri" pitchFamily="34" charset="-120"/>
              </a:rPr>
              <a:t>WEEK 1</a:t>
            </a:r>
            <a:endParaRPr lang="en-US" sz="1100" dirty="0"/>
          </a:p>
        </p:txBody>
      </p:sp>
      <p:sp>
        <p:nvSpPr>
          <p:cNvPr id="41" name="Text 39"/>
          <p:cNvSpPr/>
          <p:nvPr/>
        </p:nvSpPr>
        <p:spPr>
          <a:xfrm>
            <a:off x="594360" y="1719072"/>
            <a:ext cx="16459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Foundation Refresh</a:t>
            </a:r>
            <a:endParaRPr lang="en-US" sz="1200" dirty="0"/>
          </a:p>
        </p:txBody>
      </p:sp>
      <p:sp>
        <p:nvSpPr>
          <p:cNvPr id="42" name="Shape 40"/>
          <p:cNvSpPr/>
          <p:nvPr/>
        </p:nvSpPr>
        <p:spPr>
          <a:xfrm>
            <a:off x="457200" y="2606040"/>
            <a:ext cx="1874520" cy="18288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43" name="Shape 41"/>
          <p:cNvSpPr/>
          <p:nvPr/>
        </p:nvSpPr>
        <p:spPr>
          <a:xfrm>
            <a:off x="640080" y="2953512"/>
            <a:ext cx="91440" cy="91440"/>
          </a:xfrm>
          <a:prstGeom prst="rect">
            <a:avLst/>
          </a:prstGeom>
          <a:solidFill>
            <a:srgbClr val="1E3A8A"/>
          </a:solidFill>
          <a:ln/>
        </p:spPr>
        <p:txBody>
          <a:bodyPr/>
          <a:lstStyle/>
          <a:p>
            <a:endParaRPr lang="en-IN"/>
          </a:p>
        </p:txBody>
      </p:sp>
      <p:sp>
        <p:nvSpPr>
          <p:cNvPr id="44" name="Text 42"/>
          <p:cNvSpPr/>
          <p:nvPr/>
        </p:nvSpPr>
        <p:spPr>
          <a:xfrm>
            <a:off x="822960" y="278892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DP-700</a:t>
            </a:r>
            <a:endParaRPr lang="en-US" sz="1200" dirty="0"/>
          </a:p>
        </p:txBody>
      </p:sp>
      <p:sp>
        <p:nvSpPr>
          <p:cNvPr id="45" name="Shape 43"/>
          <p:cNvSpPr/>
          <p:nvPr/>
        </p:nvSpPr>
        <p:spPr>
          <a:xfrm>
            <a:off x="640080" y="3456432"/>
            <a:ext cx="91440" cy="91440"/>
          </a:xfrm>
          <a:prstGeom prst="rect">
            <a:avLst/>
          </a:prstGeom>
          <a:solidFill>
            <a:srgbClr val="1E3A8A"/>
          </a:solidFill>
          <a:ln/>
        </p:spPr>
        <p:txBody>
          <a:bodyPr/>
          <a:lstStyle/>
          <a:p>
            <a:endParaRPr lang="en-IN"/>
          </a:p>
        </p:txBody>
      </p:sp>
      <p:sp>
        <p:nvSpPr>
          <p:cNvPr id="46" name="Text 44"/>
          <p:cNvSpPr/>
          <p:nvPr/>
        </p:nvSpPr>
        <p:spPr>
          <a:xfrm>
            <a:off x="822960" y="329184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AI-102</a:t>
            </a:r>
            <a:endParaRPr lang="en-US" sz="1200" dirty="0"/>
          </a:p>
        </p:txBody>
      </p:sp>
      <p:sp>
        <p:nvSpPr>
          <p:cNvPr id="47" name="Shape 45"/>
          <p:cNvSpPr/>
          <p:nvPr/>
        </p:nvSpPr>
        <p:spPr>
          <a:xfrm>
            <a:off x="640080" y="3959352"/>
            <a:ext cx="91440" cy="91440"/>
          </a:xfrm>
          <a:prstGeom prst="rect">
            <a:avLst/>
          </a:prstGeom>
          <a:solidFill>
            <a:srgbClr val="1E3A8A"/>
          </a:solidFill>
          <a:ln/>
        </p:spPr>
        <p:txBody>
          <a:bodyPr/>
          <a:lstStyle/>
          <a:p>
            <a:endParaRPr lang="en-IN"/>
          </a:p>
        </p:txBody>
      </p:sp>
      <p:sp>
        <p:nvSpPr>
          <p:cNvPr id="48" name="Text 46"/>
          <p:cNvSpPr/>
          <p:nvPr/>
        </p:nvSpPr>
        <p:spPr>
          <a:xfrm>
            <a:off x="822960" y="379476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SQL Refresh</a:t>
            </a:r>
            <a:endParaRPr lang="en-US" sz="1200" dirty="0"/>
          </a:p>
        </p:txBody>
      </p:sp>
      <p:sp>
        <p:nvSpPr>
          <p:cNvPr id="49" name="Shape 47"/>
          <p:cNvSpPr/>
          <p:nvPr/>
        </p:nvSpPr>
        <p:spPr>
          <a:xfrm>
            <a:off x="3447288" y="2157984"/>
            <a:ext cx="228600" cy="228600"/>
          </a:xfrm>
          <a:prstGeom prst="ellipse">
            <a:avLst/>
          </a:prstGeom>
          <a:solidFill>
            <a:srgbClr val="2563EB"/>
          </a:solidFill>
          <a:ln w="25400">
            <a:solidFill>
              <a:srgbClr val="FFFFFF"/>
            </a:solidFill>
            <a:prstDash val="solid"/>
          </a:ln>
        </p:spPr>
        <p:txBody>
          <a:bodyPr/>
          <a:lstStyle/>
          <a:p>
            <a:endParaRPr lang="en-IN"/>
          </a:p>
        </p:txBody>
      </p:sp>
      <p:sp>
        <p:nvSpPr>
          <p:cNvPr id="50" name="Shape 48"/>
          <p:cNvSpPr/>
          <p:nvPr/>
        </p:nvSpPr>
        <p:spPr>
          <a:xfrm>
            <a:off x="2532888" y="1417320"/>
            <a:ext cx="1874520" cy="640080"/>
          </a:xfrm>
          <a:prstGeom prst="rect">
            <a:avLst/>
          </a:prstGeom>
          <a:solidFill>
            <a:srgbClr val="2563EB"/>
          </a:solidFill>
          <a:ln/>
        </p:spPr>
        <p:txBody>
          <a:bodyPr/>
          <a:lstStyle/>
          <a:p>
            <a:endParaRPr lang="en-IN"/>
          </a:p>
        </p:txBody>
      </p:sp>
      <p:sp>
        <p:nvSpPr>
          <p:cNvPr id="51" name="Text 49"/>
          <p:cNvSpPr/>
          <p:nvPr/>
        </p:nvSpPr>
        <p:spPr>
          <a:xfrm>
            <a:off x="2670048" y="1463040"/>
            <a:ext cx="1645920" cy="274320"/>
          </a:xfrm>
          <a:prstGeom prst="rect">
            <a:avLst/>
          </a:prstGeom>
          <a:noFill/>
          <a:ln/>
        </p:spPr>
        <p:txBody>
          <a:bodyPr wrap="square" rtlCol="0" anchor="ctr"/>
          <a:lstStyle/>
          <a:p>
            <a:pPr marL="0" indent="0">
              <a:buNone/>
            </a:pPr>
            <a:r>
              <a:rPr lang="en-US" sz="1100" b="1" kern="0" spc="300" dirty="0">
                <a:solidFill>
                  <a:srgbClr val="F472B6"/>
                </a:solidFill>
                <a:latin typeface="Calibri" pitchFamily="34" charset="0"/>
                <a:ea typeface="Calibri" pitchFamily="34" charset="-122"/>
                <a:cs typeface="Calibri" pitchFamily="34" charset="-120"/>
              </a:rPr>
              <a:t>WEEK 2</a:t>
            </a:r>
            <a:endParaRPr lang="en-US" sz="1100" dirty="0"/>
          </a:p>
        </p:txBody>
      </p:sp>
      <p:sp>
        <p:nvSpPr>
          <p:cNvPr id="52" name="Text 50"/>
          <p:cNvSpPr/>
          <p:nvPr/>
        </p:nvSpPr>
        <p:spPr>
          <a:xfrm>
            <a:off x="2670048" y="1719072"/>
            <a:ext cx="16459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Platform</a:t>
            </a:r>
            <a:endParaRPr lang="en-US" sz="1200" dirty="0"/>
          </a:p>
        </p:txBody>
      </p:sp>
      <p:sp>
        <p:nvSpPr>
          <p:cNvPr id="53" name="Shape 51"/>
          <p:cNvSpPr/>
          <p:nvPr/>
        </p:nvSpPr>
        <p:spPr>
          <a:xfrm>
            <a:off x="2532888" y="2606040"/>
            <a:ext cx="1874520" cy="18288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54" name="Shape 52"/>
          <p:cNvSpPr/>
          <p:nvPr/>
        </p:nvSpPr>
        <p:spPr>
          <a:xfrm>
            <a:off x="2715768" y="2953512"/>
            <a:ext cx="91440" cy="91440"/>
          </a:xfrm>
          <a:prstGeom prst="rect">
            <a:avLst/>
          </a:prstGeom>
          <a:solidFill>
            <a:srgbClr val="2563EB"/>
          </a:solidFill>
          <a:ln/>
        </p:spPr>
        <p:txBody>
          <a:bodyPr/>
          <a:lstStyle/>
          <a:p>
            <a:endParaRPr lang="en-IN"/>
          </a:p>
        </p:txBody>
      </p:sp>
      <p:sp>
        <p:nvSpPr>
          <p:cNvPr id="55" name="Text 53"/>
          <p:cNvSpPr/>
          <p:nvPr/>
        </p:nvSpPr>
        <p:spPr>
          <a:xfrm>
            <a:off x="2898648" y="278892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DP-300</a:t>
            </a:r>
            <a:endParaRPr lang="en-US" sz="1200" dirty="0"/>
          </a:p>
        </p:txBody>
      </p:sp>
      <p:sp>
        <p:nvSpPr>
          <p:cNvPr id="56" name="Shape 54"/>
          <p:cNvSpPr/>
          <p:nvPr/>
        </p:nvSpPr>
        <p:spPr>
          <a:xfrm>
            <a:off x="2715768" y="3456432"/>
            <a:ext cx="91440" cy="91440"/>
          </a:xfrm>
          <a:prstGeom prst="rect">
            <a:avLst/>
          </a:prstGeom>
          <a:solidFill>
            <a:srgbClr val="2563EB"/>
          </a:solidFill>
          <a:ln/>
        </p:spPr>
        <p:txBody>
          <a:bodyPr/>
          <a:lstStyle/>
          <a:p>
            <a:endParaRPr lang="en-IN"/>
          </a:p>
        </p:txBody>
      </p:sp>
      <p:sp>
        <p:nvSpPr>
          <p:cNvPr id="57" name="Text 55"/>
          <p:cNvSpPr/>
          <p:nvPr/>
        </p:nvSpPr>
        <p:spPr>
          <a:xfrm>
            <a:off x="2898648" y="329184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Fabric Architecture</a:t>
            </a:r>
            <a:endParaRPr lang="en-US" sz="1200" dirty="0"/>
          </a:p>
        </p:txBody>
      </p:sp>
      <p:sp>
        <p:nvSpPr>
          <p:cNvPr id="58" name="Shape 56"/>
          <p:cNvSpPr/>
          <p:nvPr/>
        </p:nvSpPr>
        <p:spPr>
          <a:xfrm>
            <a:off x="2715768" y="3959352"/>
            <a:ext cx="91440" cy="91440"/>
          </a:xfrm>
          <a:prstGeom prst="rect">
            <a:avLst/>
          </a:prstGeom>
          <a:solidFill>
            <a:srgbClr val="2563EB"/>
          </a:solidFill>
          <a:ln/>
        </p:spPr>
        <p:txBody>
          <a:bodyPr/>
          <a:lstStyle/>
          <a:p>
            <a:endParaRPr lang="en-IN"/>
          </a:p>
        </p:txBody>
      </p:sp>
      <p:sp>
        <p:nvSpPr>
          <p:cNvPr id="59" name="Text 57"/>
          <p:cNvSpPr/>
          <p:nvPr/>
        </p:nvSpPr>
        <p:spPr>
          <a:xfrm>
            <a:off x="2898648" y="379476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Power BI</a:t>
            </a:r>
            <a:endParaRPr lang="en-US" sz="1200" dirty="0"/>
          </a:p>
        </p:txBody>
      </p:sp>
      <p:sp>
        <p:nvSpPr>
          <p:cNvPr id="60" name="Shape 58"/>
          <p:cNvSpPr/>
          <p:nvPr/>
        </p:nvSpPr>
        <p:spPr>
          <a:xfrm>
            <a:off x="5522976" y="2157984"/>
            <a:ext cx="228600" cy="228600"/>
          </a:xfrm>
          <a:prstGeom prst="ellipse">
            <a:avLst/>
          </a:prstGeom>
          <a:solidFill>
            <a:srgbClr val="6B21A8"/>
          </a:solidFill>
          <a:ln w="25400">
            <a:solidFill>
              <a:srgbClr val="FFFFFF"/>
            </a:solidFill>
            <a:prstDash val="solid"/>
          </a:ln>
        </p:spPr>
        <p:txBody>
          <a:bodyPr/>
          <a:lstStyle/>
          <a:p>
            <a:endParaRPr lang="en-IN"/>
          </a:p>
        </p:txBody>
      </p:sp>
      <p:sp>
        <p:nvSpPr>
          <p:cNvPr id="61" name="Shape 59"/>
          <p:cNvSpPr/>
          <p:nvPr/>
        </p:nvSpPr>
        <p:spPr>
          <a:xfrm>
            <a:off x="4608576" y="1417320"/>
            <a:ext cx="1874520" cy="640080"/>
          </a:xfrm>
          <a:prstGeom prst="rect">
            <a:avLst/>
          </a:prstGeom>
          <a:solidFill>
            <a:srgbClr val="6B21A8"/>
          </a:solidFill>
          <a:ln/>
        </p:spPr>
        <p:txBody>
          <a:bodyPr/>
          <a:lstStyle/>
          <a:p>
            <a:endParaRPr lang="en-IN"/>
          </a:p>
        </p:txBody>
      </p:sp>
      <p:sp>
        <p:nvSpPr>
          <p:cNvPr id="62" name="Text 60"/>
          <p:cNvSpPr/>
          <p:nvPr/>
        </p:nvSpPr>
        <p:spPr>
          <a:xfrm>
            <a:off x="4745736" y="1463040"/>
            <a:ext cx="1645920" cy="274320"/>
          </a:xfrm>
          <a:prstGeom prst="rect">
            <a:avLst/>
          </a:prstGeom>
          <a:noFill/>
          <a:ln/>
        </p:spPr>
        <p:txBody>
          <a:bodyPr wrap="square" rtlCol="0" anchor="ctr"/>
          <a:lstStyle/>
          <a:p>
            <a:pPr marL="0" indent="0">
              <a:buNone/>
            </a:pPr>
            <a:r>
              <a:rPr lang="en-US" sz="1100" b="1" kern="0" spc="300" dirty="0">
                <a:solidFill>
                  <a:srgbClr val="F472B6"/>
                </a:solidFill>
                <a:latin typeface="Calibri" pitchFamily="34" charset="0"/>
                <a:ea typeface="Calibri" pitchFamily="34" charset="-122"/>
                <a:cs typeface="Calibri" pitchFamily="34" charset="-120"/>
              </a:rPr>
              <a:t>WEEK 3</a:t>
            </a:r>
            <a:endParaRPr lang="en-US" sz="1100" dirty="0"/>
          </a:p>
        </p:txBody>
      </p:sp>
      <p:sp>
        <p:nvSpPr>
          <p:cNvPr id="63" name="Text 61"/>
          <p:cNvSpPr/>
          <p:nvPr/>
        </p:nvSpPr>
        <p:spPr>
          <a:xfrm>
            <a:off x="4745736" y="1719072"/>
            <a:ext cx="16459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&amp; Modern Stack</a:t>
            </a:r>
            <a:endParaRPr lang="en-US" sz="1200" dirty="0"/>
          </a:p>
        </p:txBody>
      </p:sp>
      <p:sp>
        <p:nvSpPr>
          <p:cNvPr id="64" name="Shape 62"/>
          <p:cNvSpPr/>
          <p:nvPr/>
        </p:nvSpPr>
        <p:spPr>
          <a:xfrm>
            <a:off x="4608576" y="2606040"/>
            <a:ext cx="1874520" cy="18288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5" name="Shape 63"/>
          <p:cNvSpPr/>
          <p:nvPr/>
        </p:nvSpPr>
        <p:spPr>
          <a:xfrm>
            <a:off x="4791456" y="2953512"/>
            <a:ext cx="91440" cy="91440"/>
          </a:xfrm>
          <a:prstGeom prst="rect">
            <a:avLst/>
          </a:prstGeom>
          <a:solidFill>
            <a:srgbClr val="6B21A8"/>
          </a:solidFill>
          <a:ln/>
        </p:spPr>
        <p:txBody>
          <a:bodyPr/>
          <a:lstStyle/>
          <a:p>
            <a:endParaRPr lang="en-IN"/>
          </a:p>
        </p:txBody>
      </p:sp>
      <p:sp>
        <p:nvSpPr>
          <p:cNvPr id="66" name="Text 64"/>
          <p:cNvSpPr/>
          <p:nvPr/>
        </p:nvSpPr>
        <p:spPr>
          <a:xfrm>
            <a:off x="4974336" y="278892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Databricks</a:t>
            </a:r>
            <a:endParaRPr lang="en-US" sz="1200" dirty="0"/>
          </a:p>
        </p:txBody>
      </p:sp>
      <p:sp>
        <p:nvSpPr>
          <p:cNvPr id="67" name="Shape 65"/>
          <p:cNvSpPr/>
          <p:nvPr/>
        </p:nvSpPr>
        <p:spPr>
          <a:xfrm>
            <a:off x="4791456" y="3456432"/>
            <a:ext cx="91440" cy="91440"/>
          </a:xfrm>
          <a:prstGeom prst="rect">
            <a:avLst/>
          </a:prstGeom>
          <a:solidFill>
            <a:srgbClr val="6B21A8"/>
          </a:solidFill>
          <a:ln/>
        </p:spPr>
        <p:txBody>
          <a:bodyPr/>
          <a:lstStyle/>
          <a:p>
            <a:endParaRPr lang="en-IN"/>
          </a:p>
        </p:txBody>
      </p:sp>
      <p:sp>
        <p:nvSpPr>
          <p:cNvPr id="68" name="Text 66"/>
          <p:cNvSpPr/>
          <p:nvPr/>
        </p:nvSpPr>
        <p:spPr>
          <a:xfrm>
            <a:off x="4974336" y="329184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Azure AI Foundry</a:t>
            </a:r>
            <a:endParaRPr lang="en-US" sz="1200" dirty="0"/>
          </a:p>
        </p:txBody>
      </p:sp>
      <p:sp>
        <p:nvSpPr>
          <p:cNvPr id="69" name="Shape 67"/>
          <p:cNvSpPr/>
          <p:nvPr/>
        </p:nvSpPr>
        <p:spPr>
          <a:xfrm>
            <a:off x="4791456" y="3959352"/>
            <a:ext cx="91440" cy="91440"/>
          </a:xfrm>
          <a:prstGeom prst="rect">
            <a:avLst/>
          </a:prstGeom>
          <a:solidFill>
            <a:srgbClr val="6B21A8"/>
          </a:solidFill>
          <a:ln/>
        </p:spPr>
        <p:txBody>
          <a:bodyPr/>
          <a:lstStyle/>
          <a:p>
            <a:endParaRPr lang="en-IN"/>
          </a:p>
        </p:txBody>
      </p:sp>
      <p:sp>
        <p:nvSpPr>
          <p:cNvPr id="70" name="Text 68"/>
          <p:cNvSpPr/>
          <p:nvPr/>
        </p:nvSpPr>
        <p:spPr>
          <a:xfrm>
            <a:off x="4974336" y="379476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Agentic AI</a:t>
            </a:r>
            <a:endParaRPr lang="en-US" sz="1200" dirty="0"/>
          </a:p>
        </p:txBody>
      </p:sp>
      <p:sp>
        <p:nvSpPr>
          <p:cNvPr id="71" name="Shape 69"/>
          <p:cNvSpPr/>
          <p:nvPr/>
        </p:nvSpPr>
        <p:spPr>
          <a:xfrm>
            <a:off x="7598664" y="2157984"/>
            <a:ext cx="228600" cy="228600"/>
          </a:xfrm>
          <a:prstGeom prst="ellipse">
            <a:avLst/>
          </a:prstGeom>
          <a:solidFill>
            <a:srgbClr val="E11D74"/>
          </a:solidFill>
          <a:ln w="25400">
            <a:solidFill>
              <a:srgbClr val="FFFFFF"/>
            </a:solidFill>
            <a:prstDash val="solid"/>
          </a:ln>
        </p:spPr>
        <p:txBody>
          <a:bodyPr/>
          <a:lstStyle/>
          <a:p>
            <a:endParaRPr lang="en-IN"/>
          </a:p>
        </p:txBody>
      </p:sp>
      <p:sp>
        <p:nvSpPr>
          <p:cNvPr id="72" name="Shape 70"/>
          <p:cNvSpPr/>
          <p:nvPr/>
        </p:nvSpPr>
        <p:spPr>
          <a:xfrm>
            <a:off x="6684264" y="1417320"/>
            <a:ext cx="1874520" cy="640080"/>
          </a:xfrm>
          <a:prstGeom prst="rect">
            <a:avLst/>
          </a:prstGeom>
          <a:solidFill>
            <a:srgbClr val="E11D74"/>
          </a:solidFill>
          <a:ln/>
        </p:spPr>
        <p:txBody>
          <a:bodyPr/>
          <a:lstStyle/>
          <a:p>
            <a:endParaRPr lang="en-IN"/>
          </a:p>
        </p:txBody>
      </p:sp>
      <p:sp>
        <p:nvSpPr>
          <p:cNvPr id="73" name="Text 71"/>
          <p:cNvSpPr/>
          <p:nvPr/>
        </p:nvSpPr>
        <p:spPr>
          <a:xfrm>
            <a:off x="6821424" y="1463040"/>
            <a:ext cx="1645920" cy="274320"/>
          </a:xfrm>
          <a:prstGeom prst="rect">
            <a:avLst/>
          </a:prstGeom>
          <a:noFill/>
          <a:ln/>
        </p:spPr>
        <p:txBody>
          <a:bodyPr wrap="square" rtlCol="0" anchor="ctr"/>
          <a:lstStyle/>
          <a:p>
            <a:pPr marL="0" indent="0">
              <a:buNone/>
            </a:pPr>
            <a:r>
              <a:rPr lang="en-US" sz="1100" b="1" kern="0" spc="300" dirty="0">
                <a:solidFill>
                  <a:srgbClr val="F472B6"/>
                </a:solidFill>
                <a:latin typeface="Calibri" pitchFamily="34" charset="0"/>
                <a:ea typeface="Calibri" pitchFamily="34" charset="-122"/>
                <a:cs typeface="Calibri" pitchFamily="34" charset="-120"/>
              </a:rPr>
              <a:t>WEEK 4</a:t>
            </a:r>
            <a:endParaRPr lang="en-US" sz="1100" dirty="0"/>
          </a:p>
        </p:txBody>
      </p:sp>
      <p:sp>
        <p:nvSpPr>
          <p:cNvPr id="74" name="Text 72"/>
          <p:cNvSpPr/>
          <p:nvPr/>
        </p:nvSpPr>
        <p:spPr>
          <a:xfrm>
            <a:off x="6821424" y="1719072"/>
            <a:ext cx="16459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Validation &amp; Release</a:t>
            </a:r>
            <a:endParaRPr lang="en-US" sz="1200" dirty="0"/>
          </a:p>
        </p:txBody>
      </p:sp>
      <p:sp>
        <p:nvSpPr>
          <p:cNvPr id="75" name="Shape 73"/>
          <p:cNvSpPr/>
          <p:nvPr/>
        </p:nvSpPr>
        <p:spPr>
          <a:xfrm>
            <a:off x="6684264" y="2606040"/>
            <a:ext cx="1874520" cy="182880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76" name="Shape 74"/>
          <p:cNvSpPr/>
          <p:nvPr/>
        </p:nvSpPr>
        <p:spPr>
          <a:xfrm>
            <a:off x="6867144" y="2953512"/>
            <a:ext cx="91440" cy="91440"/>
          </a:xfrm>
          <a:prstGeom prst="rect">
            <a:avLst/>
          </a:prstGeom>
          <a:solidFill>
            <a:srgbClr val="E11D74"/>
          </a:solidFill>
          <a:ln/>
        </p:spPr>
        <p:txBody>
          <a:bodyPr/>
          <a:lstStyle/>
          <a:p>
            <a:endParaRPr lang="en-IN"/>
          </a:p>
        </p:txBody>
      </p:sp>
      <p:sp>
        <p:nvSpPr>
          <p:cNvPr id="77" name="Text 75"/>
          <p:cNvSpPr/>
          <p:nvPr/>
        </p:nvSpPr>
        <p:spPr>
          <a:xfrm>
            <a:off x="7050024" y="278892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Mock Evaluations</a:t>
            </a:r>
            <a:endParaRPr lang="en-US" sz="1200" dirty="0"/>
          </a:p>
        </p:txBody>
      </p:sp>
      <p:sp>
        <p:nvSpPr>
          <p:cNvPr id="78" name="Shape 76"/>
          <p:cNvSpPr/>
          <p:nvPr/>
        </p:nvSpPr>
        <p:spPr>
          <a:xfrm>
            <a:off x="6867144" y="3456432"/>
            <a:ext cx="91440" cy="91440"/>
          </a:xfrm>
          <a:prstGeom prst="rect">
            <a:avLst/>
          </a:prstGeom>
          <a:solidFill>
            <a:srgbClr val="E11D74"/>
          </a:solidFill>
          <a:ln/>
        </p:spPr>
        <p:txBody>
          <a:bodyPr/>
          <a:lstStyle/>
          <a:p>
            <a:endParaRPr lang="en-IN"/>
          </a:p>
        </p:txBody>
      </p:sp>
      <p:sp>
        <p:nvSpPr>
          <p:cNvPr id="79" name="Text 77"/>
          <p:cNvSpPr/>
          <p:nvPr/>
        </p:nvSpPr>
        <p:spPr>
          <a:xfrm>
            <a:off x="7050024" y="329184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Certification Review</a:t>
            </a:r>
            <a:endParaRPr lang="en-US" sz="1200" dirty="0"/>
          </a:p>
        </p:txBody>
      </p:sp>
      <p:sp>
        <p:nvSpPr>
          <p:cNvPr id="80" name="Shape 78"/>
          <p:cNvSpPr/>
          <p:nvPr/>
        </p:nvSpPr>
        <p:spPr>
          <a:xfrm>
            <a:off x="6867144" y="3959352"/>
            <a:ext cx="91440" cy="91440"/>
          </a:xfrm>
          <a:prstGeom prst="rect">
            <a:avLst/>
          </a:prstGeom>
          <a:solidFill>
            <a:srgbClr val="E11D74"/>
          </a:solidFill>
          <a:ln/>
        </p:spPr>
        <p:txBody>
          <a:bodyPr/>
          <a:lstStyle/>
          <a:p>
            <a:endParaRPr lang="en-IN"/>
          </a:p>
        </p:txBody>
      </p:sp>
      <p:sp>
        <p:nvSpPr>
          <p:cNvPr id="81" name="Text 79"/>
          <p:cNvSpPr/>
          <p:nvPr/>
        </p:nvSpPr>
        <p:spPr>
          <a:xfrm>
            <a:off x="7050024" y="3794760"/>
            <a:ext cx="1417320" cy="45720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Delivery Simulation</a:t>
            </a:r>
            <a:endParaRPr lang="en-US" sz="1200" dirty="0"/>
          </a:p>
        </p:txBody>
      </p:sp>
      <p:sp>
        <p:nvSpPr>
          <p:cNvPr id="82" name="Text 80"/>
          <p:cNvSpPr/>
          <p:nvPr/>
        </p:nvSpPr>
        <p:spPr>
          <a:xfrm>
            <a:off x="457200" y="4526280"/>
            <a:ext cx="8229600" cy="274320"/>
          </a:xfrm>
          <a:prstGeom prst="rect">
            <a:avLst/>
          </a:prstGeom>
          <a:noFill/>
          <a:ln/>
        </p:spPr>
        <p:txBody>
          <a:bodyPr wrap="square" rtlCol="0" anchor="ctr"/>
          <a:lstStyle/>
          <a:p>
            <a:pPr marL="0" indent="0" algn="ctr">
              <a:buNone/>
            </a:pPr>
            <a:r>
              <a:rPr lang="en-US" sz="1100" b="1" i="1" dirty="0">
                <a:solidFill>
                  <a:srgbClr val="0F172A"/>
                </a:solidFill>
                <a:latin typeface="Calibri" pitchFamily="34" charset="0"/>
                <a:ea typeface="Calibri" pitchFamily="34" charset="-122"/>
                <a:cs typeface="Calibri" pitchFamily="34" charset="-120"/>
              </a:rPr>
              <a:t>Each week ends with a checkpoint review. No slippage tolerated on Week 4 validation gates.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09  INDIVIDUAL ACCOUNTABILITY</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Measurable outcomes per trainer — coaching focus</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 / 10</a:t>
            </a:r>
            <a:endParaRPr lang="en-US" sz="900" dirty="0"/>
          </a:p>
        </p:txBody>
      </p:sp>
      <p:sp>
        <p:nvSpPr>
          <p:cNvPr id="37" name="Shape 35"/>
          <p:cNvSpPr/>
          <p:nvPr/>
        </p:nvSpPr>
        <p:spPr>
          <a:xfrm>
            <a:off x="457200" y="1417320"/>
            <a:ext cx="4023360" cy="3246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38" name="Shape 36"/>
          <p:cNvSpPr/>
          <p:nvPr/>
        </p:nvSpPr>
        <p:spPr>
          <a:xfrm>
            <a:off x="457200" y="1417320"/>
            <a:ext cx="4023360" cy="640080"/>
          </a:xfrm>
          <a:prstGeom prst="rect">
            <a:avLst/>
          </a:prstGeom>
          <a:solidFill>
            <a:srgbClr val="1E3A8A"/>
          </a:solidFill>
          <a:ln/>
        </p:spPr>
        <p:txBody>
          <a:bodyPr/>
          <a:lstStyle/>
          <a:p>
            <a:endParaRPr lang="en-IN"/>
          </a:p>
        </p:txBody>
      </p:sp>
      <p:sp>
        <p:nvSpPr>
          <p:cNvPr id="39" name="Shape 37"/>
          <p:cNvSpPr/>
          <p:nvPr/>
        </p:nvSpPr>
        <p:spPr>
          <a:xfrm>
            <a:off x="640080" y="1554480"/>
            <a:ext cx="365760" cy="365760"/>
          </a:xfrm>
          <a:prstGeom prst="ellipse">
            <a:avLst/>
          </a:prstGeom>
          <a:solidFill>
            <a:srgbClr val="FFFFFF">
              <a:alpha val="30000"/>
            </a:srgbClr>
          </a:solidFill>
          <a:ln w="19050">
            <a:solidFill>
              <a:srgbClr val="FFFFFF"/>
            </a:solidFill>
            <a:prstDash val="solid"/>
          </a:ln>
        </p:spPr>
        <p:txBody>
          <a:bodyPr/>
          <a:lstStyle/>
          <a:p>
            <a:endParaRPr lang="en-IN"/>
          </a:p>
        </p:txBody>
      </p:sp>
      <p:sp>
        <p:nvSpPr>
          <p:cNvPr id="40" name="Text 38"/>
          <p:cNvSpPr/>
          <p:nvPr/>
        </p:nvSpPr>
        <p:spPr>
          <a:xfrm>
            <a:off x="640080" y="15544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41" name="Text 39"/>
          <p:cNvSpPr/>
          <p:nvPr/>
        </p:nvSpPr>
        <p:spPr>
          <a:xfrm>
            <a:off x="1143000" y="1481328"/>
            <a:ext cx="320040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Abhinav</a:t>
            </a:r>
            <a:endParaRPr lang="en-US" sz="1600" dirty="0"/>
          </a:p>
        </p:txBody>
      </p:sp>
      <p:sp>
        <p:nvSpPr>
          <p:cNvPr id="42" name="Text 40"/>
          <p:cNvSpPr/>
          <p:nvPr/>
        </p:nvSpPr>
        <p:spPr>
          <a:xfrm>
            <a:off x="1143000" y="1755648"/>
            <a:ext cx="3200400" cy="228600"/>
          </a:xfrm>
          <a:prstGeom prst="rect">
            <a:avLst/>
          </a:prstGeom>
          <a:noFill/>
          <a:ln/>
        </p:spPr>
        <p:txBody>
          <a:bodyPr wrap="square" rtlCol="0" anchor="ctr"/>
          <a:lstStyle/>
          <a:p>
            <a:pPr marL="0" indent="0">
              <a:buNone/>
            </a:pPr>
            <a:r>
              <a:rPr lang="en-US" sz="950" dirty="0">
                <a:solidFill>
                  <a:srgbClr val="E0E7FF"/>
                </a:solidFill>
                <a:latin typeface="Calibri" pitchFamily="34" charset="0"/>
                <a:ea typeface="Calibri" pitchFamily="34" charset="-122"/>
                <a:cs typeface="Calibri" pitchFamily="34" charset="-120"/>
              </a:rPr>
              <a:t>Microsoft Certified Trainer</a:t>
            </a:r>
            <a:endParaRPr lang="en-US" sz="950" dirty="0"/>
          </a:p>
        </p:txBody>
      </p:sp>
      <p:sp>
        <p:nvSpPr>
          <p:cNvPr id="43" name="Shape 41"/>
          <p:cNvSpPr/>
          <p:nvPr/>
        </p:nvSpPr>
        <p:spPr>
          <a:xfrm>
            <a:off x="640080" y="2240280"/>
            <a:ext cx="3657600" cy="502920"/>
          </a:xfrm>
          <a:prstGeom prst="rect">
            <a:avLst/>
          </a:prstGeom>
          <a:solidFill>
            <a:srgbClr val="F8FAFC"/>
          </a:solidFill>
          <a:ln w="5080">
            <a:solidFill>
              <a:srgbClr val="E5E7EB"/>
            </a:solidFill>
            <a:prstDash val="solid"/>
          </a:ln>
        </p:spPr>
        <p:txBody>
          <a:bodyPr/>
          <a:lstStyle/>
          <a:p>
            <a:endParaRPr lang="en-IN"/>
          </a:p>
        </p:txBody>
      </p:sp>
      <p:sp>
        <p:nvSpPr>
          <p:cNvPr id="44" name="Shape 42"/>
          <p:cNvSpPr/>
          <p:nvPr/>
        </p:nvSpPr>
        <p:spPr>
          <a:xfrm>
            <a:off x="640080" y="2240280"/>
            <a:ext cx="54864" cy="502920"/>
          </a:xfrm>
          <a:prstGeom prst="rect">
            <a:avLst/>
          </a:prstGeom>
          <a:solidFill>
            <a:srgbClr val="F59E0B"/>
          </a:solidFill>
          <a:ln/>
        </p:spPr>
        <p:txBody>
          <a:bodyPr/>
          <a:lstStyle/>
          <a:p>
            <a:endParaRPr lang="en-IN"/>
          </a:p>
        </p:txBody>
      </p:sp>
      <p:sp>
        <p:nvSpPr>
          <p:cNvPr id="45" name="Text 43"/>
          <p:cNvSpPr/>
          <p:nvPr/>
        </p:nvSpPr>
        <p:spPr>
          <a:xfrm>
            <a:off x="777240" y="224028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Utilization Improvement</a:t>
            </a:r>
            <a:endParaRPr lang="en-US" sz="1100" dirty="0"/>
          </a:p>
        </p:txBody>
      </p:sp>
      <p:sp>
        <p:nvSpPr>
          <p:cNvPr id="46" name="Shape 44"/>
          <p:cNvSpPr/>
          <p:nvPr/>
        </p:nvSpPr>
        <p:spPr>
          <a:xfrm>
            <a:off x="3291840" y="2368296"/>
            <a:ext cx="914400" cy="256032"/>
          </a:xfrm>
          <a:prstGeom prst="roundRect">
            <a:avLst>
              <a:gd name="adj" fmla="val 50000"/>
            </a:avLst>
          </a:prstGeom>
          <a:solidFill>
            <a:srgbClr val="F59E0B"/>
          </a:solidFill>
          <a:ln/>
        </p:spPr>
        <p:txBody>
          <a:bodyPr/>
          <a:lstStyle/>
          <a:p>
            <a:endParaRPr lang="en-IN"/>
          </a:p>
        </p:txBody>
      </p:sp>
      <p:sp>
        <p:nvSpPr>
          <p:cNvPr id="47" name="Text 45"/>
          <p:cNvSpPr/>
          <p:nvPr/>
        </p:nvSpPr>
        <p:spPr>
          <a:xfrm>
            <a:off x="3291840" y="236829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LIFT</a:t>
            </a:r>
            <a:endParaRPr lang="en-US" sz="900" dirty="0"/>
          </a:p>
        </p:txBody>
      </p:sp>
      <p:sp>
        <p:nvSpPr>
          <p:cNvPr id="48" name="Shape 46"/>
          <p:cNvSpPr/>
          <p:nvPr/>
        </p:nvSpPr>
        <p:spPr>
          <a:xfrm>
            <a:off x="640080" y="2834640"/>
            <a:ext cx="3657600" cy="502920"/>
          </a:xfrm>
          <a:prstGeom prst="rect">
            <a:avLst/>
          </a:prstGeom>
          <a:solidFill>
            <a:srgbClr val="F8FAFC"/>
          </a:solidFill>
          <a:ln w="5080">
            <a:solidFill>
              <a:srgbClr val="E5E7EB"/>
            </a:solidFill>
            <a:prstDash val="solid"/>
          </a:ln>
        </p:spPr>
        <p:txBody>
          <a:bodyPr/>
          <a:lstStyle/>
          <a:p>
            <a:endParaRPr lang="en-IN"/>
          </a:p>
        </p:txBody>
      </p:sp>
      <p:sp>
        <p:nvSpPr>
          <p:cNvPr id="49" name="Shape 47"/>
          <p:cNvSpPr/>
          <p:nvPr/>
        </p:nvSpPr>
        <p:spPr>
          <a:xfrm>
            <a:off x="640080" y="2834640"/>
            <a:ext cx="54864" cy="502920"/>
          </a:xfrm>
          <a:prstGeom prst="rect">
            <a:avLst/>
          </a:prstGeom>
          <a:solidFill>
            <a:srgbClr val="F59E0B"/>
          </a:solidFill>
          <a:ln/>
        </p:spPr>
        <p:txBody>
          <a:bodyPr/>
          <a:lstStyle/>
          <a:p>
            <a:endParaRPr lang="en-IN"/>
          </a:p>
        </p:txBody>
      </p:sp>
      <p:sp>
        <p:nvSpPr>
          <p:cNvPr id="50" name="Text 48"/>
          <p:cNvSpPr/>
          <p:nvPr/>
        </p:nvSpPr>
        <p:spPr>
          <a:xfrm>
            <a:off x="777240" y="283464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Readiness Validation</a:t>
            </a:r>
            <a:endParaRPr lang="en-US" sz="1100" dirty="0"/>
          </a:p>
        </p:txBody>
      </p:sp>
      <p:sp>
        <p:nvSpPr>
          <p:cNvPr id="51" name="Shape 49"/>
          <p:cNvSpPr/>
          <p:nvPr/>
        </p:nvSpPr>
        <p:spPr>
          <a:xfrm>
            <a:off x="3291840" y="2962656"/>
            <a:ext cx="914400" cy="256032"/>
          </a:xfrm>
          <a:prstGeom prst="roundRect">
            <a:avLst>
              <a:gd name="adj" fmla="val 50000"/>
            </a:avLst>
          </a:prstGeom>
          <a:solidFill>
            <a:srgbClr val="F59E0B"/>
          </a:solidFill>
          <a:ln/>
        </p:spPr>
        <p:txBody>
          <a:bodyPr/>
          <a:lstStyle/>
          <a:p>
            <a:endParaRPr lang="en-IN"/>
          </a:p>
        </p:txBody>
      </p:sp>
      <p:sp>
        <p:nvSpPr>
          <p:cNvPr id="52" name="Text 50"/>
          <p:cNvSpPr/>
          <p:nvPr/>
        </p:nvSpPr>
        <p:spPr>
          <a:xfrm>
            <a:off x="3291840" y="296265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VALIDATE</a:t>
            </a:r>
            <a:endParaRPr lang="en-US" sz="900" dirty="0"/>
          </a:p>
        </p:txBody>
      </p:sp>
      <p:sp>
        <p:nvSpPr>
          <p:cNvPr id="53" name="Shape 51"/>
          <p:cNvSpPr/>
          <p:nvPr/>
        </p:nvSpPr>
        <p:spPr>
          <a:xfrm>
            <a:off x="640080" y="3429000"/>
            <a:ext cx="3657600" cy="502920"/>
          </a:xfrm>
          <a:prstGeom prst="rect">
            <a:avLst/>
          </a:prstGeom>
          <a:solidFill>
            <a:srgbClr val="F8FAFC"/>
          </a:solidFill>
          <a:ln w="5080">
            <a:solidFill>
              <a:srgbClr val="E5E7EB"/>
            </a:solidFill>
            <a:prstDash val="solid"/>
          </a:ln>
        </p:spPr>
        <p:txBody>
          <a:bodyPr/>
          <a:lstStyle/>
          <a:p>
            <a:endParaRPr lang="en-IN"/>
          </a:p>
        </p:txBody>
      </p:sp>
      <p:sp>
        <p:nvSpPr>
          <p:cNvPr id="54" name="Shape 52"/>
          <p:cNvSpPr/>
          <p:nvPr/>
        </p:nvSpPr>
        <p:spPr>
          <a:xfrm>
            <a:off x="640080" y="3429000"/>
            <a:ext cx="54864" cy="502920"/>
          </a:xfrm>
          <a:prstGeom prst="rect">
            <a:avLst/>
          </a:prstGeom>
          <a:solidFill>
            <a:srgbClr val="16A34A"/>
          </a:solidFill>
          <a:ln/>
        </p:spPr>
        <p:txBody>
          <a:bodyPr/>
          <a:lstStyle/>
          <a:p>
            <a:endParaRPr lang="en-IN"/>
          </a:p>
        </p:txBody>
      </p:sp>
      <p:sp>
        <p:nvSpPr>
          <p:cNvPr id="55" name="Text 53"/>
          <p:cNvSpPr/>
          <p:nvPr/>
        </p:nvSpPr>
        <p:spPr>
          <a:xfrm>
            <a:off x="777240" y="342900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Certification Progress</a:t>
            </a:r>
            <a:endParaRPr lang="en-US" sz="1100" dirty="0"/>
          </a:p>
        </p:txBody>
      </p:sp>
      <p:sp>
        <p:nvSpPr>
          <p:cNvPr id="56" name="Shape 54"/>
          <p:cNvSpPr/>
          <p:nvPr/>
        </p:nvSpPr>
        <p:spPr>
          <a:xfrm>
            <a:off x="3291840" y="3557016"/>
            <a:ext cx="914400" cy="256032"/>
          </a:xfrm>
          <a:prstGeom prst="roundRect">
            <a:avLst>
              <a:gd name="adj" fmla="val 50000"/>
            </a:avLst>
          </a:prstGeom>
          <a:solidFill>
            <a:srgbClr val="16A34A"/>
          </a:solidFill>
          <a:ln/>
        </p:spPr>
        <p:txBody>
          <a:bodyPr/>
          <a:lstStyle/>
          <a:p>
            <a:endParaRPr lang="en-IN"/>
          </a:p>
        </p:txBody>
      </p:sp>
      <p:sp>
        <p:nvSpPr>
          <p:cNvPr id="57" name="Text 55"/>
          <p:cNvSpPr/>
          <p:nvPr/>
        </p:nvSpPr>
        <p:spPr>
          <a:xfrm>
            <a:off x="3291840" y="355701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ADVANCE</a:t>
            </a:r>
            <a:endParaRPr lang="en-US" sz="900" dirty="0"/>
          </a:p>
        </p:txBody>
      </p:sp>
      <p:sp>
        <p:nvSpPr>
          <p:cNvPr id="58" name="Shape 56"/>
          <p:cNvSpPr/>
          <p:nvPr/>
        </p:nvSpPr>
        <p:spPr>
          <a:xfrm>
            <a:off x="640080" y="4023360"/>
            <a:ext cx="3657600" cy="502920"/>
          </a:xfrm>
          <a:prstGeom prst="rect">
            <a:avLst/>
          </a:prstGeom>
          <a:solidFill>
            <a:srgbClr val="F8FAFC"/>
          </a:solidFill>
          <a:ln w="5080">
            <a:solidFill>
              <a:srgbClr val="E5E7EB"/>
            </a:solidFill>
            <a:prstDash val="solid"/>
          </a:ln>
        </p:spPr>
        <p:txBody>
          <a:bodyPr/>
          <a:lstStyle/>
          <a:p>
            <a:endParaRPr lang="en-IN"/>
          </a:p>
        </p:txBody>
      </p:sp>
      <p:sp>
        <p:nvSpPr>
          <p:cNvPr id="59" name="Shape 57"/>
          <p:cNvSpPr/>
          <p:nvPr/>
        </p:nvSpPr>
        <p:spPr>
          <a:xfrm>
            <a:off x="640080" y="4023360"/>
            <a:ext cx="54864" cy="502920"/>
          </a:xfrm>
          <a:prstGeom prst="rect">
            <a:avLst/>
          </a:prstGeom>
          <a:solidFill>
            <a:srgbClr val="F59E0B"/>
          </a:solidFill>
          <a:ln/>
        </p:spPr>
        <p:txBody>
          <a:bodyPr/>
          <a:lstStyle/>
          <a:p>
            <a:endParaRPr lang="en-IN"/>
          </a:p>
        </p:txBody>
      </p:sp>
      <p:sp>
        <p:nvSpPr>
          <p:cNvPr id="60" name="Text 58"/>
          <p:cNvSpPr/>
          <p:nvPr/>
        </p:nvSpPr>
        <p:spPr>
          <a:xfrm>
            <a:off x="777240" y="402336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Mock Completion</a:t>
            </a:r>
            <a:endParaRPr lang="en-US" sz="1100" dirty="0"/>
          </a:p>
        </p:txBody>
      </p:sp>
      <p:sp>
        <p:nvSpPr>
          <p:cNvPr id="61" name="Shape 59"/>
          <p:cNvSpPr/>
          <p:nvPr/>
        </p:nvSpPr>
        <p:spPr>
          <a:xfrm>
            <a:off x="3291840" y="4151376"/>
            <a:ext cx="914400" cy="256032"/>
          </a:xfrm>
          <a:prstGeom prst="roundRect">
            <a:avLst>
              <a:gd name="adj" fmla="val 50000"/>
            </a:avLst>
          </a:prstGeom>
          <a:solidFill>
            <a:srgbClr val="F59E0B"/>
          </a:solidFill>
          <a:ln/>
        </p:spPr>
        <p:txBody>
          <a:bodyPr/>
          <a:lstStyle/>
          <a:p>
            <a:endParaRPr lang="en-IN"/>
          </a:p>
        </p:txBody>
      </p:sp>
      <p:sp>
        <p:nvSpPr>
          <p:cNvPr id="62" name="Text 60"/>
          <p:cNvSpPr/>
          <p:nvPr/>
        </p:nvSpPr>
        <p:spPr>
          <a:xfrm>
            <a:off x="3291840" y="415137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COMPLETE</a:t>
            </a:r>
            <a:endParaRPr lang="en-US" sz="900" dirty="0"/>
          </a:p>
        </p:txBody>
      </p:sp>
      <p:sp>
        <p:nvSpPr>
          <p:cNvPr id="63" name="Shape 61"/>
          <p:cNvSpPr/>
          <p:nvPr/>
        </p:nvSpPr>
        <p:spPr>
          <a:xfrm>
            <a:off x="4663440" y="1417320"/>
            <a:ext cx="4023360" cy="3246120"/>
          </a:xfrm>
          <a:prstGeom prst="rect">
            <a:avLst/>
          </a:prstGeom>
          <a:solidFill>
            <a:srgbClr val="FFFFFF"/>
          </a:solidFill>
          <a:ln w="9525">
            <a:solidFill>
              <a:srgbClr val="E5E7EB"/>
            </a:solidFill>
            <a:prstDash val="solid"/>
          </a:ln>
          <a:effectLst>
            <a:outerShdw blurRad="177800" dist="38100" dir="5400000" algn="bl" rotWithShape="0">
              <a:srgbClr val="0F172A">
                <a:alpha val="10000"/>
              </a:srgbClr>
            </a:outerShdw>
          </a:effectLst>
        </p:spPr>
        <p:txBody>
          <a:bodyPr/>
          <a:lstStyle/>
          <a:p>
            <a:endParaRPr lang="en-IN"/>
          </a:p>
        </p:txBody>
      </p:sp>
      <p:sp>
        <p:nvSpPr>
          <p:cNvPr id="64" name="Shape 62"/>
          <p:cNvSpPr/>
          <p:nvPr/>
        </p:nvSpPr>
        <p:spPr>
          <a:xfrm>
            <a:off x="4663440" y="1417320"/>
            <a:ext cx="4023360" cy="640080"/>
          </a:xfrm>
          <a:prstGeom prst="rect">
            <a:avLst/>
          </a:prstGeom>
          <a:solidFill>
            <a:srgbClr val="6B21A8"/>
          </a:solidFill>
          <a:ln/>
        </p:spPr>
        <p:txBody>
          <a:bodyPr/>
          <a:lstStyle/>
          <a:p>
            <a:endParaRPr lang="en-IN"/>
          </a:p>
        </p:txBody>
      </p:sp>
      <p:sp>
        <p:nvSpPr>
          <p:cNvPr id="65" name="Shape 63"/>
          <p:cNvSpPr/>
          <p:nvPr/>
        </p:nvSpPr>
        <p:spPr>
          <a:xfrm>
            <a:off x="4846320" y="1554480"/>
            <a:ext cx="365760" cy="365760"/>
          </a:xfrm>
          <a:prstGeom prst="ellipse">
            <a:avLst/>
          </a:prstGeom>
          <a:solidFill>
            <a:srgbClr val="FFFFFF">
              <a:alpha val="30000"/>
            </a:srgbClr>
          </a:solidFill>
          <a:ln w="19050">
            <a:solidFill>
              <a:srgbClr val="FFFFFF"/>
            </a:solidFill>
            <a:prstDash val="solid"/>
          </a:ln>
        </p:spPr>
        <p:txBody>
          <a:bodyPr/>
          <a:lstStyle/>
          <a:p>
            <a:endParaRPr lang="en-IN"/>
          </a:p>
        </p:txBody>
      </p:sp>
      <p:sp>
        <p:nvSpPr>
          <p:cNvPr id="66" name="Text 64"/>
          <p:cNvSpPr/>
          <p:nvPr/>
        </p:nvSpPr>
        <p:spPr>
          <a:xfrm>
            <a:off x="4846320" y="15544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t>
            </a:r>
            <a:endParaRPr lang="en-US" sz="1400" dirty="0"/>
          </a:p>
        </p:txBody>
      </p:sp>
      <p:sp>
        <p:nvSpPr>
          <p:cNvPr id="67" name="Text 65"/>
          <p:cNvSpPr/>
          <p:nvPr/>
        </p:nvSpPr>
        <p:spPr>
          <a:xfrm>
            <a:off x="5349240" y="1481328"/>
            <a:ext cx="320040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Niharika</a:t>
            </a:r>
            <a:endParaRPr lang="en-US" sz="1600" dirty="0"/>
          </a:p>
        </p:txBody>
      </p:sp>
      <p:sp>
        <p:nvSpPr>
          <p:cNvPr id="68" name="Text 66"/>
          <p:cNvSpPr/>
          <p:nvPr/>
        </p:nvSpPr>
        <p:spPr>
          <a:xfrm>
            <a:off x="5349240" y="1755648"/>
            <a:ext cx="3200400" cy="228600"/>
          </a:xfrm>
          <a:prstGeom prst="rect">
            <a:avLst/>
          </a:prstGeom>
          <a:noFill/>
          <a:ln/>
        </p:spPr>
        <p:txBody>
          <a:bodyPr wrap="square" rtlCol="0" anchor="ctr"/>
          <a:lstStyle/>
          <a:p>
            <a:pPr marL="0" indent="0">
              <a:buNone/>
            </a:pPr>
            <a:r>
              <a:rPr lang="en-US" sz="950" dirty="0">
                <a:solidFill>
                  <a:srgbClr val="E0E7FF"/>
                </a:solidFill>
                <a:latin typeface="Calibri" pitchFamily="34" charset="0"/>
                <a:ea typeface="Calibri" pitchFamily="34" charset="-122"/>
                <a:cs typeface="Calibri" pitchFamily="34" charset="-120"/>
              </a:rPr>
              <a:t>Microsoft Certified Trainer</a:t>
            </a:r>
            <a:endParaRPr lang="en-US" sz="950" dirty="0"/>
          </a:p>
        </p:txBody>
      </p:sp>
      <p:sp>
        <p:nvSpPr>
          <p:cNvPr id="69" name="Shape 67"/>
          <p:cNvSpPr/>
          <p:nvPr/>
        </p:nvSpPr>
        <p:spPr>
          <a:xfrm>
            <a:off x="4846320" y="2240280"/>
            <a:ext cx="3657600" cy="502920"/>
          </a:xfrm>
          <a:prstGeom prst="rect">
            <a:avLst/>
          </a:prstGeom>
          <a:solidFill>
            <a:srgbClr val="F8FAFC"/>
          </a:solidFill>
          <a:ln w="5080">
            <a:solidFill>
              <a:srgbClr val="E5E7EB"/>
            </a:solidFill>
            <a:prstDash val="solid"/>
          </a:ln>
        </p:spPr>
        <p:txBody>
          <a:bodyPr/>
          <a:lstStyle/>
          <a:p>
            <a:endParaRPr lang="en-IN"/>
          </a:p>
        </p:txBody>
      </p:sp>
      <p:sp>
        <p:nvSpPr>
          <p:cNvPr id="70" name="Shape 68"/>
          <p:cNvSpPr/>
          <p:nvPr/>
        </p:nvSpPr>
        <p:spPr>
          <a:xfrm>
            <a:off x="4846320" y="2240280"/>
            <a:ext cx="54864" cy="502920"/>
          </a:xfrm>
          <a:prstGeom prst="rect">
            <a:avLst/>
          </a:prstGeom>
          <a:solidFill>
            <a:srgbClr val="F59E0B"/>
          </a:solidFill>
          <a:ln/>
        </p:spPr>
        <p:txBody>
          <a:bodyPr/>
          <a:lstStyle/>
          <a:p>
            <a:endParaRPr lang="en-IN"/>
          </a:p>
        </p:txBody>
      </p:sp>
      <p:sp>
        <p:nvSpPr>
          <p:cNvPr id="71" name="Text 69"/>
          <p:cNvSpPr/>
          <p:nvPr/>
        </p:nvSpPr>
        <p:spPr>
          <a:xfrm>
            <a:off x="4983480" y="224028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Practical Readiness Validation</a:t>
            </a:r>
            <a:endParaRPr lang="en-US" sz="1100" dirty="0"/>
          </a:p>
        </p:txBody>
      </p:sp>
      <p:sp>
        <p:nvSpPr>
          <p:cNvPr id="72" name="Shape 70"/>
          <p:cNvSpPr/>
          <p:nvPr/>
        </p:nvSpPr>
        <p:spPr>
          <a:xfrm>
            <a:off x="7498080" y="2368296"/>
            <a:ext cx="914400" cy="256032"/>
          </a:xfrm>
          <a:prstGeom prst="roundRect">
            <a:avLst>
              <a:gd name="adj" fmla="val 50000"/>
            </a:avLst>
          </a:prstGeom>
          <a:solidFill>
            <a:srgbClr val="F59E0B"/>
          </a:solidFill>
          <a:ln/>
        </p:spPr>
        <p:txBody>
          <a:bodyPr/>
          <a:lstStyle/>
          <a:p>
            <a:endParaRPr lang="en-IN"/>
          </a:p>
        </p:txBody>
      </p:sp>
      <p:sp>
        <p:nvSpPr>
          <p:cNvPr id="73" name="Text 71"/>
          <p:cNvSpPr/>
          <p:nvPr/>
        </p:nvSpPr>
        <p:spPr>
          <a:xfrm>
            <a:off x="7498080" y="236829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VALIDATE</a:t>
            </a:r>
            <a:endParaRPr lang="en-US" sz="900" dirty="0"/>
          </a:p>
        </p:txBody>
      </p:sp>
      <p:sp>
        <p:nvSpPr>
          <p:cNvPr id="74" name="Shape 72"/>
          <p:cNvSpPr/>
          <p:nvPr/>
        </p:nvSpPr>
        <p:spPr>
          <a:xfrm>
            <a:off x="4846320" y="2834640"/>
            <a:ext cx="3657600" cy="502920"/>
          </a:xfrm>
          <a:prstGeom prst="rect">
            <a:avLst/>
          </a:prstGeom>
          <a:solidFill>
            <a:srgbClr val="F8FAFC"/>
          </a:solidFill>
          <a:ln w="5080">
            <a:solidFill>
              <a:srgbClr val="E5E7EB"/>
            </a:solidFill>
            <a:prstDash val="solid"/>
          </a:ln>
        </p:spPr>
        <p:txBody>
          <a:bodyPr/>
          <a:lstStyle/>
          <a:p>
            <a:endParaRPr lang="en-IN"/>
          </a:p>
        </p:txBody>
      </p:sp>
      <p:sp>
        <p:nvSpPr>
          <p:cNvPr id="75" name="Shape 73"/>
          <p:cNvSpPr/>
          <p:nvPr/>
        </p:nvSpPr>
        <p:spPr>
          <a:xfrm>
            <a:off x="4846320" y="2834640"/>
            <a:ext cx="54864" cy="502920"/>
          </a:xfrm>
          <a:prstGeom prst="rect">
            <a:avLst/>
          </a:prstGeom>
          <a:solidFill>
            <a:srgbClr val="F59E0B"/>
          </a:solidFill>
          <a:ln/>
        </p:spPr>
        <p:txBody>
          <a:bodyPr/>
          <a:lstStyle/>
          <a:p>
            <a:endParaRPr lang="en-IN"/>
          </a:p>
        </p:txBody>
      </p:sp>
      <p:sp>
        <p:nvSpPr>
          <p:cNvPr id="76" name="Text 74"/>
          <p:cNvSpPr/>
          <p:nvPr/>
        </p:nvSpPr>
        <p:spPr>
          <a:xfrm>
            <a:off x="4983480" y="283464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Mock Delivery Demonstration</a:t>
            </a:r>
            <a:endParaRPr lang="en-US" sz="1100" dirty="0"/>
          </a:p>
        </p:txBody>
      </p:sp>
      <p:sp>
        <p:nvSpPr>
          <p:cNvPr id="77" name="Shape 75"/>
          <p:cNvSpPr/>
          <p:nvPr/>
        </p:nvSpPr>
        <p:spPr>
          <a:xfrm>
            <a:off x="7498080" y="2962656"/>
            <a:ext cx="914400" cy="256032"/>
          </a:xfrm>
          <a:prstGeom prst="roundRect">
            <a:avLst>
              <a:gd name="adj" fmla="val 50000"/>
            </a:avLst>
          </a:prstGeom>
          <a:solidFill>
            <a:srgbClr val="F59E0B"/>
          </a:solidFill>
          <a:ln/>
        </p:spPr>
        <p:txBody>
          <a:bodyPr/>
          <a:lstStyle/>
          <a:p>
            <a:endParaRPr lang="en-IN"/>
          </a:p>
        </p:txBody>
      </p:sp>
      <p:sp>
        <p:nvSpPr>
          <p:cNvPr id="78" name="Text 76"/>
          <p:cNvSpPr/>
          <p:nvPr/>
        </p:nvSpPr>
        <p:spPr>
          <a:xfrm>
            <a:off x="7498080" y="296265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DEMONSTRATE</a:t>
            </a:r>
            <a:endParaRPr lang="en-US" sz="900" dirty="0"/>
          </a:p>
        </p:txBody>
      </p:sp>
      <p:sp>
        <p:nvSpPr>
          <p:cNvPr id="79" name="Shape 77"/>
          <p:cNvSpPr/>
          <p:nvPr/>
        </p:nvSpPr>
        <p:spPr>
          <a:xfrm>
            <a:off x="4846320" y="3429000"/>
            <a:ext cx="3657600" cy="502920"/>
          </a:xfrm>
          <a:prstGeom prst="rect">
            <a:avLst/>
          </a:prstGeom>
          <a:solidFill>
            <a:srgbClr val="F8FAFC"/>
          </a:solidFill>
          <a:ln w="5080">
            <a:solidFill>
              <a:srgbClr val="E5E7EB"/>
            </a:solidFill>
            <a:prstDash val="solid"/>
          </a:ln>
        </p:spPr>
        <p:txBody>
          <a:bodyPr/>
          <a:lstStyle/>
          <a:p>
            <a:endParaRPr lang="en-IN"/>
          </a:p>
        </p:txBody>
      </p:sp>
      <p:sp>
        <p:nvSpPr>
          <p:cNvPr id="80" name="Shape 78"/>
          <p:cNvSpPr/>
          <p:nvPr/>
        </p:nvSpPr>
        <p:spPr>
          <a:xfrm>
            <a:off x="4846320" y="3429000"/>
            <a:ext cx="54864" cy="502920"/>
          </a:xfrm>
          <a:prstGeom prst="rect">
            <a:avLst/>
          </a:prstGeom>
          <a:solidFill>
            <a:srgbClr val="16A34A"/>
          </a:solidFill>
          <a:ln/>
        </p:spPr>
        <p:txBody>
          <a:bodyPr/>
          <a:lstStyle/>
          <a:p>
            <a:endParaRPr lang="en-IN"/>
          </a:p>
        </p:txBody>
      </p:sp>
      <p:sp>
        <p:nvSpPr>
          <p:cNvPr id="81" name="Text 79"/>
          <p:cNvSpPr/>
          <p:nvPr/>
        </p:nvSpPr>
        <p:spPr>
          <a:xfrm>
            <a:off x="4983480" y="342900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Certification Progress</a:t>
            </a:r>
            <a:endParaRPr lang="en-US" sz="1100" dirty="0"/>
          </a:p>
        </p:txBody>
      </p:sp>
      <p:sp>
        <p:nvSpPr>
          <p:cNvPr id="82" name="Shape 80"/>
          <p:cNvSpPr/>
          <p:nvPr/>
        </p:nvSpPr>
        <p:spPr>
          <a:xfrm>
            <a:off x="7498080" y="3557016"/>
            <a:ext cx="914400" cy="256032"/>
          </a:xfrm>
          <a:prstGeom prst="roundRect">
            <a:avLst>
              <a:gd name="adj" fmla="val 50000"/>
            </a:avLst>
          </a:prstGeom>
          <a:solidFill>
            <a:srgbClr val="16A34A"/>
          </a:solidFill>
          <a:ln/>
        </p:spPr>
        <p:txBody>
          <a:bodyPr/>
          <a:lstStyle/>
          <a:p>
            <a:endParaRPr lang="en-IN"/>
          </a:p>
        </p:txBody>
      </p:sp>
      <p:sp>
        <p:nvSpPr>
          <p:cNvPr id="83" name="Text 81"/>
          <p:cNvSpPr/>
          <p:nvPr/>
        </p:nvSpPr>
        <p:spPr>
          <a:xfrm>
            <a:off x="7498080" y="355701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ADVANCE</a:t>
            </a:r>
            <a:endParaRPr lang="en-US" sz="900" dirty="0"/>
          </a:p>
        </p:txBody>
      </p:sp>
      <p:sp>
        <p:nvSpPr>
          <p:cNvPr id="84" name="Shape 82"/>
          <p:cNvSpPr/>
          <p:nvPr/>
        </p:nvSpPr>
        <p:spPr>
          <a:xfrm>
            <a:off x="4846320" y="4023360"/>
            <a:ext cx="3657600" cy="502920"/>
          </a:xfrm>
          <a:prstGeom prst="rect">
            <a:avLst/>
          </a:prstGeom>
          <a:solidFill>
            <a:srgbClr val="F8FAFC"/>
          </a:solidFill>
          <a:ln w="5080">
            <a:solidFill>
              <a:srgbClr val="E5E7EB"/>
            </a:solidFill>
            <a:prstDash val="solid"/>
          </a:ln>
        </p:spPr>
        <p:txBody>
          <a:bodyPr/>
          <a:lstStyle/>
          <a:p>
            <a:endParaRPr lang="en-IN"/>
          </a:p>
        </p:txBody>
      </p:sp>
      <p:sp>
        <p:nvSpPr>
          <p:cNvPr id="85" name="Shape 83"/>
          <p:cNvSpPr/>
          <p:nvPr/>
        </p:nvSpPr>
        <p:spPr>
          <a:xfrm>
            <a:off x="4846320" y="4023360"/>
            <a:ext cx="54864" cy="502920"/>
          </a:xfrm>
          <a:prstGeom prst="rect">
            <a:avLst/>
          </a:prstGeom>
          <a:solidFill>
            <a:srgbClr val="F59E0B"/>
          </a:solidFill>
          <a:ln/>
        </p:spPr>
        <p:txBody>
          <a:bodyPr/>
          <a:lstStyle/>
          <a:p>
            <a:endParaRPr lang="en-IN"/>
          </a:p>
        </p:txBody>
      </p:sp>
      <p:sp>
        <p:nvSpPr>
          <p:cNvPr id="86" name="Text 84"/>
          <p:cNvSpPr/>
          <p:nvPr/>
        </p:nvSpPr>
        <p:spPr>
          <a:xfrm>
            <a:off x="4983480" y="4023360"/>
            <a:ext cx="2468880" cy="502920"/>
          </a:xfrm>
          <a:prstGeom prst="rect">
            <a:avLst/>
          </a:prstGeom>
          <a:noFill/>
          <a:ln/>
        </p:spPr>
        <p:txBody>
          <a:bodyPr wrap="square"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Business Readiness</a:t>
            </a:r>
            <a:endParaRPr lang="en-US" sz="1100" dirty="0"/>
          </a:p>
        </p:txBody>
      </p:sp>
      <p:sp>
        <p:nvSpPr>
          <p:cNvPr id="87" name="Shape 85"/>
          <p:cNvSpPr/>
          <p:nvPr/>
        </p:nvSpPr>
        <p:spPr>
          <a:xfrm>
            <a:off x="7498080" y="4151376"/>
            <a:ext cx="914400" cy="256032"/>
          </a:xfrm>
          <a:prstGeom prst="roundRect">
            <a:avLst>
              <a:gd name="adj" fmla="val 50000"/>
            </a:avLst>
          </a:prstGeom>
          <a:solidFill>
            <a:srgbClr val="F59E0B"/>
          </a:solidFill>
          <a:ln/>
        </p:spPr>
        <p:txBody>
          <a:bodyPr/>
          <a:lstStyle/>
          <a:p>
            <a:endParaRPr lang="en-IN"/>
          </a:p>
        </p:txBody>
      </p:sp>
      <p:sp>
        <p:nvSpPr>
          <p:cNvPr id="88" name="Text 86"/>
          <p:cNvSpPr/>
          <p:nvPr/>
        </p:nvSpPr>
        <p:spPr>
          <a:xfrm>
            <a:off x="7498080" y="415137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89" name="Text 87"/>
          <p:cNvSpPr/>
          <p:nvPr/>
        </p:nvSpPr>
        <p:spPr>
          <a:xfrm>
            <a:off x="457200" y="4754880"/>
            <a:ext cx="8229600" cy="228600"/>
          </a:xfrm>
          <a:prstGeom prst="rect">
            <a:avLst/>
          </a:prstGeom>
          <a:noFill/>
          <a:ln/>
        </p:spPr>
        <p:txBody>
          <a:bodyPr wrap="square"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Coaching stance: shared goals, shared accountability, measurable progress every two weeks.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4859" cy="457200"/>
          </a:xfrm>
          <a:prstGeom prst="rect">
            <a:avLst/>
          </a:prstGeom>
          <a:solidFill>
            <a:srgbClr val="1E3A8A"/>
          </a:solidFill>
          <a:ln/>
        </p:spPr>
        <p:txBody>
          <a:bodyPr/>
          <a:lstStyle/>
          <a:p>
            <a:endParaRPr lang="en-IN"/>
          </a:p>
        </p:txBody>
      </p:sp>
      <p:sp>
        <p:nvSpPr>
          <p:cNvPr id="3" name="Shape 1"/>
          <p:cNvSpPr/>
          <p:nvPr/>
        </p:nvSpPr>
        <p:spPr>
          <a:xfrm>
            <a:off x="326571" y="0"/>
            <a:ext cx="344859" cy="457200"/>
          </a:xfrm>
          <a:prstGeom prst="rect">
            <a:avLst/>
          </a:prstGeom>
          <a:solidFill>
            <a:srgbClr val="24388C"/>
          </a:solidFill>
          <a:ln/>
        </p:spPr>
        <p:txBody>
          <a:bodyPr/>
          <a:lstStyle/>
          <a:p>
            <a:endParaRPr lang="en-IN"/>
          </a:p>
        </p:txBody>
      </p:sp>
      <p:sp>
        <p:nvSpPr>
          <p:cNvPr id="4" name="Shape 2"/>
          <p:cNvSpPr/>
          <p:nvPr/>
        </p:nvSpPr>
        <p:spPr>
          <a:xfrm>
            <a:off x="653143" y="0"/>
            <a:ext cx="344859" cy="457200"/>
          </a:xfrm>
          <a:prstGeom prst="rect">
            <a:avLst/>
          </a:prstGeom>
          <a:solidFill>
            <a:srgbClr val="29368E"/>
          </a:solidFill>
          <a:ln/>
        </p:spPr>
        <p:txBody>
          <a:bodyPr/>
          <a:lstStyle/>
          <a:p>
            <a:endParaRPr lang="en-IN"/>
          </a:p>
        </p:txBody>
      </p:sp>
      <p:sp>
        <p:nvSpPr>
          <p:cNvPr id="5" name="Shape 3"/>
          <p:cNvSpPr/>
          <p:nvPr/>
        </p:nvSpPr>
        <p:spPr>
          <a:xfrm>
            <a:off x="979714" y="0"/>
            <a:ext cx="344859" cy="457200"/>
          </a:xfrm>
          <a:prstGeom prst="rect">
            <a:avLst/>
          </a:prstGeom>
          <a:solidFill>
            <a:srgbClr val="2F3491"/>
          </a:solidFill>
          <a:ln/>
        </p:spPr>
        <p:txBody>
          <a:bodyPr/>
          <a:lstStyle/>
          <a:p>
            <a:endParaRPr lang="en-IN"/>
          </a:p>
        </p:txBody>
      </p:sp>
      <p:sp>
        <p:nvSpPr>
          <p:cNvPr id="6" name="Shape 4"/>
          <p:cNvSpPr/>
          <p:nvPr/>
        </p:nvSpPr>
        <p:spPr>
          <a:xfrm>
            <a:off x="1306286" y="0"/>
            <a:ext cx="344859" cy="457200"/>
          </a:xfrm>
          <a:prstGeom prst="rect">
            <a:avLst/>
          </a:prstGeom>
          <a:solidFill>
            <a:srgbClr val="353393"/>
          </a:solidFill>
          <a:ln/>
        </p:spPr>
        <p:txBody>
          <a:bodyPr/>
          <a:lstStyle/>
          <a:p>
            <a:endParaRPr lang="en-IN"/>
          </a:p>
        </p:txBody>
      </p:sp>
      <p:sp>
        <p:nvSpPr>
          <p:cNvPr id="7" name="Shape 5"/>
          <p:cNvSpPr/>
          <p:nvPr/>
        </p:nvSpPr>
        <p:spPr>
          <a:xfrm>
            <a:off x="1632857" y="0"/>
            <a:ext cx="344859" cy="457200"/>
          </a:xfrm>
          <a:prstGeom prst="rect">
            <a:avLst/>
          </a:prstGeom>
          <a:solidFill>
            <a:srgbClr val="3B3195"/>
          </a:solidFill>
          <a:ln/>
        </p:spPr>
        <p:txBody>
          <a:bodyPr/>
          <a:lstStyle/>
          <a:p>
            <a:endParaRPr lang="en-IN"/>
          </a:p>
        </p:txBody>
      </p:sp>
      <p:sp>
        <p:nvSpPr>
          <p:cNvPr id="8" name="Shape 6"/>
          <p:cNvSpPr/>
          <p:nvPr/>
        </p:nvSpPr>
        <p:spPr>
          <a:xfrm>
            <a:off x="1959429" y="0"/>
            <a:ext cx="344859" cy="457200"/>
          </a:xfrm>
          <a:prstGeom prst="rect">
            <a:avLst/>
          </a:prstGeom>
          <a:solidFill>
            <a:srgbClr val="402F97"/>
          </a:solidFill>
          <a:ln/>
        </p:spPr>
        <p:txBody>
          <a:bodyPr/>
          <a:lstStyle/>
          <a:p>
            <a:endParaRPr lang="en-IN"/>
          </a:p>
        </p:txBody>
      </p:sp>
      <p:sp>
        <p:nvSpPr>
          <p:cNvPr id="9" name="Shape 7"/>
          <p:cNvSpPr/>
          <p:nvPr/>
        </p:nvSpPr>
        <p:spPr>
          <a:xfrm>
            <a:off x="2286000" y="0"/>
            <a:ext cx="344859" cy="457200"/>
          </a:xfrm>
          <a:prstGeom prst="rect">
            <a:avLst/>
          </a:prstGeom>
          <a:solidFill>
            <a:srgbClr val="462D9A"/>
          </a:solidFill>
          <a:ln/>
        </p:spPr>
        <p:txBody>
          <a:bodyPr/>
          <a:lstStyle/>
          <a:p>
            <a:endParaRPr lang="en-IN"/>
          </a:p>
        </p:txBody>
      </p:sp>
      <p:sp>
        <p:nvSpPr>
          <p:cNvPr id="10" name="Shape 8"/>
          <p:cNvSpPr/>
          <p:nvPr/>
        </p:nvSpPr>
        <p:spPr>
          <a:xfrm>
            <a:off x="2612571" y="0"/>
            <a:ext cx="344859" cy="457200"/>
          </a:xfrm>
          <a:prstGeom prst="rect">
            <a:avLst/>
          </a:prstGeom>
          <a:solidFill>
            <a:srgbClr val="4C2B9C"/>
          </a:solidFill>
          <a:ln/>
        </p:spPr>
        <p:txBody>
          <a:bodyPr/>
          <a:lstStyle/>
          <a:p>
            <a:endParaRPr lang="en-IN"/>
          </a:p>
        </p:txBody>
      </p:sp>
      <p:sp>
        <p:nvSpPr>
          <p:cNvPr id="11" name="Shape 9"/>
          <p:cNvSpPr/>
          <p:nvPr/>
        </p:nvSpPr>
        <p:spPr>
          <a:xfrm>
            <a:off x="2939143" y="0"/>
            <a:ext cx="344859" cy="457200"/>
          </a:xfrm>
          <a:prstGeom prst="rect">
            <a:avLst/>
          </a:prstGeom>
          <a:solidFill>
            <a:srgbClr val="51299E"/>
          </a:solidFill>
          <a:ln/>
        </p:spPr>
        <p:txBody>
          <a:bodyPr/>
          <a:lstStyle/>
          <a:p>
            <a:endParaRPr lang="en-IN"/>
          </a:p>
        </p:txBody>
      </p:sp>
      <p:sp>
        <p:nvSpPr>
          <p:cNvPr id="12" name="Shape 10"/>
          <p:cNvSpPr/>
          <p:nvPr/>
        </p:nvSpPr>
        <p:spPr>
          <a:xfrm>
            <a:off x="3265714" y="0"/>
            <a:ext cx="344859" cy="457200"/>
          </a:xfrm>
          <a:prstGeom prst="rect">
            <a:avLst/>
          </a:prstGeom>
          <a:solidFill>
            <a:srgbClr val="5727A0"/>
          </a:solidFill>
          <a:ln/>
        </p:spPr>
        <p:txBody>
          <a:bodyPr/>
          <a:lstStyle/>
          <a:p>
            <a:endParaRPr lang="en-IN"/>
          </a:p>
        </p:txBody>
      </p:sp>
      <p:sp>
        <p:nvSpPr>
          <p:cNvPr id="13" name="Shape 11"/>
          <p:cNvSpPr/>
          <p:nvPr/>
        </p:nvSpPr>
        <p:spPr>
          <a:xfrm>
            <a:off x="3592286" y="0"/>
            <a:ext cx="344859" cy="457200"/>
          </a:xfrm>
          <a:prstGeom prst="rect">
            <a:avLst/>
          </a:prstGeom>
          <a:solidFill>
            <a:srgbClr val="5D26A2"/>
          </a:solidFill>
          <a:ln/>
        </p:spPr>
        <p:txBody>
          <a:bodyPr/>
          <a:lstStyle/>
          <a:p>
            <a:endParaRPr lang="en-IN"/>
          </a:p>
        </p:txBody>
      </p:sp>
      <p:sp>
        <p:nvSpPr>
          <p:cNvPr id="14" name="Shape 12"/>
          <p:cNvSpPr/>
          <p:nvPr/>
        </p:nvSpPr>
        <p:spPr>
          <a:xfrm>
            <a:off x="3918857" y="0"/>
            <a:ext cx="344859" cy="457200"/>
          </a:xfrm>
          <a:prstGeom prst="rect">
            <a:avLst/>
          </a:prstGeom>
          <a:solidFill>
            <a:srgbClr val="6224A5"/>
          </a:solidFill>
          <a:ln/>
        </p:spPr>
        <p:txBody>
          <a:bodyPr/>
          <a:lstStyle/>
          <a:p>
            <a:endParaRPr lang="en-IN"/>
          </a:p>
        </p:txBody>
      </p:sp>
      <p:sp>
        <p:nvSpPr>
          <p:cNvPr id="15" name="Shape 13"/>
          <p:cNvSpPr/>
          <p:nvPr/>
        </p:nvSpPr>
        <p:spPr>
          <a:xfrm>
            <a:off x="4245429" y="0"/>
            <a:ext cx="344859" cy="457200"/>
          </a:xfrm>
          <a:prstGeom prst="rect">
            <a:avLst/>
          </a:prstGeom>
          <a:solidFill>
            <a:srgbClr val="6822A7"/>
          </a:solidFill>
          <a:ln/>
        </p:spPr>
        <p:txBody>
          <a:bodyPr/>
          <a:lstStyle/>
          <a:p>
            <a:endParaRPr lang="en-IN"/>
          </a:p>
        </p:txBody>
      </p:sp>
      <p:sp>
        <p:nvSpPr>
          <p:cNvPr id="16" name="Shape 14"/>
          <p:cNvSpPr/>
          <p:nvPr/>
        </p:nvSpPr>
        <p:spPr>
          <a:xfrm>
            <a:off x="4572000" y="0"/>
            <a:ext cx="344859" cy="457200"/>
          </a:xfrm>
          <a:prstGeom prst="rect">
            <a:avLst/>
          </a:prstGeom>
          <a:solidFill>
            <a:srgbClr val="6F21A6"/>
          </a:solidFill>
          <a:ln/>
        </p:spPr>
        <p:txBody>
          <a:bodyPr/>
          <a:lstStyle/>
          <a:p>
            <a:endParaRPr lang="en-IN"/>
          </a:p>
        </p:txBody>
      </p:sp>
      <p:sp>
        <p:nvSpPr>
          <p:cNvPr id="17" name="Shape 15"/>
          <p:cNvSpPr/>
          <p:nvPr/>
        </p:nvSpPr>
        <p:spPr>
          <a:xfrm>
            <a:off x="4898571" y="0"/>
            <a:ext cx="344859" cy="457200"/>
          </a:xfrm>
          <a:prstGeom prst="rect">
            <a:avLst/>
          </a:prstGeom>
          <a:solidFill>
            <a:srgbClr val="7821A2"/>
          </a:solidFill>
          <a:ln/>
        </p:spPr>
        <p:txBody>
          <a:bodyPr/>
          <a:lstStyle/>
          <a:p>
            <a:endParaRPr lang="en-IN"/>
          </a:p>
        </p:txBody>
      </p:sp>
      <p:sp>
        <p:nvSpPr>
          <p:cNvPr id="18" name="Shape 16"/>
          <p:cNvSpPr/>
          <p:nvPr/>
        </p:nvSpPr>
        <p:spPr>
          <a:xfrm>
            <a:off x="5225143" y="0"/>
            <a:ext cx="344859" cy="457200"/>
          </a:xfrm>
          <a:prstGeom prst="rect">
            <a:avLst/>
          </a:prstGeom>
          <a:solidFill>
            <a:srgbClr val="81209E"/>
          </a:solidFill>
          <a:ln/>
        </p:spPr>
        <p:txBody>
          <a:bodyPr/>
          <a:lstStyle/>
          <a:p>
            <a:endParaRPr lang="en-IN"/>
          </a:p>
        </p:txBody>
      </p:sp>
      <p:sp>
        <p:nvSpPr>
          <p:cNvPr id="19" name="Shape 17"/>
          <p:cNvSpPr/>
          <p:nvPr/>
        </p:nvSpPr>
        <p:spPr>
          <a:xfrm>
            <a:off x="5551714" y="0"/>
            <a:ext cx="344859" cy="457200"/>
          </a:xfrm>
          <a:prstGeom prst="rect">
            <a:avLst/>
          </a:prstGeom>
          <a:solidFill>
            <a:srgbClr val="8A209B"/>
          </a:solidFill>
          <a:ln/>
        </p:spPr>
        <p:txBody>
          <a:bodyPr/>
          <a:lstStyle/>
          <a:p>
            <a:endParaRPr lang="en-IN"/>
          </a:p>
        </p:txBody>
      </p:sp>
      <p:sp>
        <p:nvSpPr>
          <p:cNvPr id="20" name="Shape 18"/>
          <p:cNvSpPr/>
          <p:nvPr/>
        </p:nvSpPr>
        <p:spPr>
          <a:xfrm>
            <a:off x="5878286" y="0"/>
            <a:ext cx="344859" cy="457200"/>
          </a:xfrm>
          <a:prstGeom prst="rect">
            <a:avLst/>
          </a:prstGeom>
          <a:solidFill>
            <a:srgbClr val="922097"/>
          </a:solidFill>
          <a:ln/>
        </p:spPr>
        <p:txBody>
          <a:bodyPr/>
          <a:lstStyle/>
          <a:p>
            <a:endParaRPr lang="en-IN"/>
          </a:p>
        </p:txBody>
      </p:sp>
      <p:sp>
        <p:nvSpPr>
          <p:cNvPr id="21" name="Shape 19"/>
          <p:cNvSpPr/>
          <p:nvPr/>
        </p:nvSpPr>
        <p:spPr>
          <a:xfrm>
            <a:off x="6204857" y="0"/>
            <a:ext cx="344859" cy="457200"/>
          </a:xfrm>
          <a:prstGeom prst="rect">
            <a:avLst/>
          </a:prstGeom>
          <a:solidFill>
            <a:srgbClr val="9B1F93"/>
          </a:solidFill>
          <a:ln/>
        </p:spPr>
        <p:txBody>
          <a:bodyPr/>
          <a:lstStyle/>
          <a:p>
            <a:endParaRPr lang="en-IN"/>
          </a:p>
        </p:txBody>
      </p:sp>
      <p:sp>
        <p:nvSpPr>
          <p:cNvPr id="22" name="Shape 20"/>
          <p:cNvSpPr/>
          <p:nvPr/>
        </p:nvSpPr>
        <p:spPr>
          <a:xfrm>
            <a:off x="6531429" y="0"/>
            <a:ext cx="344859" cy="457200"/>
          </a:xfrm>
          <a:prstGeom prst="rect">
            <a:avLst/>
          </a:prstGeom>
          <a:solidFill>
            <a:srgbClr val="A41F8F"/>
          </a:solidFill>
          <a:ln/>
        </p:spPr>
        <p:txBody>
          <a:bodyPr/>
          <a:lstStyle/>
          <a:p>
            <a:endParaRPr lang="en-IN"/>
          </a:p>
        </p:txBody>
      </p:sp>
      <p:sp>
        <p:nvSpPr>
          <p:cNvPr id="23" name="Shape 21"/>
          <p:cNvSpPr/>
          <p:nvPr/>
        </p:nvSpPr>
        <p:spPr>
          <a:xfrm>
            <a:off x="6858000" y="0"/>
            <a:ext cx="344859" cy="457200"/>
          </a:xfrm>
          <a:prstGeom prst="rect">
            <a:avLst/>
          </a:prstGeom>
          <a:solidFill>
            <a:srgbClr val="AD1F8B"/>
          </a:solidFill>
          <a:ln/>
        </p:spPr>
        <p:txBody>
          <a:bodyPr/>
          <a:lstStyle/>
          <a:p>
            <a:endParaRPr lang="en-IN"/>
          </a:p>
        </p:txBody>
      </p:sp>
      <p:sp>
        <p:nvSpPr>
          <p:cNvPr id="24" name="Shape 22"/>
          <p:cNvSpPr/>
          <p:nvPr/>
        </p:nvSpPr>
        <p:spPr>
          <a:xfrm>
            <a:off x="7184571" y="0"/>
            <a:ext cx="344859" cy="457200"/>
          </a:xfrm>
          <a:prstGeom prst="rect">
            <a:avLst/>
          </a:prstGeom>
          <a:solidFill>
            <a:srgbClr val="B51E87"/>
          </a:solidFill>
          <a:ln/>
        </p:spPr>
        <p:txBody>
          <a:bodyPr/>
          <a:lstStyle/>
          <a:p>
            <a:endParaRPr lang="en-IN"/>
          </a:p>
        </p:txBody>
      </p:sp>
      <p:sp>
        <p:nvSpPr>
          <p:cNvPr id="25" name="Shape 23"/>
          <p:cNvSpPr/>
          <p:nvPr/>
        </p:nvSpPr>
        <p:spPr>
          <a:xfrm>
            <a:off x="7511143" y="0"/>
            <a:ext cx="344859" cy="457200"/>
          </a:xfrm>
          <a:prstGeom prst="rect">
            <a:avLst/>
          </a:prstGeom>
          <a:solidFill>
            <a:srgbClr val="BE1E83"/>
          </a:solidFill>
          <a:ln/>
        </p:spPr>
        <p:txBody>
          <a:bodyPr/>
          <a:lstStyle/>
          <a:p>
            <a:endParaRPr lang="en-IN"/>
          </a:p>
        </p:txBody>
      </p:sp>
      <p:sp>
        <p:nvSpPr>
          <p:cNvPr id="26" name="Shape 24"/>
          <p:cNvSpPr/>
          <p:nvPr/>
        </p:nvSpPr>
        <p:spPr>
          <a:xfrm>
            <a:off x="7837714" y="0"/>
            <a:ext cx="344859" cy="457200"/>
          </a:xfrm>
          <a:prstGeom prst="rect">
            <a:avLst/>
          </a:prstGeom>
          <a:solidFill>
            <a:srgbClr val="C71E80"/>
          </a:solidFill>
          <a:ln/>
        </p:spPr>
        <p:txBody>
          <a:bodyPr/>
          <a:lstStyle/>
          <a:p>
            <a:endParaRPr lang="en-IN"/>
          </a:p>
        </p:txBody>
      </p:sp>
      <p:sp>
        <p:nvSpPr>
          <p:cNvPr id="27" name="Shape 25"/>
          <p:cNvSpPr/>
          <p:nvPr/>
        </p:nvSpPr>
        <p:spPr>
          <a:xfrm>
            <a:off x="8164286" y="0"/>
            <a:ext cx="344859" cy="457200"/>
          </a:xfrm>
          <a:prstGeom prst="rect">
            <a:avLst/>
          </a:prstGeom>
          <a:solidFill>
            <a:srgbClr val="D01E7C"/>
          </a:solidFill>
          <a:ln/>
        </p:spPr>
        <p:txBody>
          <a:bodyPr/>
          <a:lstStyle/>
          <a:p>
            <a:endParaRPr lang="en-IN"/>
          </a:p>
        </p:txBody>
      </p:sp>
      <p:sp>
        <p:nvSpPr>
          <p:cNvPr id="28" name="Shape 26"/>
          <p:cNvSpPr/>
          <p:nvPr/>
        </p:nvSpPr>
        <p:spPr>
          <a:xfrm>
            <a:off x="8490857" y="0"/>
            <a:ext cx="344859" cy="457200"/>
          </a:xfrm>
          <a:prstGeom prst="rect">
            <a:avLst/>
          </a:prstGeom>
          <a:solidFill>
            <a:srgbClr val="D81D78"/>
          </a:solidFill>
          <a:ln/>
        </p:spPr>
        <p:txBody>
          <a:bodyPr/>
          <a:lstStyle/>
          <a:p>
            <a:endParaRPr lang="en-IN"/>
          </a:p>
        </p:txBody>
      </p:sp>
      <p:sp>
        <p:nvSpPr>
          <p:cNvPr id="29" name="Shape 27"/>
          <p:cNvSpPr/>
          <p:nvPr/>
        </p:nvSpPr>
        <p:spPr>
          <a:xfrm>
            <a:off x="8817429" y="0"/>
            <a:ext cx="344859" cy="457200"/>
          </a:xfrm>
          <a:prstGeom prst="rect">
            <a:avLst/>
          </a:prstGeom>
          <a:solidFill>
            <a:srgbClr val="E11D74"/>
          </a:solidFill>
          <a:ln/>
        </p:spPr>
        <p:txBody>
          <a:bodyPr/>
          <a:lstStyle/>
          <a:p>
            <a:endParaRPr lang="en-IN"/>
          </a:p>
        </p:txBody>
      </p:sp>
      <p:sp>
        <p:nvSpPr>
          <p:cNvPr id="30" name="Shape 28"/>
          <p:cNvSpPr/>
          <p:nvPr/>
        </p:nvSpPr>
        <p:spPr>
          <a:xfrm>
            <a:off x="0" y="457200"/>
            <a:ext cx="9144000" cy="36576"/>
          </a:xfrm>
          <a:prstGeom prst="rect">
            <a:avLst/>
          </a:prstGeom>
          <a:solidFill>
            <a:srgbClr val="E11D74"/>
          </a:solidFill>
          <a:ln/>
        </p:spPr>
        <p:txBody>
          <a:bodyPr/>
          <a:lstStyle/>
          <a:p>
            <a:endParaRPr lang="en-IN"/>
          </a:p>
        </p:txBody>
      </p:sp>
      <p:sp>
        <p:nvSpPr>
          <p:cNvPr id="31" name="Text 29"/>
          <p:cNvSpPr/>
          <p:nvPr/>
        </p:nvSpPr>
        <p:spPr>
          <a:xfrm>
            <a:off x="457200" y="73152"/>
            <a:ext cx="5486400" cy="320040"/>
          </a:xfrm>
          <a:prstGeom prst="rect">
            <a:avLst/>
          </a:prstGeom>
          <a:noFill/>
          <a:ln/>
        </p:spPr>
        <p:txBody>
          <a:bodyPr wrap="square" rtlCol="0" anchor="ctr"/>
          <a:lstStyle/>
          <a:p>
            <a:pPr marL="0" indent="0">
              <a:buNone/>
            </a:pPr>
            <a:r>
              <a:rPr lang="en-US" sz="1000" b="1" kern="0" spc="400" dirty="0">
                <a:solidFill>
                  <a:srgbClr val="FFFFFF"/>
                </a:solidFill>
                <a:latin typeface="Calibri" pitchFamily="34" charset="0"/>
                <a:ea typeface="Calibri" pitchFamily="34" charset="-122"/>
                <a:cs typeface="Calibri" pitchFamily="34" charset="-120"/>
              </a:rPr>
              <a:t>10  NON-NEGOTIABLE EXPECTATIONS</a:t>
            </a:r>
            <a:endParaRPr lang="en-US" sz="1000" dirty="0"/>
          </a:p>
        </p:txBody>
      </p:sp>
      <p:sp>
        <p:nvSpPr>
          <p:cNvPr id="32" name="Text 30"/>
          <p:cNvSpPr/>
          <p:nvPr/>
        </p:nvSpPr>
        <p:spPr>
          <a:xfrm>
            <a:off x="5943600" y="73152"/>
            <a:ext cx="2926080" cy="320040"/>
          </a:xfrm>
          <a:prstGeom prst="rect">
            <a:avLst/>
          </a:prstGeom>
          <a:noFill/>
          <a:ln/>
        </p:spPr>
        <p:txBody>
          <a:bodyPr wrap="square" rtlCol="0" anchor="ctr"/>
          <a:lstStyle/>
          <a:p>
            <a:pPr marL="0" indent="0" algn="r">
              <a:buNone/>
            </a:pPr>
            <a:r>
              <a:rPr lang="en-US" sz="900" kern="0" spc="300" dirty="0">
                <a:solidFill>
                  <a:srgbClr val="FFFFFF"/>
                </a:solidFill>
                <a:latin typeface="Calibri" pitchFamily="34" charset="0"/>
                <a:ea typeface="Calibri" pitchFamily="34" charset="-122"/>
                <a:cs typeface="Calibri" pitchFamily="34" charset="-120"/>
              </a:rPr>
              <a:t>JUNE–JULY 2026  •  CONFIDENTIAL</a:t>
            </a:r>
            <a:endParaRPr lang="en-US" sz="900" dirty="0"/>
          </a:p>
        </p:txBody>
      </p:sp>
      <p:sp>
        <p:nvSpPr>
          <p:cNvPr id="33" name="Text 31"/>
          <p:cNvSpPr/>
          <p:nvPr/>
        </p:nvSpPr>
        <p:spPr>
          <a:xfrm>
            <a:off x="457200" y="685800"/>
            <a:ext cx="8229600" cy="457200"/>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The standards we hold without exception</a:t>
            </a:r>
            <a:endParaRPr lang="en-US" sz="2200" dirty="0"/>
          </a:p>
        </p:txBody>
      </p:sp>
      <p:sp>
        <p:nvSpPr>
          <p:cNvPr id="34" name="Shape 32"/>
          <p:cNvSpPr/>
          <p:nvPr/>
        </p:nvSpPr>
        <p:spPr>
          <a:xfrm>
            <a:off x="457200" y="1115568"/>
            <a:ext cx="457200" cy="36576"/>
          </a:xfrm>
          <a:prstGeom prst="rect">
            <a:avLst/>
          </a:prstGeom>
          <a:solidFill>
            <a:srgbClr val="E11D74"/>
          </a:solidFill>
          <a:ln/>
        </p:spPr>
        <p:txBody>
          <a:bodyPr/>
          <a:lstStyle/>
          <a:p>
            <a:endParaRPr lang="en-IN"/>
          </a:p>
        </p:txBody>
      </p:sp>
      <p:sp>
        <p:nvSpPr>
          <p:cNvPr id="35" name="Text 33"/>
          <p:cNvSpPr/>
          <p:nvPr/>
        </p:nvSpPr>
        <p:spPr>
          <a:xfrm>
            <a:off x="457200" y="4864608"/>
            <a:ext cx="4572000" cy="22860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Delivery Manager Review</a:t>
            </a:r>
            <a:endParaRPr lang="en-US" sz="900" dirty="0"/>
          </a:p>
        </p:txBody>
      </p:sp>
      <p:sp>
        <p:nvSpPr>
          <p:cNvPr id="36" name="Text 34"/>
          <p:cNvSpPr/>
          <p:nvPr/>
        </p:nvSpPr>
        <p:spPr>
          <a:xfrm>
            <a:off x="8046720" y="4864608"/>
            <a:ext cx="91440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37" name="Shape 35"/>
          <p:cNvSpPr/>
          <p:nvPr/>
        </p:nvSpPr>
        <p:spPr>
          <a:xfrm>
            <a:off x="457200" y="1417320"/>
            <a:ext cx="8229600" cy="438912"/>
          </a:xfrm>
          <a:prstGeom prst="rect">
            <a:avLst/>
          </a:prstGeom>
          <a:solidFill>
            <a:srgbClr val="FFFFFF"/>
          </a:solidFill>
          <a:ln w="6350">
            <a:solidFill>
              <a:srgbClr val="E5E7EB"/>
            </a:solidFill>
            <a:prstDash val="solid"/>
          </a:ln>
        </p:spPr>
        <p:txBody>
          <a:bodyPr/>
          <a:lstStyle/>
          <a:p>
            <a:endParaRPr lang="en-IN"/>
          </a:p>
        </p:txBody>
      </p:sp>
      <p:sp>
        <p:nvSpPr>
          <p:cNvPr id="38" name="Shape 36"/>
          <p:cNvSpPr/>
          <p:nvPr/>
        </p:nvSpPr>
        <p:spPr>
          <a:xfrm>
            <a:off x="457200" y="1417320"/>
            <a:ext cx="73152" cy="438912"/>
          </a:xfrm>
          <a:prstGeom prst="rect">
            <a:avLst/>
          </a:prstGeom>
          <a:solidFill>
            <a:srgbClr val="E11D74"/>
          </a:solidFill>
          <a:ln/>
        </p:spPr>
        <p:txBody>
          <a:bodyPr/>
          <a:lstStyle/>
          <a:p>
            <a:endParaRPr lang="en-IN"/>
          </a:p>
        </p:txBody>
      </p:sp>
      <p:sp>
        <p:nvSpPr>
          <p:cNvPr id="39" name="Shape 37"/>
          <p:cNvSpPr/>
          <p:nvPr/>
        </p:nvSpPr>
        <p:spPr>
          <a:xfrm>
            <a:off x="685800" y="1499616"/>
            <a:ext cx="274320" cy="274320"/>
          </a:xfrm>
          <a:prstGeom prst="ellipse">
            <a:avLst/>
          </a:prstGeom>
          <a:solidFill>
            <a:srgbClr val="0F172A"/>
          </a:solidFill>
          <a:ln/>
        </p:spPr>
        <p:txBody>
          <a:bodyPr/>
          <a:lstStyle/>
          <a:p>
            <a:endParaRPr lang="en-IN"/>
          </a:p>
        </p:txBody>
      </p:sp>
      <p:sp>
        <p:nvSpPr>
          <p:cNvPr id="40" name="Text 38"/>
          <p:cNvSpPr/>
          <p:nvPr/>
        </p:nvSpPr>
        <p:spPr>
          <a:xfrm>
            <a:off x="685800" y="149961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1" name="Text 39"/>
          <p:cNvSpPr/>
          <p:nvPr/>
        </p:nvSpPr>
        <p:spPr>
          <a:xfrm>
            <a:off x="1097280" y="1417320"/>
            <a:ext cx="7315200" cy="438912"/>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No assignment loss due to lack of readiness</a:t>
            </a:r>
            <a:endParaRPr lang="en-US" sz="1300" dirty="0"/>
          </a:p>
        </p:txBody>
      </p:sp>
      <p:sp>
        <p:nvSpPr>
          <p:cNvPr id="42" name="Shape 40"/>
          <p:cNvSpPr/>
          <p:nvPr/>
        </p:nvSpPr>
        <p:spPr>
          <a:xfrm>
            <a:off x="8275320" y="1499616"/>
            <a:ext cx="274320" cy="274320"/>
          </a:xfrm>
          <a:prstGeom prst="ellipse">
            <a:avLst/>
          </a:prstGeom>
          <a:solidFill>
            <a:srgbClr val="FEE2E2"/>
          </a:solidFill>
          <a:ln w="19050">
            <a:solidFill>
              <a:srgbClr val="DC2626"/>
            </a:solidFill>
            <a:prstDash val="solid"/>
          </a:ln>
        </p:spPr>
        <p:txBody>
          <a:bodyPr/>
          <a:lstStyle/>
          <a:p>
            <a:endParaRPr lang="en-IN"/>
          </a:p>
        </p:txBody>
      </p:sp>
      <p:sp>
        <p:nvSpPr>
          <p:cNvPr id="43" name="Shape 41"/>
          <p:cNvSpPr/>
          <p:nvPr/>
        </p:nvSpPr>
        <p:spPr>
          <a:xfrm>
            <a:off x="8330184" y="1536192"/>
            <a:ext cx="164592" cy="201168"/>
          </a:xfrm>
          <a:prstGeom prst="line">
            <a:avLst/>
          </a:prstGeom>
          <a:noFill/>
          <a:ln w="25400">
            <a:solidFill>
              <a:srgbClr val="DC2626"/>
            </a:solidFill>
            <a:prstDash val="solid"/>
          </a:ln>
        </p:spPr>
        <p:txBody>
          <a:bodyPr/>
          <a:lstStyle/>
          <a:p>
            <a:endParaRPr lang="en-IN"/>
          </a:p>
        </p:txBody>
      </p:sp>
      <p:sp>
        <p:nvSpPr>
          <p:cNvPr id="44" name="Shape 42"/>
          <p:cNvSpPr/>
          <p:nvPr/>
        </p:nvSpPr>
        <p:spPr>
          <a:xfrm>
            <a:off x="457200" y="1920240"/>
            <a:ext cx="8229600" cy="438912"/>
          </a:xfrm>
          <a:prstGeom prst="rect">
            <a:avLst/>
          </a:prstGeom>
          <a:solidFill>
            <a:srgbClr val="FFFFFF"/>
          </a:solidFill>
          <a:ln w="6350">
            <a:solidFill>
              <a:srgbClr val="E5E7EB"/>
            </a:solidFill>
            <a:prstDash val="solid"/>
          </a:ln>
        </p:spPr>
        <p:txBody>
          <a:bodyPr/>
          <a:lstStyle/>
          <a:p>
            <a:endParaRPr lang="en-IN"/>
          </a:p>
        </p:txBody>
      </p:sp>
      <p:sp>
        <p:nvSpPr>
          <p:cNvPr id="45" name="Shape 43"/>
          <p:cNvSpPr/>
          <p:nvPr/>
        </p:nvSpPr>
        <p:spPr>
          <a:xfrm>
            <a:off x="457200" y="1920240"/>
            <a:ext cx="73152" cy="438912"/>
          </a:xfrm>
          <a:prstGeom prst="rect">
            <a:avLst/>
          </a:prstGeom>
          <a:solidFill>
            <a:srgbClr val="E11D74"/>
          </a:solidFill>
          <a:ln/>
        </p:spPr>
        <p:txBody>
          <a:bodyPr/>
          <a:lstStyle/>
          <a:p>
            <a:endParaRPr lang="en-IN"/>
          </a:p>
        </p:txBody>
      </p:sp>
      <p:sp>
        <p:nvSpPr>
          <p:cNvPr id="46" name="Shape 44"/>
          <p:cNvSpPr/>
          <p:nvPr/>
        </p:nvSpPr>
        <p:spPr>
          <a:xfrm>
            <a:off x="685800" y="2002536"/>
            <a:ext cx="274320" cy="274320"/>
          </a:xfrm>
          <a:prstGeom prst="ellipse">
            <a:avLst/>
          </a:prstGeom>
          <a:solidFill>
            <a:srgbClr val="0F172A"/>
          </a:solidFill>
          <a:ln/>
        </p:spPr>
        <p:txBody>
          <a:bodyPr/>
          <a:lstStyle/>
          <a:p>
            <a:endParaRPr lang="en-IN"/>
          </a:p>
        </p:txBody>
      </p:sp>
      <p:sp>
        <p:nvSpPr>
          <p:cNvPr id="47" name="Text 45"/>
          <p:cNvSpPr/>
          <p:nvPr/>
        </p:nvSpPr>
        <p:spPr>
          <a:xfrm>
            <a:off x="685800" y="200253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8" name="Text 46"/>
          <p:cNvSpPr/>
          <p:nvPr/>
        </p:nvSpPr>
        <p:spPr>
          <a:xfrm>
            <a:off x="1097280" y="1920240"/>
            <a:ext cx="7315200" cy="438912"/>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No technology engagement without preparation</a:t>
            </a:r>
            <a:endParaRPr lang="en-US" sz="1300" dirty="0"/>
          </a:p>
        </p:txBody>
      </p:sp>
      <p:sp>
        <p:nvSpPr>
          <p:cNvPr id="49" name="Shape 47"/>
          <p:cNvSpPr/>
          <p:nvPr/>
        </p:nvSpPr>
        <p:spPr>
          <a:xfrm>
            <a:off x="8275320" y="2002536"/>
            <a:ext cx="274320" cy="274320"/>
          </a:xfrm>
          <a:prstGeom prst="ellipse">
            <a:avLst/>
          </a:prstGeom>
          <a:solidFill>
            <a:srgbClr val="FEE2E2"/>
          </a:solidFill>
          <a:ln w="19050">
            <a:solidFill>
              <a:srgbClr val="DC2626"/>
            </a:solidFill>
            <a:prstDash val="solid"/>
          </a:ln>
        </p:spPr>
        <p:txBody>
          <a:bodyPr/>
          <a:lstStyle/>
          <a:p>
            <a:endParaRPr lang="en-IN"/>
          </a:p>
        </p:txBody>
      </p:sp>
      <p:sp>
        <p:nvSpPr>
          <p:cNvPr id="50" name="Shape 48"/>
          <p:cNvSpPr/>
          <p:nvPr/>
        </p:nvSpPr>
        <p:spPr>
          <a:xfrm>
            <a:off x="8330184" y="2039112"/>
            <a:ext cx="164592" cy="201168"/>
          </a:xfrm>
          <a:prstGeom prst="line">
            <a:avLst/>
          </a:prstGeom>
          <a:noFill/>
          <a:ln w="25400">
            <a:solidFill>
              <a:srgbClr val="DC2626"/>
            </a:solidFill>
            <a:prstDash val="solid"/>
          </a:ln>
        </p:spPr>
        <p:txBody>
          <a:bodyPr/>
          <a:lstStyle/>
          <a:p>
            <a:endParaRPr lang="en-IN"/>
          </a:p>
        </p:txBody>
      </p:sp>
      <p:sp>
        <p:nvSpPr>
          <p:cNvPr id="51" name="Shape 49"/>
          <p:cNvSpPr/>
          <p:nvPr/>
        </p:nvSpPr>
        <p:spPr>
          <a:xfrm>
            <a:off x="457200" y="2423160"/>
            <a:ext cx="8229600" cy="438912"/>
          </a:xfrm>
          <a:prstGeom prst="rect">
            <a:avLst/>
          </a:prstGeom>
          <a:solidFill>
            <a:srgbClr val="FFFFFF"/>
          </a:solidFill>
          <a:ln w="6350">
            <a:solidFill>
              <a:srgbClr val="E5E7EB"/>
            </a:solidFill>
            <a:prstDash val="solid"/>
          </a:ln>
        </p:spPr>
        <p:txBody>
          <a:bodyPr/>
          <a:lstStyle/>
          <a:p>
            <a:endParaRPr lang="en-IN"/>
          </a:p>
        </p:txBody>
      </p:sp>
      <p:sp>
        <p:nvSpPr>
          <p:cNvPr id="52" name="Shape 50"/>
          <p:cNvSpPr/>
          <p:nvPr/>
        </p:nvSpPr>
        <p:spPr>
          <a:xfrm>
            <a:off x="457200" y="2423160"/>
            <a:ext cx="73152" cy="438912"/>
          </a:xfrm>
          <a:prstGeom prst="rect">
            <a:avLst/>
          </a:prstGeom>
          <a:solidFill>
            <a:srgbClr val="E11D74"/>
          </a:solidFill>
          <a:ln/>
        </p:spPr>
        <p:txBody>
          <a:bodyPr/>
          <a:lstStyle/>
          <a:p>
            <a:endParaRPr lang="en-IN"/>
          </a:p>
        </p:txBody>
      </p:sp>
      <p:sp>
        <p:nvSpPr>
          <p:cNvPr id="53" name="Shape 51"/>
          <p:cNvSpPr/>
          <p:nvPr/>
        </p:nvSpPr>
        <p:spPr>
          <a:xfrm>
            <a:off x="685800" y="2505456"/>
            <a:ext cx="274320" cy="274320"/>
          </a:xfrm>
          <a:prstGeom prst="ellipse">
            <a:avLst/>
          </a:prstGeom>
          <a:solidFill>
            <a:srgbClr val="0F172A"/>
          </a:solidFill>
          <a:ln/>
        </p:spPr>
        <p:txBody>
          <a:bodyPr/>
          <a:lstStyle/>
          <a:p>
            <a:endParaRPr lang="en-IN"/>
          </a:p>
        </p:txBody>
      </p:sp>
      <p:sp>
        <p:nvSpPr>
          <p:cNvPr id="54" name="Text 52"/>
          <p:cNvSpPr/>
          <p:nvPr/>
        </p:nvSpPr>
        <p:spPr>
          <a:xfrm>
            <a:off x="685800" y="2505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5" name="Text 53"/>
          <p:cNvSpPr/>
          <p:nvPr/>
        </p:nvSpPr>
        <p:spPr>
          <a:xfrm>
            <a:off x="1097280" y="2423160"/>
            <a:ext cx="7315200" cy="438912"/>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No delivery without mock clearance</a:t>
            </a:r>
            <a:endParaRPr lang="en-US" sz="1300" dirty="0"/>
          </a:p>
        </p:txBody>
      </p:sp>
      <p:sp>
        <p:nvSpPr>
          <p:cNvPr id="56" name="Shape 54"/>
          <p:cNvSpPr/>
          <p:nvPr/>
        </p:nvSpPr>
        <p:spPr>
          <a:xfrm>
            <a:off x="8275320" y="2505456"/>
            <a:ext cx="274320" cy="274320"/>
          </a:xfrm>
          <a:prstGeom prst="ellipse">
            <a:avLst/>
          </a:prstGeom>
          <a:solidFill>
            <a:srgbClr val="FEE2E2"/>
          </a:solidFill>
          <a:ln w="19050">
            <a:solidFill>
              <a:srgbClr val="DC2626"/>
            </a:solidFill>
            <a:prstDash val="solid"/>
          </a:ln>
        </p:spPr>
        <p:txBody>
          <a:bodyPr/>
          <a:lstStyle/>
          <a:p>
            <a:endParaRPr lang="en-IN"/>
          </a:p>
        </p:txBody>
      </p:sp>
      <p:sp>
        <p:nvSpPr>
          <p:cNvPr id="57" name="Shape 55"/>
          <p:cNvSpPr/>
          <p:nvPr/>
        </p:nvSpPr>
        <p:spPr>
          <a:xfrm>
            <a:off x="8330184" y="2542032"/>
            <a:ext cx="164592" cy="201168"/>
          </a:xfrm>
          <a:prstGeom prst="line">
            <a:avLst/>
          </a:prstGeom>
          <a:noFill/>
          <a:ln w="25400">
            <a:solidFill>
              <a:srgbClr val="DC2626"/>
            </a:solidFill>
            <a:prstDash val="solid"/>
          </a:ln>
        </p:spPr>
        <p:txBody>
          <a:bodyPr/>
          <a:lstStyle/>
          <a:p>
            <a:endParaRPr lang="en-IN"/>
          </a:p>
        </p:txBody>
      </p:sp>
      <p:sp>
        <p:nvSpPr>
          <p:cNvPr id="58" name="Shape 56"/>
          <p:cNvSpPr/>
          <p:nvPr/>
        </p:nvSpPr>
        <p:spPr>
          <a:xfrm>
            <a:off x="457200" y="2926080"/>
            <a:ext cx="8229600" cy="438912"/>
          </a:xfrm>
          <a:prstGeom prst="rect">
            <a:avLst/>
          </a:prstGeom>
          <a:solidFill>
            <a:srgbClr val="FFFFFF"/>
          </a:solidFill>
          <a:ln w="6350">
            <a:solidFill>
              <a:srgbClr val="E5E7EB"/>
            </a:solidFill>
            <a:prstDash val="solid"/>
          </a:ln>
        </p:spPr>
        <p:txBody>
          <a:bodyPr/>
          <a:lstStyle/>
          <a:p>
            <a:endParaRPr lang="en-IN"/>
          </a:p>
        </p:txBody>
      </p:sp>
      <p:sp>
        <p:nvSpPr>
          <p:cNvPr id="59" name="Shape 57"/>
          <p:cNvSpPr/>
          <p:nvPr/>
        </p:nvSpPr>
        <p:spPr>
          <a:xfrm>
            <a:off x="457200" y="2926080"/>
            <a:ext cx="73152" cy="438912"/>
          </a:xfrm>
          <a:prstGeom prst="rect">
            <a:avLst/>
          </a:prstGeom>
          <a:solidFill>
            <a:srgbClr val="E11D74"/>
          </a:solidFill>
          <a:ln/>
        </p:spPr>
        <p:txBody>
          <a:bodyPr/>
          <a:lstStyle/>
          <a:p>
            <a:endParaRPr lang="en-IN"/>
          </a:p>
        </p:txBody>
      </p:sp>
      <p:sp>
        <p:nvSpPr>
          <p:cNvPr id="60" name="Shape 58"/>
          <p:cNvSpPr/>
          <p:nvPr/>
        </p:nvSpPr>
        <p:spPr>
          <a:xfrm>
            <a:off x="685800" y="3008376"/>
            <a:ext cx="274320" cy="274320"/>
          </a:xfrm>
          <a:prstGeom prst="ellipse">
            <a:avLst/>
          </a:prstGeom>
          <a:solidFill>
            <a:srgbClr val="0F172A"/>
          </a:solidFill>
          <a:ln/>
        </p:spPr>
        <p:txBody>
          <a:bodyPr/>
          <a:lstStyle/>
          <a:p>
            <a:endParaRPr lang="en-IN"/>
          </a:p>
        </p:txBody>
      </p:sp>
      <p:sp>
        <p:nvSpPr>
          <p:cNvPr id="61" name="Text 59"/>
          <p:cNvSpPr/>
          <p:nvPr/>
        </p:nvSpPr>
        <p:spPr>
          <a:xfrm>
            <a:off x="685800" y="300837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2" name="Text 60"/>
          <p:cNvSpPr/>
          <p:nvPr/>
        </p:nvSpPr>
        <p:spPr>
          <a:xfrm>
            <a:off x="1097280" y="2926080"/>
            <a:ext cx="7315200" cy="438912"/>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No certification without a target timeline</a:t>
            </a:r>
            <a:endParaRPr lang="en-US" sz="1300" dirty="0"/>
          </a:p>
        </p:txBody>
      </p:sp>
      <p:sp>
        <p:nvSpPr>
          <p:cNvPr id="63" name="Shape 61"/>
          <p:cNvSpPr/>
          <p:nvPr/>
        </p:nvSpPr>
        <p:spPr>
          <a:xfrm>
            <a:off x="8275320" y="3008376"/>
            <a:ext cx="274320" cy="274320"/>
          </a:xfrm>
          <a:prstGeom prst="ellipse">
            <a:avLst/>
          </a:prstGeom>
          <a:solidFill>
            <a:srgbClr val="FEE2E2"/>
          </a:solidFill>
          <a:ln w="19050">
            <a:solidFill>
              <a:srgbClr val="DC2626"/>
            </a:solidFill>
            <a:prstDash val="solid"/>
          </a:ln>
        </p:spPr>
        <p:txBody>
          <a:bodyPr/>
          <a:lstStyle/>
          <a:p>
            <a:endParaRPr lang="en-IN"/>
          </a:p>
        </p:txBody>
      </p:sp>
      <p:sp>
        <p:nvSpPr>
          <p:cNvPr id="64" name="Shape 62"/>
          <p:cNvSpPr/>
          <p:nvPr/>
        </p:nvSpPr>
        <p:spPr>
          <a:xfrm>
            <a:off x="8330184" y="3044952"/>
            <a:ext cx="164592" cy="201168"/>
          </a:xfrm>
          <a:prstGeom prst="line">
            <a:avLst/>
          </a:prstGeom>
          <a:noFill/>
          <a:ln w="25400">
            <a:solidFill>
              <a:srgbClr val="DC2626"/>
            </a:solidFill>
            <a:prstDash val="solid"/>
          </a:ln>
        </p:spPr>
        <p:txBody>
          <a:bodyPr/>
          <a:lstStyle/>
          <a:p>
            <a:endParaRPr lang="en-IN"/>
          </a:p>
        </p:txBody>
      </p:sp>
      <p:sp>
        <p:nvSpPr>
          <p:cNvPr id="65" name="Shape 63"/>
          <p:cNvSpPr/>
          <p:nvPr/>
        </p:nvSpPr>
        <p:spPr>
          <a:xfrm>
            <a:off x="457200" y="3429000"/>
            <a:ext cx="8229600" cy="438912"/>
          </a:xfrm>
          <a:prstGeom prst="rect">
            <a:avLst/>
          </a:prstGeom>
          <a:solidFill>
            <a:srgbClr val="FFFFFF"/>
          </a:solidFill>
          <a:ln w="6350">
            <a:solidFill>
              <a:srgbClr val="E5E7EB"/>
            </a:solidFill>
            <a:prstDash val="solid"/>
          </a:ln>
        </p:spPr>
        <p:txBody>
          <a:bodyPr/>
          <a:lstStyle/>
          <a:p>
            <a:endParaRPr lang="en-IN"/>
          </a:p>
        </p:txBody>
      </p:sp>
      <p:sp>
        <p:nvSpPr>
          <p:cNvPr id="66" name="Shape 64"/>
          <p:cNvSpPr/>
          <p:nvPr/>
        </p:nvSpPr>
        <p:spPr>
          <a:xfrm>
            <a:off x="457200" y="3429000"/>
            <a:ext cx="73152" cy="438912"/>
          </a:xfrm>
          <a:prstGeom prst="rect">
            <a:avLst/>
          </a:prstGeom>
          <a:solidFill>
            <a:srgbClr val="E11D74"/>
          </a:solidFill>
          <a:ln/>
        </p:spPr>
        <p:txBody>
          <a:bodyPr/>
          <a:lstStyle/>
          <a:p>
            <a:endParaRPr lang="en-IN"/>
          </a:p>
        </p:txBody>
      </p:sp>
      <p:sp>
        <p:nvSpPr>
          <p:cNvPr id="67" name="Shape 65"/>
          <p:cNvSpPr/>
          <p:nvPr/>
        </p:nvSpPr>
        <p:spPr>
          <a:xfrm>
            <a:off x="685800" y="3511296"/>
            <a:ext cx="274320" cy="274320"/>
          </a:xfrm>
          <a:prstGeom prst="ellipse">
            <a:avLst/>
          </a:prstGeom>
          <a:solidFill>
            <a:srgbClr val="0F172A"/>
          </a:solidFill>
          <a:ln/>
        </p:spPr>
        <p:txBody>
          <a:bodyPr/>
          <a:lstStyle/>
          <a:p>
            <a:endParaRPr lang="en-IN"/>
          </a:p>
        </p:txBody>
      </p:sp>
      <p:sp>
        <p:nvSpPr>
          <p:cNvPr id="68" name="Text 66"/>
          <p:cNvSpPr/>
          <p:nvPr/>
        </p:nvSpPr>
        <p:spPr>
          <a:xfrm>
            <a:off x="685800" y="351129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9" name="Text 67"/>
          <p:cNvSpPr/>
          <p:nvPr/>
        </p:nvSpPr>
        <p:spPr>
          <a:xfrm>
            <a:off x="1097280" y="3429000"/>
            <a:ext cx="7315200" cy="438912"/>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Business needs take priority over personal preferences</a:t>
            </a:r>
            <a:endParaRPr lang="en-US" sz="1300" dirty="0"/>
          </a:p>
        </p:txBody>
      </p:sp>
      <p:sp>
        <p:nvSpPr>
          <p:cNvPr id="70" name="Shape 68"/>
          <p:cNvSpPr/>
          <p:nvPr/>
        </p:nvSpPr>
        <p:spPr>
          <a:xfrm>
            <a:off x="8275320" y="3511296"/>
            <a:ext cx="274320" cy="274320"/>
          </a:xfrm>
          <a:prstGeom prst="ellipse">
            <a:avLst/>
          </a:prstGeom>
          <a:solidFill>
            <a:srgbClr val="FEE2E2"/>
          </a:solidFill>
          <a:ln w="19050">
            <a:solidFill>
              <a:srgbClr val="DC2626"/>
            </a:solidFill>
            <a:prstDash val="solid"/>
          </a:ln>
        </p:spPr>
        <p:txBody>
          <a:bodyPr/>
          <a:lstStyle/>
          <a:p>
            <a:endParaRPr lang="en-IN"/>
          </a:p>
        </p:txBody>
      </p:sp>
      <p:sp>
        <p:nvSpPr>
          <p:cNvPr id="71" name="Shape 69"/>
          <p:cNvSpPr/>
          <p:nvPr/>
        </p:nvSpPr>
        <p:spPr>
          <a:xfrm>
            <a:off x="8330184" y="3547872"/>
            <a:ext cx="164592" cy="201168"/>
          </a:xfrm>
          <a:prstGeom prst="line">
            <a:avLst/>
          </a:prstGeom>
          <a:noFill/>
          <a:ln w="25400">
            <a:solidFill>
              <a:srgbClr val="DC2626"/>
            </a:solidFill>
            <a:prstDash val="solid"/>
          </a:ln>
        </p:spPr>
        <p:txBody>
          <a:bodyPr/>
          <a:lstStyle/>
          <a:p>
            <a:endParaRPr lang="en-IN"/>
          </a:p>
        </p:txBody>
      </p:sp>
      <p:sp>
        <p:nvSpPr>
          <p:cNvPr id="72" name="Shape 70"/>
          <p:cNvSpPr/>
          <p:nvPr/>
        </p:nvSpPr>
        <p:spPr>
          <a:xfrm>
            <a:off x="457200" y="4069080"/>
            <a:ext cx="8229600" cy="777240"/>
          </a:xfrm>
          <a:prstGeom prst="rect">
            <a:avLst/>
          </a:prstGeom>
          <a:solidFill>
            <a:srgbClr val="0F172A"/>
          </a:solidFill>
          <a:ln/>
        </p:spPr>
        <p:txBody>
          <a:bodyPr/>
          <a:lstStyle/>
          <a:p>
            <a:endParaRPr lang="en-IN"/>
          </a:p>
        </p:txBody>
      </p:sp>
      <p:sp>
        <p:nvSpPr>
          <p:cNvPr id="73" name="Shape 71"/>
          <p:cNvSpPr/>
          <p:nvPr/>
        </p:nvSpPr>
        <p:spPr>
          <a:xfrm>
            <a:off x="457200" y="4069080"/>
            <a:ext cx="361188" cy="54864"/>
          </a:xfrm>
          <a:prstGeom prst="rect">
            <a:avLst/>
          </a:prstGeom>
          <a:solidFill>
            <a:srgbClr val="1E3A8A"/>
          </a:solidFill>
          <a:ln/>
        </p:spPr>
        <p:txBody>
          <a:bodyPr/>
          <a:lstStyle/>
          <a:p>
            <a:endParaRPr lang="en-IN"/>
          </a:p>
        </p:txBody>
      </p:sp>
      <p:sp>
        <p:nvSpPr>
          <p:cNvPr id="74" name="Shape 72"/>
          <p:cNvSpPr/>
          <p:nvPr/>
        </p:nvSpPr>
        <p:spPr>
          <a:xfrm>
            <a:off x="800100" y="4069080"/>
            <a:ext cx="361188" cy="54864"/>
          </a:xfrm>
          <a:prstGeom prst="rect">
            <a:avLst/>
          </a:prstGeom>
          <a:solidFill>
            <a:srgbClr val="25388D"/>
          </a:solidFill>
          <a:ln/>
        </p:spPr>
        <p:txBody>
          <a:bodyPr/>
          <a:lstStyle/>
          <a:p>
            <a:endParaRPr lang="en-IN"/>
          </a:p>
        </p:txBody>
      </p:sp>
      <p:sp>
        <p:nvSpPr>
          <p:cNvPr id="75" name="Shape 73"/>
          <p:cNvSpPr/>
          <p:nvPr/>
        </p:nvSpPr>
        <p:spPr>
          <a:xfrm>
            <a:off x="1143000" y="4069080"/>
            <a:ext cx="361188" cy="54864"/>
          </a:xfrm>
          <a:prstGeom prst="rect">
            <a:avLst/>
          </a:prstGeom>
          <a:solidFill>
            <a:srgbClr val="2B368F"/>
          </a:solidFill>
          <a:ln/>
        </p:spPr>
        <p:txBody>
          <a:bodyPr/>
          <a:lstStyle/>
          <a:p>
            <a:endParaRPr lang="en-IN"/>
          </a:p>
        </p:txBody>
      </p:sp>
      <p:sp>
        <p:nvSpPr>
          <p:cNvPr id="76" name="Shape 74"/>
          <p:cNvSpPr/>
          <p:nvPr/>
        </p:nvSpPr>
        <p:spPr>
          <a:xfrm>
            <a:off x="1485900" y="4069080"/>
            <a:ext cx="361188" cy="54864"/>
          </a:xfrm>
          <a:prstGeom prst="rect">
            <a:avLst/>
          </a:prstGeom>
          <a:solidFill>
            <a:srgbClr val="323392"/>
          </a:solidFill>
          <a:ln/>
        </p:spPr>
        <p:txBody>
          <a:bodyPr/>
          <a:lstStyle/>
          <a:p>
            <a:endParaRPr lang="en-IN"/>
          </a:p>
        </p:txBody>
      </p:sp>
      <p:sp>
        <p:nvSpPr>
          <p:cNvPr id="77" name="Shape 75"/>
          <p:cNvSpPr/>
          <p:nvPr/>
        </p:nvSpPr>
        <p:spPr>
          <a:xfrm>
            <a:off x="1828800" y="4069080"/>
            <a:ext cx="361188" cy="54864"/>
          </a:xfrm>
          <a:prstGeom prst="rect">
            <a:avLst/>
          </a:prstGeom>
          <a:solidFill>
            <a:srgbClr val="393194"/>
          </a:solidFill>
          <a:ln/>
        </p:spPr>
        <p:txBody>
          <a:bodyPr/>
          <a:lstStyle/>
          <a:p>
            <a:endParaRPr lang="en-IN"/>
          </a:p>
        </p:txBody>
      </p:sp>
      <p:sp>
        <p:nvSpPr>
          <p:cNvPr id="78" name="Shape 76"/>
          <p:cNvSpPr/>
          <p:nvPr/>
        </p:nvSpPr>
        <p:spPr>
          <a:xfrm>
            <a:off x="2171700" y="4069080"/>
            <a:ext cx="361188" cy="54864"/>
          </a:xfrm>
          <a:prstGeom prst="rect">
            <a:avLst/>
          </a:prstGeom>
          <a:solidFill>
            <a:srgbClr val="3F2F97"/>
          </a:solidFill>
          <a:ln/>
        </p:spPr>
        <p:txBody>
          <a:bodyPr/>
          <a:lstStyle/>
          <a:p>
            <a:endParaRPr lang="en-IN"/>
          </a:p>
        </p:txBody>
      </p:sp>
      <p:sp>
        <p:nvSpPr>
          <p:cNvPr id="79" name="Shape 77"/>
          <p:cNvSpPr/>
          <p:nvPr/>
        </p:nvSpPr>
        <p:spPr>
          <a:xfrm>
            <a:off x="2514600" y="4069080"/>
            <a:ext cx="361188" cy="54864"/>
          </a:xfrm>
          <a:prstGeom prst="rect">
            <a:avLst/>
          </a:prstGeom>
          <a:solidFill>
            <a:srgbClr val="462D9A"/>
          </a:solidFill>
          <a:ln/>
        </p:spPr>
        <p:txBody>
          <a:bodyPr/>
          <a:lstStyle/>
          <a:p>
            <a:endParaRPr lang="en-IN"/>
          </a:p>
        </p:txBody>
      </p:sp>
      <p:sp>
        <p:nvSpPr>
          <p:cNvPr id="80" name="Shape 78"/>
          <p:cNvSpPr/>
          <p:nvPr/>
        </p:nvSpPr>
        <p:spPr>
          <a:xfrm>
            <a:off x="2857500" y="4069080"/>
            <a:ext cx="361188" cy="54864"/>
          </a:xfrm>
          <a:prstGeom prst="rect">
            <a:avLst/>
          </a:prstGeom>
          <a:solidFill>
            <a:srgbClr val="4D2B9C"/>
          </a:solidFill>
          <a:ln/>
        </p:spPr>
        <p:txBody>
          <a:bodyPr/>
          <a:lstStyle/>
          <a:p>
            <a:endParaRPr lang="en-IN"/>
          </a:p>
        </p:txBody>
      </p:sp>
      <p:sp>
        <p:nvSpPr>
          <p:cNvPr id="81" name="Shape 79"/>
          <p:cNvSpPr/>
          <p:nvPr/>
        </p:nvSpPr>
        <p:spPr>
          <a:xfrm>
            <a:off x="3200400" y="4069080"/>
            <a:ext cx="361188" cy="54864"/>
          </a:xfrm>
          <a:prstGeom prst="rect">
            <a:avLst/>
          </a:prstGeom>
          <a:solidFill>
            <a:srgbClr val="54299F"/>
          </a:solidFill>
          <a:ln/>
        </p:spPr>
        <p:txBody>
          <a:bodyPr/>
          <a:lstStyle/>
          <a:p>
            <a:endParaRPr lang="en-IN"/>
          </a:p>
        </p:txBody>
      </p:sp>
      <p:sp>
        <p:nvSpPr>
          <p:cNvPr id="82" name="Shape 80"/>
          <p:cNvSpPr/>
          <p:nvPr/>
        </p:nvSpPr>
        <p:spPr>
          <a:xfrm>
            <a:off x="3543300" y="4069080"/>
            <a:ext cx="361188" cy="54864"/>
          </a:xfrm>
          <a:prstGeom prst="rect">
            <a:avLst/>
          </a:prstGeom>
          <a:solidFill>
            <a:srgbClr val="5A26A1"/>
          </a:solidFill>
          <a:ln/>
        </p:spPr>
        <p:txBody>
          <a:bodyPr/>
          <a:lstStyle/>
          <a:p>
            <a:endParaRPr lang="en-IN"/>
          </a:p>
        </p:txBody>
      </p:sp>
      <p:sp>
        <p:nvSpPr>
          <p:cNvPr id="83" name="Shape 81"/>
          <p:cNvSpPr/>
          <p:nvPr/>
        </p:nvSpPr>
        <p:spPr>
          <a:xfrm>
            <a:off x="3886200" y="4069080"/>
            <a:ext cx="361188" cy="54864"/>
          </a:xfrm>
          <a:prstGeom prst="rect">
            <a:avLst/>
          </a:prstGeom>
          <a:solidFill>
            <a:srgbClr val="6124A4"/>
          </a:solidFill>
          <a:ln/>
        </p:spPr>
        <p:txBody>
          <a:bodyPr/>
          <a:lstStyle/>
          <a:p>
            <a:endParaRPr lang="en-IN"/>
          </a:p>
        </p:txBody>
      </p:sp>
      <p:sp>
        <p:nvSpPr>
          <p:cNvPr id="84" name="Shape 82"/>
          <p:cNvSpPr/>
          <p:nvPr/>
        </p:nvSpPr>
        <p:spPr>
          <a:xfrm>
            <a:off x="4229100" y="4069080"/>
            <a:ext cx="361188" cy="54864"/>
          </a:xfrm>
          <a:prstGeom prst="rect">
            <a:avLst/>
          </a:prstGeom>
          <a:solidFill>
            <a:srgbClr val="6822A7"/>
          </a:solidFill>
          <a:ln/>
        </p:spPr>
        <p:txBody>
          <a:bodyPr/>
          <a:lstStyle/>
          <a:p>
            <a:endParaRPr lang="en-IN"/>
          </a:p>
        </p:txBody>
      </p:sp>
      <p:sp>
        <p:nvSpPr>
          <p:cNvPr id="85" name="Shape 83"/>
          <p:cNvSpPr/>
          <p:nvPr/>
        </p:nvSpPr>
        <p:spPr>
          <a:xfrm>
            <a:off x="4572000" y="4069080"/>
            <a:ext cx="361188" cy="54864"/>
          </a:xfrm>
          <a:prstGeom prst="rect">
            <a:avLst/>
          </a:prstGeom>
          <a:solidFill>
            <a:srgbClr val="7021A6"/>
          </a:solidFill>
          <a:ln/>
        </p:spPr>
        <p:txBody>
          <a:bodyPr/>
          <a:lstStyle/>
          <a:p>
            <a:endParaRPr lang="en-IN"/>
          </a:p>
        </p:txBody>
      </p:sp>
      <p:sp>
        <p:nvSpPr>
          <p:cNvPr id="86" name="Shape 84"/>
          <p:cNvSpPr/>
          <p:nvPr/>
        </p:nvSpPr>
        <p:spPr>
          <a:xfrm>
            <a:off x="4914900" y="4069080"/>
            <a:ext cx="361188" cy="54864"/>
          </a:xfrm>
          <a:prstGeom prst="rect">
            <a:avLst/>
          </a:prstGeom>
          <a:solidFill>
            <a:srgbClr val="7A20A1"/>
          </a:solidFill>
          <a:ln/>
        </p:spPr>
        <p:txBody>
          <a:bodyPr/>
          <a:lstStyle/>
          <a:p>
            <a:endParaRPr lang="en-IN"/>
          </a:p>
        </p:txBody>
      </p:sp>
      <p:sp>
        <p:nvSpPr>
          <p:cNvPr id="87" name="Shape 85"/>
          <p:cNvSpPr/>
          <p:nvPr/>
        </p:nvSpPr>
        <p:spPr>
          <a:xfrm>
            <a:off x="5257800" y="4069080"/>
            <a:ext cx="361188" cy="54864"/>
          </a:xfrm>
          <a:prstGeom prst="rect">
            <a:avLst/>
          </a:prstGeom>
          <a:solidFill>
            <a:srgbClr val="85209D"/>
          </a:solidFill>
          <a:ln/>
        </p:spPr>
        <p:txBody>
          <a:bodyPr/>
          <a:lstStyle/>
          <a:p>
            <a:endParaRPr lang="en-IN"/>
          </a:p>
        </p:txBody>
      </p:sp>
      <p:sp>
        <p:nvSpPr>
          <p:cNvPr id="88" name="Shape 86"/>
          <p:cNvSpPr/>
          <p:nvPr/>
        </p:nvSpPr>
        <p:spPr>
          <a:xfrm>
            <a:off x="5600700" y="4069080"/>
            <a:ext cx="361188" cy="54864"/>
          </a:xfrm>
          <a:prstGeom prst="rect">
            <a:avLst/>
          </a:prstGeom>
          <a:solidFill>
            <a:srgbClr val="8F2098"/>
          </a:solidFill>
          <a:ln/>
        </p:spPr>
        <p:txBody>
          <a:bodyPr/>
          <a:lstStyle/>
          <a:p>
            <a:endParaRPr lang="en-IN"/>
          </a:p>
        </p:txBody>
      </p:sp>
      <p:sp>
        <p:nvSpPr>
          <p:cNvPr id="89" name="Shape 87"/>
          <p:cNvSpPr/>
          <p:nvPr/>
        </p:nvSpPr>
        <p:spPr>
          <a:xfrm>
            <a:off x="5943600" y="4069080"/>
            <a:ext cx="361188" cy="54864"/>
          </a:xfrm>
          <a:prstGeom prst="rect">
            <a:avLst/>
          </a:prstGeom>
          <a:solidFill>
            <a:srgbClr val="991F94"/>
          </a:solidFill>
          <a:ln/>
        </p:spPr>
        <p:txBody>
          <a:bodyPr/>
          <a:lstStyle/>
          <a:p>
            <a:endParaRPr lang="en-IN"/>
          </a:p>
        </p:txBody>
      </p:sp>
      <p:sp>
        <p:nvSpPr>
          <p:cNvPr id="90" name="Shape 88"/>
          <p:cNvSpPr/>
          <p:nvPr/>
        </p:nvSpPr>
        <p:spPr>
          <a:xfrm>
            <a:off x="6286500" y="4069080"/>
            <a:ext cx="361188" cy="54864"/>
          </a:xfrm>
          <a:prstGeom prst="rect">
            <a:avLst/>
          </a:prstGeom>
          <a:solidFill>
            <a:srgbClr val="A31F8F"/>
          </a:solidFill>
          <a:ln/>
        </p:spPr>
        <p:txBody>
          <a:bodyPr/>
          <a:lstStyle/>
          <a:p>
            <a:endParaRPr lang="en-IN"/>
          </a:p>
        </p:txBody>
      </p:sp>
      <p:sp>
        <p:nvSpPr>
          <p:cNvPr id="91" name="Shape 89"/>
          <p:cNvSpPr/>
          <p:nvPr/>
        </p:nvSpPr>
        <p:spPr>
          <a:xfrm>
            <a:off x="6629400" y="4069080"/>
            <a:ext cx="361188" cy="54864"/>
          </a:xfrm>
          <a:prstGeom prst="rect">
            <a:avLst/>
          </a:prstGeom>
          <a:solidFill>
            <a:srgbClr val="AE1F8B"/>
          </a:solidFill>
          <a:ln/>
        </p:spPr>
        <p:txBody>
          <a:bodyPr/>
          <a:lstStyle/>
          <a:p>
            <a:endParaRPr lang="en-IN"/>
          </a:p>
        </p:txBody>
      </p:sp>
      <p:sp>
        <p:nvSpPr>
          <p:cNvPr id="92" name="Shape 90"/>
          <p:cNvSpPr/>
          <p:nvPr/>
        </p:nvSpPr>
        <p:spPr>
          <a:xfrm>
            <a:off x="6972300" y="4069080"/>
            <a:ext cx="361188" cy="54864"/>
          </a:xfrm>
          <a:prstGeom prst="rect">
            <a:avLst/>
          </a:prstGeom>
          <a:solidFill>
            <a:srgbClr val="B81E86"/>
          </a:solidFill>
          <a:ln/>
        </p:spPr>
        <p:txBody>
          <a:bodyPr/>
          <a:lstStyle/>
          <a:p>
            <a:endParaRPr lang="en-IN"/>
          </a:p>
        </p:txBody>
      </p:sp>
      <p:sp>
        <p:nvSpPr>
          <p:cNvPr id="93" name="Shape 91"/>
          <p:cNvSpPr/>
          <p:nvPr/>
        </p:nvSpPr>
        <p:spPr>
          <a:xfrm>
            <a:off x="7315200" y="4069080"/>
            <a:ext cx="361188" cy="54864"/>
          </a:xfrm>
          <a:prstGeom prst="rect">
            <a:avLst/>
          </a:prstGeom>
          <a:solidFill>
            <a:srgbClr val="C21E82"/>
          </a:solidFill>
          <a:ln/>
        </p:spPr>
        <p:txBody>
          <a:bodyPr/>
          <a:lstStyle/>
          <a:p>
            <a:endParaRPr lang="en-IN"/>
          </a:p>
        </p:txBody>
      </p:sp>
      <p:sp>
        <p:nvSpPr>
          <p:cNvPr id="94" name="Shape 92"/>
          <p:cNvSpPr/>
          <p:nvPr/>
        </p:nvSpPr>
        <p:spPr>
          <a:xfrm>
            <a:off x="7658100" y="4069080"/>
            <a:ext cx="361188" cy="54864"/>
          </a:xfrm>
          <a:prstGeom prst="rect">
            <a:avLst/>
          </a:prstGeom>
          <a:solidFill>
            <a:srgbClr val="CC1E7D"/>
          </a:solidFill>
          <a:ln/>
        </p:spPr>
        <p:txBody>
          <a:bodyPr/>
          <a:lstStyle/>
          <a:p>
            <a:endParaRPr lang="en-IN"/>
          </a:p>
        </p:txBody>
      </p:sp>
      <p:sp>
        <p:nvSpPr>
          <p:cNvPr id="95" name="Shape 93"/>
          <p:cNvSpPr/>
          <p:nvPr/>
        </p:nvSpPr>
        <p:spPr>
          <a:xfrm>
            <a:off x="8001000" y="4069080"/>
            <a:ext cx="361188" cy="54864"/>
          </a:xfrm>
          <a:prstGeom prst="rect">
            <a:avLst/>
          </a:prstGeom>
          <a:solidFill>
            <a:srgbClr val="D71D79"/>
          </a:solidFill>
          <a:ln/>
        </p:spPr>
        <p:txBody>
          <a:bodyPr/>
          <a:lstStyle/>
          <a:p>
            <a:endParaRPr lang="en-IN"/>
          </a:p>
        </p:txBody>
      </p:sp>
      <p:sp>
        <p:nvSpPr>
          <p:cNvPr id="96" name="Shape 94"/>
          <p:cNvSpPr/>
          <p:nvPr/>
        </p:nvSpPr>
        <p:spPr>
          <a:xfrm>
            <a:off x="8343900" y="4069080"/>
            <a:ext cx="361188" cy="54864"/>
          </a:xfrm>
          <a:prstGeom prst="rect">
            <a:avLst/>
          </a:prstGeom>
          <a:solidFill>
            <a:srgbClr val="E11D74"/>
          </a:solidFill>
          <a:ln/>
        </p:spPr>
        <p:txBody>
          <a:bodyPr/>
          <a:lstStyle/>
          <a:p>
            <a:endParaRPr lang="en-IN"/>
          </a:p>
        </p:txBody>
      </p:sp>
      <p:sp>
        <p:nvSpPr>
          <p:cNvPr id="97" name="Text 95"/>
          <p:cNvSpPr/>
          <p:nvPr/>
        </p:nvSpPr>
        <p:spPr>
          <a:xfrm>
            <a:off x="457200" y="4160520"/>
            <a:ext cx="8229600" cy="685800"/>
          </a:xfrm>
          <a:prstGeom prst="rect">
            <a:avLst/>
          </a:prstGeom>
          <a:noFill/>
          <a:ln/>
        </p:spPr>
        <p:txBody>
          <a:bodyPr wrap="square" rtlCol="0" anchor="ctr"/>
          <a:lstStyle/>
          <a:p>
            <a:pPr marL="0" indent="0" algn="ctr">
              <a:buNone/>
            </a:pPr>
            <a:r>
              <a:rPr lang="en-US" sz="1700" b="1" i="1" dirty="0">
                <a:solidFill>
                  <a:srgbClr val="FFFFFF"/>
                </a:solidFill>
                <a:latin typeface="Calibri" pitchFamily="34" charset="0"/>
                <a:ea typeface="Calibri" pitchFamily="34" charset="-122"/>
                <a:cs typeface="Calibri" pitchFamily="34" charset="-120"/>
              </a:rPr>
              <a:t>Certification earns eligibility.  Readiness earns allocation.  Performance earns growth.</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9911D9-4C5E-4795-9F70-3E65C67E2D2A}">
  <we:reference id="WA200005566" version="3.0.0.2" store="Omex"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TotalTime>
  <Words>1572</Words>
  <Application>Microsoft Office PowerPoint</Application>
  <PresentationFormat>On-screen Show (16:9)</PresentationFormat>
  <Paragraphs>339</Paragraphs>
  <Slides>14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Canva Sans</vt:lpstr>
      <vt:lpstr>Helvetica World</vt:lpstr>
      <vt:lpstr>Helvetica World Bold</vt:lpstr>
      <vt:lpstr>Helvetica World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 C Nigam</dc:creator>
  <cp:lastModifiedBy>Aishwar C Nigam</cp:lastModifiedBy>
  <cp:revision>1</cp:revision>
  <dcterms:created xsi:type="dcterms:W3CDTF">2026-06-05T07:31:46Z</dcterms:created>
  <dcterms:modified xsi:type="dcterms:W3CDTF">2026-06-06T05:01:00Z</dcterms:modified>
</cp:coreProperties>
</file>